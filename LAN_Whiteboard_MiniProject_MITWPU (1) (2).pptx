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6" d="100"/>
          <a:sy n="76" d="100"/>
        </p:scale>
        <p:origin x="100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time: 15 seconds. Replace all bracketed placeholders and prompts with your own project details. Keep explanations brief. Total time across slides 1–7 is 5 minutes, including the demonstration. Slide 8 is for reference during questions. Logo source: https://mitwpu.edu.in/uploads/images/MIT-WPU-logo-1.webp. Introduce only the title and team; do not read every PRN.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time: 40 seconds. Replace all bracketed placeholders and prompts with your own project details. Keep explanations brief. Total time across slides 1–7 is 5 minutes, including the demonstration. Slide 8 is for reference during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time: 45 seconds. Replace all bracketed placeholders and prompts with your own project details. Keep explanations brief. Total time across slides 1–7 is 5 minutes, including the demonstration. Slide 8 is for reference during questions. Explain the diagram and only the most relevant design decisions. Use an actual project diagram with readable labels.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time: 55 seconds. Replace all bracketed placeholders and prompts with your own project details. Keep explanations brief. Total time across slides 1–7 is 5 minutes, including the demonstration. Slide 8 is for reference during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time: 50 seconds. Replace all bracketed placeholders and prompts with your own project details. Keep explanations brief. Total time across slides 1–7 is 5 minutes, including the demonstration. Slide 8 is for reference during questions. Show actual evidence. Explain the output and mention any failed or partial tests. Do not invent performance figures.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time: 65 seconds. Replace all bracketed placeholders and prompts with your own project details. Keep explanations brief. Total time across slides 1–7 is 5 minutes, including the demonstration. Slide 8 is for reference during questions. Prepare the project before the timer starts. Keep the demo to about one minute. Keep a screenshot or short recording ready as a backup, and identify it as recorded evidence if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time: 30 seconds. Replace all bracketed placeholders and prompts with your own project details. Keep explanations brief. Total time across slides 1–7 is 5 minutes, including the demonstration. Slide 8 is for reference during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time: Backup slide. Replace all bracketed placeholders and prompts with your own project details. Keep explanations brief. Total time across slides 1–7 is 5 minutes, including the demonstration. Slide 8 is for reference during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583E6C0E-ADFD-47F0-B7F1-423099F447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590800"/>
            <a:ext cx="73152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3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33EB337C-CD4A-4141-BBA0-4CF2780ADD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771900"/>
            <a:ext cx="64008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E0CEB062-0151-4898-8FC4-ABE35F2CF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857500"/>
            <a:ext cx="73152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31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6C25DF88-F753-4FDF-A6BB-A67DF0BF40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350" y="533400"/>
            <a:ext cx="81153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D508D27C-B9C0-4675-8275-8B25BF40CA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4350" y="1905000"/>
            <a:ext cx="81153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700FAA36-2918-458A-BCC9-C02C5C86FD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350" y="533400"/>
            <a:ext cx="81153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B3166FA6-9A32-40D5-BFFD-76D047ADC2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4350" y="1905000"/>
            <a:ext cx="37719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663F08DB-F5FB-439D-8043-D5B97093E1E5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857750" y="1905000"/>
            <a:ext cx="37719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43733861-E5E8-4C0E-85FF-C9C377F03D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350" y="533400"/>
            <a:ext cx="81153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D218B774-926B-4AA9-BD18-2D17BAA207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4350" y="1905000"/>
            <a:ext cx="37719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F37A30E-D1A0-430A-8AA0-F979BB940400}"/>
              </a:ext>
            </a:extLst>
          </p:cNvPr>
          <p:cNvSpPr>
            <a:spLocks noGrp="1"/>
          </p:cNvSpPr>
          <p:nvPr/>
        </p:nvSpPr>
        <p:spPr>
          <a:xfrm>
            <a:off x="523875" y="1524000"/>
            <a:ext cx="809625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>
            <a:defPPr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/>
            <a:r>
              <a:rPr sz="2800" b="1" dirty="0">
                <a:solidFill>
                  <a:srgbClr val="20375C"/>
                </a:solidFill>
                <a:latin typeface="Arial"/>
                <a:ea typeface="Arial"/>
                <a:cs typeface="Arial"/>
              </a:rPr>
              <a:t>LAN-Based Collaborative Whiteboard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B949E34-4B5B-4562-AC62-5E3AE182E6D9}"/>
              </a:ext>
            </a:extLst>
          </p:cNvPr>
          <p:cNvSpPr>
            <a:spLocks noGrp="1"/>
          </p:cNvSpPr>
          <p:nvPr/>
        </p:nvSpPr>
        <p:spPr>
          <a:xfrm>
            <a:off x="523875" y="6315075"/>
            <a:ext cx="5905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Computer Networks Laboratory   CSE20110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188D55E-1711-439B-B044-BD320AA1699C}"/>
              </a:ext>
            </a:extLst>
          </p:cNvPr>
          <p:cNvSpPr>
            <a:spLocks noGrp="1"/>
          </p:cNvSpPr>
          <p:nvPr/>
        </p:nvSpPr>
        <p:spPr>
          <a:xfrm>
            <a:off x="6667500" y="6315075"/>
            <a:ext cx="1905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15 seconds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0500DC7-A09E-49E5-9BD7-7620F64528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916647" y="349624"/>
            <a:ext cx="3310706" cy="9525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218C27AC-3417-4BF8-804F-DF5A87976EC8}"/>
              </a:ext>
            </a:extLst>
          </p:cNvPr>
          <p:cNvSpPr>
            <a:spLocks noGrp="1"/>
          </p:cNvSpPr>
          <p:nvPr/>
        </p:nvSpPr>
        <p:spPr>
          <a:xfrm>
            <a:off x="523875" y="2780000"/>
            <a:ext cx="80962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9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Mini-project presentation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626C341-1A4C-494A-8571-B519D932EFAE}"/>
              </a:ext>
            </a:extLst>
          </p:cNvPr>
          <p:cNvSpPr>
            <a:spLocks noGrp="1"/>
          </p:cNvSpPr>
          <p:nvPr/>
        </p:nvSpPr>
        <p:spPr>
          <a:xfrm>
            <a:off x="523875" y="3250000"/>
            <a:ext cx="8096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650" b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Computer Networks Laboratory (CSE20110)</a:t>
            </a:r>
          </a:p>
          <a:p>
            <a:pPr algn="ctr"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650" b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Department of Computer Engineering and Technology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5DF9F57-7481-43AF-90EA-1B438F83D4AC}"/>
              </a:ext>
            </a:extLst>
          </p:cNvPr>
          <p:cNvSpPr>
            <a:spLocks noGrp="1"/>
          </p:cNvSpPr>
          <p:nvPr/>
        </p:nvSpPr>
        <p:spPr>
          <a:xfrm>
            <a:off x="523875" y="4095750"/>
            <a:ext cx="809625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>
            <a:defPPr>
              <a:defRPr sz="15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spcAft>
                <a:spcPts val="300"/>
              </a:spcAft>
            </a:pPr>
            <a:r>
              <a:rPr sz="1300" b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Vedant Pawaskar – 1262242102        Prajakta Chougule – 1262241465</a:t>
            </a:r>
          </a:p>
          <a:p>
            <a:pPr algn="ctr">
              <a:spcAft>
                <a:spcPts val="300"/>
              </a:spcAft>
            </a:pPr>
            <a:r>
              <a:rPr sz="1300" b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Yashraj Agale – 1262242073        Bhavya Maisuria – 1262243418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0BBC233-AAC0-44C2-84CB-E2C2B90BE7A7}"/>
              </a:ext>
            </a:extLst>
          </p:cNvPr>
          <p:cNvSpPr>
            <a:spLocks noGrp="1"/>
          </p:cNvSpPr>
          <p:nvPr/>
        </p:nvSpPr>
        <p:spPr>
          <a:xfrm>
            <a:off x="523875" y="5162987"/>
            <a:ext cx="80962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 b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Group </a:t>
            </a:r>
            <a:r>
              <a:rPr lang="en-US" sz="150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18</a:t>
            </a:r>
            <a:r>
              <a:rPr sz="1500" b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   Panel </a:t>
            </a:r>
            <a:r>
              <a:rPr lang="en-US" sz="150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k </a:t>
            </a:r>
            <a:r>
              <a:rPr sz="1500" b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   Batch </a:t>
            </a:r>
            <a:r>
              <a:rPr lang="en-US" sz="150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1,2,3</a:t>
            </a:r>
            <a:endParaRPr sz="1500" b="0" dirty="0">
              <a:solidFill>
                <a:srgbClr val="202020"/>
              </a:solidFill>
              <a:latin typeface="Arial"/>
              <a:ea typeface="Arial"/>
              <a:cs typeface="Arial"/>
            </a:endParaRPr>
          </a:p>
          <a:p>
            <a:pPr algn="ctr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 b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Faculty: </a:t>
            </a:r>
            <a:r>
              <a:rPr lang="en-US" sz="150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dr. </a:t>
            </a:r>
            <a:r>
              <a:rPr lang="en-US" sz="1500" dirty="0" err="1">
                <a:solidFill>
                  <a:srgbClr val="202020"/>
                </a:solidFill>
                <a:latin typeface="Arial"/>
                <a:ea typeface="Arial"/>
                <a:cs typeface="Arial"/>
              </a:rPr>
              <a:t>uma</a:t>
            </a:r>
            <a:r>
              <a:rPr lang="en-US" sz="150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500" dirty="0" err="1">
                <a:solidFill>
                  <a:srgbClr val="202020"/>
                </a:solidFill>
                <a:latin typeface="Arial"/>
                <a:ea typeface="Arial"/>
                <a:cs typeface="Arial"/>
              </a:rPr>
              <a:t>pujeri</a:t>
            </a:r>
            <a:endParaRPr lang="en-US" sz="1500" b="0" dirty="0">
              <a:solidFill>
                <a:srgbClr val="202020"/>
              </a:solidFill>
              <a:latin typeface="Arial"/>
              <a:ea typeface="Arial"/>
              <a:cs typeface="Arial"/>
            </a:endParaRPr>
          </a:p>
          <a:p>
            <a:pPr algn="ctr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1500" b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Academic Year: 2026–2027   </a:t>
            </a:r>
          </a:p>
          <a:p>
            <a:pPr algn="ctr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1500" b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Presentation date: [Date]``````````````````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3875" y="2330000"/>
            <a:ext cx="8096250" cy="33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>
                <a:solidFill>
                  <a:srgbClr val="555555"/>
                </a:solidFill>
                <a:latin typeface="Arial"/>
              </a:rPr>
              <a:t>Real-time drawing for every device on the network, built on HTTP, TCP and WebSocket</a:t>
            </a:r>
          </a:p>
        </p:txBody>
      </p:sp>
    </p:spTree>
    <p:extLst>
      <p:ext uri="{BB962C8B-B14F-4D97-AF65-F5344CB8AC3E}">
        <p14:creationId xmlns:p14="http://schemas.microsoft.com/office/powerpoint/2010/main" val="1690225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88AF3E2-B0A1-48D7-8AAD-58C1AE49894A}"/>
              </a:ext>
            </a:extLst>
          </p:cNvPr>
          <p:cNvSpPr>
            <a:spLocks noGrp="1"/>
          </p:cNvSpPr>
          <p:nvPr/>
        </p:nvSpPr>
        <p:spPr>
          <a:xfrm>
            <a:off x="523875" y="400050"/>
            <a:ext cx="8096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pPr>
            <a:r>
              <a:rPr sz="2550" b="1" dirty="0">
                <a:solidFill>
                  <a:srgbClr val="20375C"/>
                </a:solidFill>
                <a:latin typeface="Arial"/>
                <a:ea typeface="Arial"/>
                <a:cs typeface="Arial"/>
              </a:rPr>
              <a:t>Problem and Objectives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4261110-3343-453F-B653-F85F3964BEA3}"/>
              </a:ext>
            </a:extLst>
          </p:cNvPr>
          <p:cNvSpPr>
            <a:spLocks noGrp="1"/>
          </p:cNvSpPr>
          <p:nvPr/>
        </p:nvSpPr>
        <p:spPr>
          <a:xfrm>
            <a:off x="523875" y="6315075"/>
            <a:ext cx="5905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Computer Networks Laboratory   CSE20110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4034558-8083-4762-B500-1F5F6BD4A1F3}"/>
              </a:ext>
            </a:extLst>
          </p:cNvPr>
          <p:cNvSpPr>
            <a:spLocks noGrp="1"/>
          </p:cNvSpPr>
          <p:nvPr/>
        </p:nvSpPr>
        <p:spPr>
          <a:xfrm>
            <a:off x="6667500" y="6315075"/>
            <a:ext cx="1905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40 seconds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890C7E7-A87D-46AD-AD00-B0EB9B949268}"/>
              </a:ext>
            </a:extLst>
          </p:cNvPr>
          <p:cNvSpPr>
            <a:spLocks noGrp="1"/>
          </p:cNvSpPr>
          <p:nvPr/>
        </p:nvSpPr>
        <p:spPr>
          <a:xfrm>
            <a:off x="523875" y="1333500"/>
            <a:ext cx="80962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8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800" b="1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Problem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E9F3CB5-0C0F-4AA1-99D5-8611CF4347DB}"/>
              </a:ext>
            </a:extLst>
          </p:cNvPr>
          <p:cNvSpPr>
            <a:spLocks noGrp="1"/>
          </p:cNvSpPr>
          <p:nvPr/>
        </p:nvSpPr>
        <p:spPr>
          <a:xfrm>
            <a:off x="523875" y="1809750"/>
            <a:ext cx="8096250" cy="130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>
            <a:defPPr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spcAft>
                <a:spcPts val="600"/>
              </a:spcAft>
            </a:pPr>
            <a:r>
              <a:rPr sz="150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Teams explain diagrams, topologies and calculations together, but a physical board is not always available and screenshots are never live.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Scope: any browser on a local network becomes one shared canvas, for students and lab teams.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4E77847-D504-4787-9F02-71CD2DC84C85}"/>
              </a:ext>
            </a:extLst>
          </p:cNvPr>
          <p:cNvSpPr>
            <a:spLocks noGrp="1"/>
          </p:cNvSpPr>
          <p:nvPr/>
        </p:nvSpPr>
        <p:spPr>
          <a:xfrm>
            <a:off x="523875" y="3330000"/>
            <a:ext cx="80962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8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800" b="1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Objectives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1E6E9D2-D950-4002-905E-A6DD5AE7B3CB}"/>
              </a:ext>
            </a:extLst>
          </p:cNvPr>
          <p:cNvSpPr>
            <a:spLocks noGrp="1"/>
          </p:cNvSpPr>
          <p:nvPr/>
        </p:nvSpPr>
        <p:spPr>
          <a:xfrm>
            <a:off x="523875" y="3800000"/>
            <a:ext cx="8096250" cy="230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>
            <a:defPPr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spcAft>
                <a:spcPts val="600"/>
              </a:spcAft>
            </a:pPr>
            <a:r>
              <a:rPr sz="1500" b="1">
                <a:solidFill>
                  <a:srgbClr val="20375C"/>
                </a:solidFill>
                <a:latin typeface="Arial"/>
                <a:ea typeface="Arial"/>
                <a:cs typeface="Arial"/>
              </a:rPr>
              <a:t>1. </a:t>
            </a:r>
            <a:r>
              <a:rPr sz="150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Build a browser whiteboard shared live by every device on one LAN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20375C"/>
                </a:solidFill>
                <a:latin typeface="Arial"/>
                <a:ea typeface="Arial"/>
                <a:cs typeface="Arial"/>
              </a:rPr>
              <a:t>2. </a:t>
            </a:r>
            <a:r>
              <a:rPr sz="150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Use one central server that receives, stores and broadcasts drawing events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20375C"/>
                </a:solidFill>
                <a:latin typeface="Arial"/>
                <a:ea typeface="Arial"/>
                <a:cs typeface="Arial"/>
              </a:rPr>
              <a:t>3. </a:t>
            </a:r>
            <a:r>
              <a:rPr sz="150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Use HTTP to deliver the page and WebSocket for live JSON updates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20375C"/>
                </a:solidFill>
                <a:latin typeface="Arial"/>
                <a:ea typeface="Arial"/>
                <a:cs typeface="Arial"/>
              </a:rPr>
              <a:t>4. </a:t>
            </a:r>
            <a:r>
              <a:rPr sz="150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Support join, leave and re-join with full state sync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20375C"/>
                </a:solidFill>
                <a:latin typeface="Arial"/>
                <a:ea typeface="Arial"/>
                <a:cs typeface="Arial"/>
              </a:rPr>
              <a:t>5. </a:t>
            </a:r>
            <a:r>
              <a:rPr sz="150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Test delivery delay and robustness, and relate results to theory</a:t>
            </a:r>
          </a:p>
        </p:txBody>
      </p:sp>
    </p:spTree>
    <p:extLst>
      <p:ext uri="{BB962C8B-B14F-4D97-AF65-F5344CB8AC3E}">
        <p14:creationId xmlns:p14="http://schemas.microsoft.com/office/powerpoint/2010/main" val="17711864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/>
          <p:cNvSpPr/>
          <p:nvPr/>
        </p:nvSpPr>
        <p:spPr>
          <a:xfrm>
            <a:off x="493875" y="1250000"/>
            <a:ext cx="5310000" cy="300693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C8D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E2A7FE5-9330-404A-8834-8EE47CC698A1}"/>
              </a:ext>
            </a:extLst>
          </p:cNvPr>
          <p:cNvSpPr>
            <a:spLocks noGrp="1"/>
          </p:cNvSpPr>
          <p:nvPr/>
        </p:nvSpPr>
        <p:spPr>
          <a:xfrm>
            <a:off x="523875" y="400050"/>
            <a:ext cx="8096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pPr>
            <a:r>
              <a:rPr sz="2550" b="1" dirty="0">
                <a:solidFill>
                  <a:srgbClr val="20375C"/>
                </a:solidFill>
                <a:latin typeface="Arial"/>
                <a:ea typeface="Arial"/>
                <a:cs typeface="Arial"/>
              </a:rPr>
              <a:t>Proposed Design and Tools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1186328-4620-4152-951C-0F6E0B69DF17}"/>
              </a:ext>
            </a:extLst>
          </p:cNvPr>
          <p:cNvSpPr>
            <a:spLocks noGrp="1"/>
          </p:cNvSpPr>
          <p:nvPr/>
        </p:nvSpPr>
        <p:spPr>
          <a:xfrm>
            <a:off x="523875" y="6315075"/>
            <a:ext cx="5905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Computer Networks Laboratory   CSE20110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6BB9F45-CBCF-467D-B76E-7FE236AFBDA0}"/>
              </a:ext>
            </a:extLst>
          </p:cNvPr>
          <p:cNvSpPr>
            <a:spLocks noGrp="1"/>
          </p:cNvSpPr>
          <p:nvPr/>
        </p:nvSpPr>
        <p:spPr>
          <a:xfrm>
            <a:off x="6667500" y="6315075"/>
            <a:ext cx="1905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45 seconds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8FCADAF-A2C0-470E-9C4F-96082F51573B}"/>
              </a:ext>
            </a:extLst>
          </p:cNvPr>
          <p:cNvSpPr>
            <a:spLocks noGrp="1"/>
          </p:cNvSpPr>
          <p:nvPr/>
        </p:nvSpPr>
        <p:spPr>
          <a:xfrm>
            <a:off x="523875" y="4416934"/>
            <a:ext cx="8096250" cy="178306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>
            <a:defPPr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spcAft>
                <a:spcPts val="800"/>
              </a:spcAft>
            </a:pPr>
            <a:r>
              <a:rPr sz="1500" b="1" dirty="0">
                <a:solidFill>
                  <a:srgbClr val="20375C"/>
                </a:solidFill>
                <a:latin typeface="Arial"/>
                <a:ea typeface="Arial"/>
                <a:cs typeface="Arial"/>
              </a:rPr>
              <a:t>Tools: </a:t>
            </a:r>
            <a:r>
              <a:rPr sz="1500" b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Python, FastAPI and Uvicorn (server); HTML5 Canvas and JavaScript (browser client)</a:t>
            </a:r>
          </a:p>
          <a:p>
            <a:pPr algn="l">
              <a:spcAft>
                <a:spcPts val="800"/>
              </a:spcAft>
            </a:pPr>
            <a:r>
              <a:rPr sz="1500" b="1" dirty="0">
                <a:solidFill>
                  <a:srgbClr val="20375C"/>
                </a:solidFill>
                <a:latin typeface="Arial"/>
                <a:ea typeface="Arial"/>
                <a:cs typeface="Arial"/>
              </a:rPr>
              <a:t>Protocols: </a:t>
            </a:r>
            <a:r>
              <a:rPr sz="1500" b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HTTP delivers the page; WebSocket over TCP carries live JSON messages [1], [2]</a:t>
            </a:r>
          </a:p>
          <a:p>
            <a:pPr algn="l">
              <a:spcAft>
                <a:spcPts val="800"/>
              </a:spcAft>
            </a:pPr>
            <a:r>
              <a:rPr sz="1500" b="1" dirty="0">
                <a:solidFill>
                  <a:srgbClr val="20375C"/>
                </a:solidFill>
                <a:latin typeface="Arial"/>
                <a:ea typeface="Arial"/>
                <a:cs typeface="Arial"/>
              </a:rPr>
              <a:t>Addressing: </a:t>
            </a:r>
            <a:r>
              <a:rPr sz="1500" b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server on its LAN IP, port 8000; clients join at ws://host:8000/ws</a:t>
            </a:r>
          </a:p>
        </p:txBody>
      </p:sp>
      <p:pic>
        <p:nvPicPr>
          <p:cNvPr id="7" name="Picture 6" descr="image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1280000"/>
            <a:ext cx="5250000" cy="294693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73875" y="1250000"/>
            <a:ext cx="2646250" cy="2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20375C"/>
                </a:solidFill>
                <a:latin typeface="Arial"/>
              </a:rPr>
              <a:t>PROTOCOL STACK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73875" y="1530000"/>
            <a:ext cx="2646250" cy="495386"/>
          </a:xfrm>
          <a:prstGeom prst="roundRect">
            <a:avLst>
              <a:gd name="adj" fmla="val 12000"/>
            </a:avLst>
          </a:prstGeom>
          <a:solidFill>
            <a:srgbClr val="EA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20000" rIns="70000" bIns="20000" rtlCol="0" anchor="ctr"/>
          <a:lstStyle/>
          <a:p>
            <a:pPr algn="l"/>
            <a:r>
              <a:rPr sz="1100" b="1">
                <a:solidFill>
                  <a:srgbClr val="20375C"/>
                </a:solidFill>
                <a:latin typeface="Arial"/>
              </a:rPr>
              <a:t>Application</a:t>
            </a:r>
          </a:p>
          <a:p>
            <a:pPr algn="l"/>
            <a:r>
              <a:rPr sz="950">
                <a:solidFill>
                  <a:srgbClr val="202020"/>
                </a:solidFill>
                <a:latin typeface="Arial"/>
              </a:rPr>
              <a:t>JSON: DRAW, ERASE, CLEAR, SYNC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73875" y="2075386"/>
            <a:ext cx="2646250" cy="495386"/>
          </a:xfrm>
          <a:prstGeom prst="roundRect">
            <a:avLst>
              <a:gd name="adj" fmla="val 12000"/>
            </a:avLst>
          </a:prstGeom>
          <a:solidFill>
            <a:srgbClr val="DCE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20000" rIns="70000" bIns="20000" rtlCol="0" anchor="ctr"/>
          <a:lstStyle/>
          <a:p>
            <a:pPr algn="l"/>
            <a:r>
              <a:rPr sz="1100" b="1">
                <a:solidFill>
                  <a:srgbClr val="20375C"/>
                </a:solidFill>
                <a:latin typeface="Arial"/>
              </a:rPr>
              <a:t>HTTP + WebSocket</a:t>
            </a:r>
          </a:p>
          <a:p>
            <a:pPr algn="l"/>
            <a:r>
              <a:rPr sz="950">
                <a:solidFill>
                  <a:srgbClr val="202020"/>
                </a:solidFill>
                <a:latin typeface="Arial"/>
              </a:rPr>
              <a:t>page, then live /ws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73875" y="2620772"/>
            <a:ext cx="2646250" cy="495386"/>
          </a:xfrm>
          <a:prstGeom prst="roundRect">
            <a:avLst>
              <a:gd name="adj" fmla="val 12000"/>
            </a:avLst>
          </a:prstGeom>
          <a:solidFill>
            <a:srgbClr val="EA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20000" rIns="70000" bIns="20000" rtlCol="0" anchor="ctr"/>
          <a:lstStyle/>
          <a:p>
            <a:pPr algn="l"/>
            <a:r>
              <a:rPr sz="1100" b="1">
                <a:solidFill>
                  <a:srgbClr val="20375C"/>
                </a:solidFill>
                <a:latin typeface="Arial"/>
              </a:rPr>
              <a:t>TCP</a:t>
            </a:r>
          </a:p>
          <a:p>
            <a:pPr algn="l"/>
            <a:r>
              <a:rPr sz="950">
                <a:solidFill>
                  <a:srgbClr val="202020"/>
                </a:solidFill>
                <a:latin typeface="Arial"/>
              </a:rPr>
              <a:t>reliable, ordered, port 8000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73875" y="3166158"/>
            <a:ext cx="2646250" cy="495386"/>
          </a:xfrm>
          <a:prstGeom prst="roundRect">
            <a:avLst>
              <a:gd name="adj" fmla="val 12000"/>
            </a:avLst>
          </a:prstGeom>
          <a:solidFill>
            <a:srgbClr val="DCE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20000" rIns="70000" bIns="20000" rtlCol="0" anchor="ctr"/>
          <a:lstStyle/>
          <a:p>
            <a:pPr algn="l"/>
            <a:r>
              <a:rPr sz="1100" b="1">
                <a:solidFill>
                  <a:srgbClr val="20375C"/>
                </a:solidFill>
                <a:latin typeface="Arial"/>
              </a:rPr>
              <a:t>IP</a:t>
            </a:r>
          </a:p>
          <a:p>
            <a:pPr algn="l"/>
            <a:r>
              <a:rPr sz="950">
                <a:solidFill>
                  <a:srgbClr val="202020"/>
                </a:solidFill>
                <a:latin typeface="Arial"/>
              </a:rPr>
              <a:t>LAN address 192.168.x.x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73875" y="3711544"/>
            <a:ext cx="2646250" cy="495386"/>
          </a:xfrm>
          <a:prstGeom prst="roundRect">
            <a:avLst>
              <a:gd name="adj" fmla="val 12000"/>
            </a:avLst>
          </a:prstGeom>
          <a:solidFill>
            <a:srgbClr val="EA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20000" rIns="70000" bIns="20000" rtlCol="0" anchor="ctr"/>
          <a:lstStyle/>
          <a:p>
            <a:pPr algn="l"/>
            <a:r>
              <a:rPr sz="1100" b="1">
                <a:solidFill>
                  <a:srgbClr val="20375C"/>
                </a:solidFill>
                <a:latin typeface="Arial"/>
              </a:rPr>
              <a:t>Link</a:t>
            </a:r>
          </a:p>
          <a:p>
            <a:pPr algn="l"/>
            <a:r>
              <a:rPr sz="950">
                <a:solidFill>
                  <a:srgbClr val="202020"/>
                </a:solidFill>
                <a:latin typeface="Arial"/>
              </a:rPr>
              <a:t>Wi-Fi or Ethernet</a:t>
            </a:r>
          </a:p>
        </p:txBody>
      </p:sp>
    </p:spTree>
    <p:extLst>
      <p:ext uri="{BB962C8B-B14F-4D97-AF65-F5344CB8AC3E}">
        <p14:creationId xmlns:p14="http://schemas.microsoft.com/office/powerpoint/2010/main" val="20324306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/>
          <p:cNvSpPr/>
          <p:nvPr/>
        </p:nvSpPr>
        <p:spPr>
          <a:xfrm>
            <a:off x="493875" y="1220000"/>
            <a:ext cx="3832881" cy="2860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C8D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9D9CBCB-0357-4DC8-A188-4C37277A96D4}"/>
              </a:ext>
            </a:extLst>
          </p:cNvPr>
          <p:cNvSpPr>
            <a:spLocks noGrp="1"/>
          </p:cNvSpPr>
          <p:nvPr/>
        </p:nvSpPr>
        <p:spPr>
          <a:xfrm>
            <a:off x="523875" y="400050"/>
            <a:ext cx="8096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pPr>
            <a:r>
              <a:rPr sz="2550" b="1" dirty="0">
                <a:solidFill>
                  <a:srgbClr val="20375C"/>
                </a:solidFill>
                <a:latin typeface="Arial"/>
                <a:ea typeface="Arial"/>
                <a:cs typeface="Arial"/>
              </a:rPr>
              <a:t>Implementation and Working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18AF794-E3C6-4991-A893-A5574F7F23BE}"/>
              </a:ext>
            </a:extLst>
          </p:cNvPr>
          <p:cNvSpPr>
            <a:spLocks noGrp="1"/>
          </p:cNvSpPr>
          <p:nvPr/>
        </p:nvSpPr>
        <p:spPr>
          <a:xfrm>
            <a:off x="523875" y="6315075"/>
            <a:ext cx="5905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Computer Networks Laboratory   CSE20110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E311F0-B43D-4984-B7EF-5CED8D55A51E}"/>
              </a:ext>
            </a:extLst>
          </p:cNvPr>
          <p:cNvSpPr>
            <a:spLocks noGrp="1"/>
          </p:cNvSpPr>
          <p:nvPr/>
        </p:nvSpPr>
        <p:spPr>
          <a:xfrm>
            <a:off x="6667500" y="6315075"/>
            <a:ext cx="1905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55 seconds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1B6265A-7667-4F74-BB20-92A5B1B71102}"/>
              </a:ext>
            </a:extLst>
          </p:cNvPr>
          <p:cNvSpPr>
            <a:spLocks noGrp="1"/>
          </p:cNvSpPr>
          <p:nvPr/>
        </p:nvSpPr>
        <p:spPr>
          <a:xfrm>
            <a:off x="523875" y="4500000"/>
            <a:ext cx="8096250" cy="170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>
            <a:defPPr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spcAft>
                <a:spcPts val="800"/>
              </a:spcAft>
            </a:pPr>
            <a:r>
              <a:rPr sz="1400" b="1">
                <a:solidFill>
                  <a:srgbClr val="20375C"/>
                </a:solidFill>
                <a:latin typeface="Arial"/>
                <a:ea typeface="Arial"/>
                <a:cs typeface="Arial"/>
              </a:rPr>
              <a:t>Implementation: </a:t>
            </a:r>
            <a:r>
              <a:rPr sz="140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main.py serves the page, tracks clients, stores strokes and replays SYNC; app.js turns pointer moves into JSON events and renders them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20375C"/>
                </a:solidFill>
                <a:latin typeface="Arial"/>
                <a:ea typeface="Arial"/>
                <a:cs typeface="Arial"/>
              </a:rPr>
              <a:t>Working: </a:t>
            </a:r>
            <a:r>
              <a:rPr sz="140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each message is one line segment (current and previous point), so every client redraws it exactly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20375C"/>
                </a:solidFill>
                <a:latin typeface="Arial"/>
                <a:ea typeface="Arial"/>
                <a:cs typeface="Arial"/>
              </a:rPr>
              <a:t>Troubleshooting: </a:t>
            </a:r>
            <a:r>
              <a:rPr sz="140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dropped connections are retried by the client every 2 s and the server replays SYNC to restore the board</a:t>
            </a:r>
          </a:p>
        </p:txBody>
      </p:sp>
      <p:pic>
        <p:nvPicPr>
          <p:cNvPr id="7" name="Picture 6" descr="image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1250000"/>
            <a:ext cx="3772881" cy="28000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496756" y="1220000"/>
            <a:ext cx="4123369" cy="2860000"/>
          </a:xfrm>
          <a:prstGeom prst="roundRect">
            <a:avLst>
              <a:gd name="adj" fmla="val 3000"/>
            </a:avLst>
          </a:prstGeom>
          <a:solidFill>
            <a:srgbClr val="14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06756" y="1290000"/>
            <a:ext cx="3923369" cy="23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7FC4FF"/>
                </a:solidFill>
                <a:latin typeface="Arial"/>
              </a:rPr>
              <a:t>BROADCAST LOOP (SIMPLIFIED)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06756" y="1580000"/>
            <a:ext cx="3923369" cy="17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E8EEF7"/>
                </a:solidFill>
                <a:latin typeface="Courier New"/>
              </a:rPr>
              <a:t>async def broadcast(msg, exclude=None):</a:t>
            </a:r>
          </a:p>
          <a:p>
            <a:pPr algn="l"/>
            <a:r>
              <a:rPr sz="1050" b="0">
                <a:solidFill>
                  <a:srgbClr val="E8EEF7"/>
                </a:solidFill>
                <a:latin typeface="Courier New"/>
              </a:rPr>
              <a:t>  for cid, ws in list(clients.items()):</a:t>
            </a:r>
          </a:p>
          <a:p>
            <a:pPr algn="l"/>
            <a:r>
              <a:rPr sz="1050" b="0">
                <a:solidFill>
                  <a:srgbClr val="E8EEF7"/>
                </a:solidFill>
                <a:latin typeface="Courier New"/>
              </a:rPr>
              <a:t>    if cid == exclude:</a:t>
            </a:r>
          </a:p>
          <a:p>
            <a:pPr algn="l"/>
            <a:r>
              <a:rPr sz="1050" b="0">
                <a:solidFill>
                  <a:srgbClr val="E8EEF7"/>
                </a:solidFill>
                <a:latin typeface="Courier New"/>
              </a:rPr>
              <a:t>      continue</a:t>
            </a:r>
          </a:p>
          <a:p>
            <a:pPr algn="l"/>
            <a:r>
              <a:rPr sz="1050" b="0">
                <a:solidFill>
                  <a:srgbClr val="E8EEF7"/>
                </a:solidFill>
                <a:latin typeface="Courier New"/>
              </a:rPr>
              <a:t>    try:</a:t>
            </a:r>
          </a:p>
          <a:p>
            <a:pPr algn="l"/>
            <a:r>
              <a:rPr sz="1050" b="0">
                <a:solidFill>
                  <a:srgbClr val="E8EEF7"/>
                </a:solidFill>
                <a:latin typeface="Courier New"/>
              </a:rPr>
              <a:t>      await ws.send_json(msg)</a:t>
            </a:r>
          </a:p>
          <a:p>
            <a:pPr algn="l"/>
            <a:r>
              <a:rPr sz="1050" b="0">
                <a:solidFill>
                  <a:srgbClr val="E8EEF7"/>
                </a:solidFill>
                <a:latin typeface="Courier New"/>
              </a:rPr>
              <a:t>    except Exception:</a:t>
            </a:r>
          </a:p>
          <a:p>
            <a:pPr algn="l"/>
            <a:r>
              <a:rPr sz="1050" b="0">
                <a:solidFill>
                  <a:srgbClr val="E8EEF7"/>
                </a:solidFill>
                <a:latin typeface="Courier New"/>
              </a:rPr>
              <a:t>      clients.pop(cid, None)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06756" y="3480000"/>
            <a:ext cx="3923369" cy="5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F2C96B"/>
                </a:solidFill>
                <a:latin typeface="Courier New"/>
              </a:rPr>
              <a:t>Run: uvicorn main:app --host 0.0.0.0 --port 8000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3875" y="4090000"/>
            <a:ext cx="3772881" cy="23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>
                <a:solidFill>
                  <a:srgbClr val="555555"/>
                </a:solidFill>
                <a:latin typeface="Arial"/>
              </a:rPr>
              <a:t>Message flow: join, draw, leave</a:t>
            </a:r>
          </a:p>
        </p:txBody>
      </p:sp>
    </p:spTree>
    <p:extLst>
      <p:ext uri="{BB962C8B-B14F-4D97-AF65-F5344CB8AC3E}">
        <p14:creationId xmlns:p14="http://schemas.microsoft.com/office/powerpoint/2010/main" val="4507837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317C623-7343-44B1-AA4A-D1B4C258A90F}"/>
              </a:ext>
            </a:extLst>
          </p:cNvPr>
          <p:cNvSpPr>
            <a:spLocks noGrp="1"/>
          </p:cNvSpPr>
          <p:nvPr/>
        </p:nvSpPr>
        <p:spPr>
          <a:xfrm>
            <a:off x="523875" y="400050"/>
            <a:ext cx="8096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pPr>
            <a:r>
              <a:rPr sz="2550" b="1" dirty="0">
                <a:solidFill>
                  <a:srgbClr val="20375C"/>
                </a:solidFill>
                <a:latin typeface="Arial"/>
                <a:ea typeface="Arial"/>
                <a:cs typeface="Arial"/>
              </a:rPr>
              <a:t>Testing and Results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1B9A461-CBBC-4245-813A-D1367A360BC7}"/>
              </a:ext>
            </a:extLst>
          </p:cNvPr>
          <p:cNvSpPr>
            <a:spLocks noGrp="1"/>
          </p:cNvSpPr>
          <p:nvPr/>
        </p:nvSpPr>
        <p:spPr>
          <a:xfrm>
            <a:off x="523875" y="6315075"/>
            <a:ext cx="5905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Computer Networks Laboratory   CSE20110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6353FE9-3343-4C54-947B-8EB6CA4BD4B2}"/>
              </a:ext>
            </a:extLst>
          </p:cNvPr>
          <p:cNvSpPr>
            <a:spLocks noGrp="1"/>
          </p:cNvSpPr>
          <p:nvPr/>
        </p:nvSpPr>
        <p:spPr>
          <a:xfrm>
            <a:off x="6667500" y="6315075"/>
            <a:ext cx="1905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50 seconds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EA10CA8-AA41-4067-AE19-358C75D267F6}"/>
              </a:ext>
            </a:extLst>
          </p:cNvPr>
          <p:cNvSpPr>
            <a:spLocks noGrp="1"/>
          </p:cNvSpPr>
          <p:nvPr/>
        </p:nvSpPr>
        <p:spPr>
          <a:xfrm>
            <a:off x="523875" y="2950000"/>
            <a:ext cx="8096250" cy="325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>
            <a:defPPr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spcAft>
                <a:spcPts val="900"/>
              </a:spcAft>
            </a:pPr>
            <a:r>
              <a:rPr sz="1450" b="1">
                <a:solidFill>
                  <a:srgbClr val="20375C"/>
                </a:solidFill>
                <a:latin typeface="Arial"/>
                <a:ea typeface="Arial"/>
                <a:cs typeface="Arial"/>
              </a:rPr>
              <a:t>Test: </a:t>
            </a:r>
            <a:r>
              <a:rPr sz="145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connect, draw, erase, clear, join, leave, restart and load; 200 events timed client to server to client; 500 events sent to 9 receivers; 12 clients at once</a:t>
            </a:r>
          </a:p>
          <a:p>
            <a:pPr algn="l">
              <a:spcAft>
                <a:spcPts val="900"/>
              </a:spcAft>
            </a:pPr>
            <a:r>
              <a:rPr sz="1450" b="1">
                <a:solidFill>
                  <a:srgbClr val="20375C"/>
                </a:solidFill>
                <a:latin typeface="Arial"/>
                <a:ea typeface="Arial"/>
                <a:cs typeface="Arial"/>
              </a:rPr>
              <a:t>Expected: </a:t>
            </a:r>
            <a:r>
              <a:rPr sz="145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every event reaches every client, in order, with no loss and low delay</a:t>
            </a:r>
          </a:p>
          <a:p>
            <a:pPr algn="l">
              <a:spcAft>
                <a:spcPts val="900"/>
              </a:spcAft>
            </a:pPr>
            <a:r>
              <a:rPr sz="1450" b="1">
                <a:solidFill>
                  <a:srgbClr val="20375C"/>
                </a:solidFill>
                <a:latin typeface="Arial"/>
                <a:ea typeface="Arial"/>
                <a:cs typeface="Arial"/>
              </a:rPr>
              <a:t>Observed: </a:t>
            </a:r>
            <a:r>
              <a:rPr sz="145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9/9 passed; 0.21 ms mean delay (PING–PONG 0.17 ms); 500/500 received by each receiver; malformed JSON closed only that client, and a restart gave a new client an empty board</a:t>
            </a:r>
          </a:p>
          <a:p>
            <a:pPr algn="l">
              <a:spcAft>
                <a:spcPts val="900"/>
              </a:spcAft>
            </a:pPr>
            <a:r>
              <a:rPr sz="1450" b="1">
                <a:solidFill>
                  <a:srgbClr val="20375C"/>
                </a:solidFill>
                <a:latin typeface="Arial"/>
                <a:ea typeface="Arial"/>
                <a:cs typeface="Arial"/>
              </a:rPr>
              <a:t>Objectives achieved: </a:t>
            </a:r>
            <a:r>
              <a:rPr sz="145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1–4 shown by the working demo and passing tests; 5 by the measurements, taken on loopback, so re-measure on Wi-Fi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23875" y="1300000"/>
            <a:ext cx="1911562" cy="1350000"/>
          </a:xfrm>
          <a:prstGeom prst="roundRect">
            <a:avLst>
              <a:gd name="adj" fmla="val 8000"/>
            </a:avLst>
          </a:prstGeom>
          <a:solidFill>
            <a:srgbClr val="EA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23875" y="1450000"/>
            <a:ext cx="1911562" cy="5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800" b="1">
                <a:solidFill>
                  <a:srgbClr val="20375C"/>
                </a:solidFill>
                <a:latin typeface="Arial"/>
              </a:rPr>
              <a:t>9 / 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3875" y="2060000"/>
            <a:ext cx="1811562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50" b="0">
                <a:solidFill>
                  <a:srgbClr val="202020"/>
                </a:solidFill>
                <a:latin typeface="Arial"/>
              </a:rPr>
              <a:t>test cases passed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85437" y="1300000"/>
            <a:ext cx="1911562" cy="1350000"/>
          </a:xfrm>
          <a:prstGeom prst="roundRect">
            <a:avLst>
              <a:gd name="adj" fmla="val 8000"/>
            </a:avLst>
          </a:prstGeom>
          <a:solidFill>
            <a:srgbClr val="EA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585437" y="1450000"/>
            <a:ext cx="1911562" cy="5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800" b="1">
                <a:solidFill>
                  <a:srgbClr val="20375C"/>
                </a:solidFill>
                <a:latin typeface="Arial"/>
              </a:rPr>
              <a:t>0.21 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35437" y="2060000"/>
            <a:ext cx="1811562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50" b="0">
                <a:solidFill>
                  <a:srgbClr val="202020"/>
                </a:solidFill>
                <a:latin typeface="Arial"/>
              </a:rPr>
              <a:t>mean delivery delay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46999" y="1300000"/>
            <a:ext cx="1911562" cy="1350000"/>
          </a:xfrm>
          <a:prstGeom prst="roundRect">
            <a:avLst>
              <a:gd name="adj" fmla="val 8000"/>
            </a:avLst>
          </a:prstGeom>
          <a:solidFill>
            <a:srgbClr val="EA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46999" y="1450000"/>
            <a:ext cx="1911562" cy="5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800" b="1">
                <a:solidFill>
                  <a:srgbClr val="20375C"/>
                </a:solidFill>
                <a:latin typeface="Arial"/>
              </a:rPr>
              <a:t>500 / 500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96999" y="2060000"/>
            <a:ext cx="1811562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50" b="0">
                <a:solidFill>
                  <a:srgbClr val="202020"/>
                </a:solidFill>
                <a:latin typeface="Arial"/>
              </a:rPr>
              <a:t>events received, none lost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08561" y="1300000"/>
            <a:ext cx="1911562" cy="1350000"/>
          </a:xfrm>
          <a:prstGeom prst="roundRect">
            <a:avLst>
              <a:gd name="adj" fmla="val 8000"/>
            </a:avLst>
          </a:prstGeom>
          <a:solidFill>
            <a:srgbClr val="EA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708561" y="1450000"/>
            <a:ext cx="1911562" cy="5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800" b="1">
                <a:solidFill>
                  <a:srgbClr val="20375C"/>
                </a:solidFill>
                <a:latin typeface="Arial"/>
              </a:rPr>
              <a:t>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58561" y="2060000"/>
            <a:ext cx="1811562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50" b="0">
                <a:solidFill>
                  <a:srgbClr val="202020"/>
                </a:solidFill>
                <a:latin typeface="Arial"/>
              </a:rPr>
              <a:t>simultaneous clients</a:t>
            </a:r>
          </a:p>
        </p:txBody>
      </p:sp>
    </p:spTree>
    <p:extLst>
      <p:ext uri="{BB962C8B-B14F-4D97-AF65-F5344CB8AC3E}">
        <p14:creationId xmlns:p14="http://schemas.microsoft.com/office/powerpoint/2010/main" val="1214079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AB6F581-D019-4446-9B09-873266454C32}"/>
              </a:ext>
            </a:extLst>
          </p:cNvPr>
          <p:cNvSpPr>
            <a:spLocks noGrp="1"/>
          </p:cNvSpPr>
          <p:nvPr/>
        </p:nvSpPr>
        <p:spPr>
          <a:xfrm>
            <a:off x="523875" y="400050"/>
            <a:ext cx="8096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pPr>
            <a:r>
              <a:rPr sz="2550" b="1" dirty="0">
                <a:solidFill>
                  <a:srgbClr val="20375C"/>
                </a:solidFill>
                <a:latin typeface="Arial"/>
                <a:ea typeface="Arial"/>
                <a:cs typeface="Arial"/>
              </a:rPr>
              <a:t>Working Demonstration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9B7B2C0-778B-420B-9AC8-791FED994D01}"/>
              </a:ext>
            </a:extLst>
          </p:cNvPr>
          <p:cNvSpPr>
            <a:spLocks noGrp="1"/>
          </p:cNvSpPr>
          <p:nvPr/>
        </p:nvSpPr>
        <p:spPr>
          <a:xfrm>
            <a:off x="523875" y="6315075"/>
            <a:ext cx="5905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Computer Networks Laboratory   CSE20110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5A4A980-7EF8-4344-9A96-EEAF374C7B47}"/>
              </a:ext>
            </a:extLst>
          </p:cNvPr>
          <p:cNvSpPr>
            <a:spLocks noGrp="1"/>
          </p:cNvSpPr>
          <p:nvPr/>
        </p:nvSpPr>
        <p:spPr>
          <a:xfrm>
            <a:off x="6667500" y="6315075"/>
            <a:ext cx="1905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65 seconds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1DD762-53EC-4E66-840B-4BC66B5F54C7}"/>
              </a:ext>
            </a:extLst>
          </p:cNvPr>
          <p:cNvSpPr>
            <a:spLocks noGrp="1"/>
          </p:cNvSpPr>
          <p:nvPr/>
        </p:nvSpPr>
        <p:spPr>
          <a:xfrm>
            <a:off x="523875" y="1250000"/>
            <a:ext cx="80962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>
            <a:defPPr>
              <a:defRPr sz="187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/>
            <a:r>
              <a:rPr sz="18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Function to demonstrate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7D0DFDA-9D38-4110-9E96-AA8B9885772D}"/>
              </a:ext>
            </a:extLst>
          </p:cNvPr>
          <p:cNvSpPr>
            <a:spLocks noGrp="1"/>
          </p:cNvSpPr>
          <p:nvPr/>
        </p:nvSpPr>
        <p:spPr>
          <a:xfrm>
            <a:off x="523875" y="1700000"/>
            <a:ext cx="8096250" cy="45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>
            <a:defPPr>
              <a:defRPr sz="19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/>
            <a:r>
              <a:rPr sz="150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Live shared drawing: a stroke, erase or clear on one client appears on all clients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FF31393-1A58-4193-B896-64977C05E623}"/>
              </a:ext>
            </a:extLst>
          </p:cNvPr>
          <p:cNvSpPr>
            <a:spLocks noGrp="1"/>
          </p:cNvSpPr>
          <p:nvPr/>
        </p:nvSpPr>
        <p:spPr>
          <a:xfrm>
            <a:off x="523875" y="5000000"/>
            <a:ext cx="8096250" cy="90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>
            <a:defPPr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>
            <a:pPr algn="l"/>
            <a:r>
              <a:rPr sz="1500" b="1">
                <a:solidFill>
                  <a:srgbClr val="20375C"/>
                </a:solidFill>
                <a:latin typeface="Arial"/>
                <a:ea typeface="Arial"/>
                <a:cs typeface="Arial"/>
              </a:rPr>
              <a:t>Success criterion: </a:t>
            </a:r>
            <a:r>
              <a:rPr sz="150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every action on any client appears on all other clients at once, and the online count updates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3875" y="2330000"/>
            <a:ext cx="2605416" cy="1681866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C8D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2350000"/>
            <a:ext cx="2565416" cy="164186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23875" y="4101866"/>
            <a:ext cx="2565416" cy="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20375C"/>
                </a:solidFill>
                <a:latin typeface="Arial"/>
              </a:rPr>
              <a:t>1. Connect: </a:t>
            </a:r>
            <a:r>
              <a:rPr sz="1350" b="0">
                <a:solidFill>
                  <a:srgbClr val="202020"/>
                </a:solidFill>
                <a:latin typeface="Arial"/>
              </a:rPr>
              <a:t>three clients join; every screen shows Users Online: 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69291" y="2330000"/>
            <a:ext cx="2605416" cy="1681866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C8D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mage1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9291" y="2350000"/>
            <a:ext cx="2565416" cy="164186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289291" y="4101866"/>
            <a:ext cx="2565416" cy="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20375C"/>
                </a:solidFill>
                <a:latin typeface="Arial"/>
              </a:rPr>
              <a:t>2. Draw: </a:t>
            </a:r>
            <a:r>
              <a:rPr sz="1350" b="0">
                <a:solidFill>
                  <a:srgbClr val="202020"/>
                </a:solidFill>
                <a:latin typeface="Arial"/>
              </a:rPr>
              <a:t>strokes from three users appear on every canvas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34707" y="2330000"/>
            <a:ext cx="2605416" cy="1681866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C8D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image1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54707" y="2350000"/>
            <a:ext cx="2565416" cy="164186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054707" y="4101866"/>
            <a:ext cx="2565416" cy="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20375C"/>
                </a:solidFill>
                <a:latin typeface="Arial"/>
              </a:rPr>
              <a:t>3. Erase: </a:t>
            </a:r>
            <a:r>
              <a:rPr sz="1350" b="0">
                <a:solidFill>
                  <a:srgbClr val="202020"/>
                </a:solidFill>
                <a:latin typeface="Arial"/>
              </a:rPr>
              <a:t>an erase by Client B shows up on Client A</a:t>
            </a:r>
          </a:p>
        </p:txBody>
      </p:sp>
    </p:spTree>
    <p:extLst>
      <p:ext uri="{BB962C8B-B14F-4D97-AF65-F5344CB8AC3E}">
        <p14:creationId xmlns:p14="http://schemas.microsoft.com/office/powerpoint/2010/main" val="1232850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7465B80-86A3-4988-8BBF-D6C889F03087}"/>
              </a:ext>
            </a:extLst>
          </p:cNvPr>
          <p:cNvSpPr>
            <a:spLocks noGrp="1"/>
          </p:cNvSpPr>
          <p:nvPr/>
        </p:nvSpPr>
        <p:spPr>
          <a:xfrm>
            <a:off x="523875" y="400050"/>
            <a:ext cx="8096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pPr>
            <a:r>
              <a:rPr sz="2550" b="1" dirty="0">
                <a:solidFill>
                  <a:srgbClr val="20375C"/>
                </a:solidFill>
                <a:latin typeface="Arial"/>
                <a:ea typeface="Arial"/>
                <a:cs typeface="Arial"/>
              </a:rPr>
              <a:t>Conclusion and Contributions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35C3C1D-1A36-4479-B48D-72AED4C5126A}"/>
              </a:ext>
            </a:extLst>
          </p:cNvPr>
          <p:cNvSpPr>
            <a:spLocks noGrp="1"/>
          </p:cNvSpPr>
          <p:nvPr/>
        </p:nvSpPr>
        <p:spPr>
          <a:xfrm>
            <a:off x="523875" y="6315075"/>
            <a:ext cx="5905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Computer Networks Laboratory   CSE20110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3033241-AA33-4209-9B79-B06A3DA63F84}"/>
              </a:ext>
            </a:extLst>
          </p:cNvPr>
          <p:cNvSpPr>
            <a:spLocks noGrp="1"/>
          </p:cNvSpPr>
          <p:nvPr/>
        </p:nvSpPr>
        <p:spPr>
          <a:xfrm>
            <a:off x="6667500" y="6315075"/>
            <a:ext cx="1905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30 seconds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C4D24D5-8342-497C-8F27-E269BD6DACDB}"/>
              </a:ext>
            </a:extLst>
          </p:cNvPr>
          <p:cNvSpPr>
            <a:spLocks noGrp="1"/>
          </p:cNvSpPr>
          <p:nvPr/>
        </p:nvSpPr>
        <p:spPr>
          <a:xfrm>
            <a:off x="523875" y="1250000"/>
            <a:ext cx="8096250" cy="260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>
            <a:defPPr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spcAft>
                <a:spcPts val="500"/>
              </a:spcAft>
            </a:pPr>
            <a:r>
              <a:rPr sz="1400" b="1" dirty="0">
                <a:solidFill>
                  <a:srgbClr val="20375C"/>
                </a:solidFill>
                <a:latin typeface="Arial"/>
                <a:ea typeface="Arial"/>
                <a:cs typeface="Arial"/>
              </a:rPr>
              <a:t>Outcome: </a:t>
            </a:r>
            <a:r>
              <a:rPr sz="1400" b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a working whiteboard where a browser loads the page over HTTP, upgrades to WebSocket on TCP, and exchanges small JSON messages with one </a:t>
            </a:r>
            <a:r>
              <a:rPr sz="1400" b="0" dirty="0" err="1">
                <a:solidFill>
                  <a:srgbClr val="202020"/>
                </a:solidFill>
                <a:latin typeface="Arial"/>
                <a:ea typeface="Arial"/>
                <a:cs typeface="Arial"/>
              </a:rPr>
              <a:t>FastAPI</a:t>
            </a:r>
            <a:r>
              <a:rPr sz="1400" b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 server</a:t>
            </a:r>
          </a:p>
          <a:p>
            <a:pPr algn="l">
              <a:spcAft>
                <a:spcPts val="500"/>
              </a:spcAft>
            </a:pPr>
            <a:r>
              <a:rPr sz="1400" b="1" dirty="0">
                <a:solidFill>
                  <a:srgbClr val="20375C"/>
                </a:solidFill>
                <a:latin typeface="Arial"/>
                <a:ea typeface="Arial"/>
                <a:cs typeface="Arial"/>
              </a:rPr>
              <a:t>Application: </a:t>
            </a:r>
            <a:r>
              <a:rPr sz="1400" b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shared diagrams, topologies and calculations for classrooms and lab teams on one LAN</a:t>
            </a:r>
          </a:p>
          <a:p>
            <a:pPr algn="l">
              <a:spcAft>
                <a:spcPts val="500"/>
              </a:spcAft>
            </a:pPr>
            <a:r>
              <a:rPr sz="1400" b="1" dirty="0">
                <a:solidFill>
                  <a:srgbClr val="20375C"/>
                </a:solidFill>
                <a:latin typeface="Arial"/>
                <a:ea typeface="Arial"/>
                <a:cs typeface="Arial"/>
              </a:rPr>
              <a:t>Limitation: </a:t>
            </a:r>
            <a:r>
              <a:rPr sz="1400" b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no login or encryption (trusted LAN only); drawing is kept in memory and lost on restart; one server</a:t>
            </a:r>
          </a:p>
          <a:p>
            <a:pPr algn="l">
              <a:spcAft>
                <a:spcPts val="500"/>
              </a:spcAft>
            </a:pPr>
            <a:r>
              <a:rPr sz="1400" b="1" dirty="0">
                <a:solidFill>
                  <a:srgbClr val="20375C"/>
                </a:solidFill>
                <a:latin typeface="Arial"/>
                <a:ea typeface="Arial"/>
                <a:cs typeface="Arial"/>
              </a:rPr>
              <a:t>Future scope: </a:t>
            </a:r>
            <a:r>
              <a:rPr sz="1400" b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rooms with access codes, persistent storage, undo/redo, and tests on Wi-Fi with Wireshark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A899F11-8A11-408E-A37B-1864BB168263}"/>
              </a:ext>
            </a:extLst>
          </p:cNvPr>
          <p:cNvSpPr>
            <a:spLocks noGrp="1"/>
          </p:cNvSpPr>
          <p:nvPr/>
        </p:nvSpPr>
        <p:spPr>
          <a:xfrm>
            <a:off x="523875" y="4000000"/>
            <a:ext cx="8096250" cy="130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>
            <a:defPPr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spcAft>
                <a:spcPts val="300"/>
              </a:spcAft>
            </a:pPr>
            <a:r>
              <a:rPr sz="1300" b="1" dirty="0">
                <a:solidFill>
                  <a:srgbClr val="20375C"/>
                </a:solidFill>
                <a:latin typeface="Arial"/>
                <a:ea typeface="Arial"/>
                <a:cs typeface="Arial"/>
              </a:rPr>
              <a:t>Team contributions</a:t>
            </a:r>
          </a:p>
          <a:p>
            <a:pPr algn="l">
              <a:spcAft>
                <a:spcPts val="300"/>
              </a:spcAft>
            </a:pPr>
            <a:r>
              <a:rPr sz="1300" b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Vedant Pawaskar – </a:t>
            </a:r>
            <a:r>
              <a:rPr lang="en-US" sz="130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Backend</a:t>
            </a:r>
            <a:endParaRPr sz="1300" b="0" dirty="0">
              <a:solidFill>
                <a:srgbClr val="202020"/>
              </a:solidFill>
              <a:latin typeface="Arial"/>
              <a:ea typeface="Arial"/>
              <a:cs typeface="Arial"/>
            </a:endParaRPr>
          </a:p>
          <a:p>
            <a:pPr algn="l">
              <a:spcAft>
                <a:spcPts val="300"/>
              </a:spcAft>
            </a:pPr>
            <a:r>
              <a:rPr sz="1300" b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Prajakta Chougule –</a:t>
            </a:r>
            <a:r>
              <a:rPr lang="en-US" sz="130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UI</a:t>
            </a:r>
            <a:br>
              <a:rPr lang="en-US" sz="130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</a:br>
            <a:r>
              <a:rPr lang="en-US" sz="1300" i="1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 </a:t>
            </a:r>
            <a:r>
              <a:rPr sz="1300" b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Yashraj Agale – </a:t>
            </a:r>
            <a:r>
              <a:rPr lang="en-US" sz="130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Logic</a:t>
            </a:r>
            <a:endParaRPr sz="1300" b="0" dirty="0">
              <a:solidFill>
                <a:srgbClr val="202020"/>
              </a:solidFill>
              <a:latin typeface="Arial"/>
              <a:ea typeface="Arial"/>
              <a:cs typeface="Arial"/>
            </a:endParaRPr>
          </a:p>
          <a:p>
            <a:pPr algn="l">
              <a:spcAft>
                <a:spcPts val="300"/>
              </a:spcAft>
            </a:pPr>
            <a:r>
              <a:rPr sz="1300" b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Bhavya Maisuria – </a:t>
            </a:r>
            <a:r>
              <a:rPr lang="en-US" sz="130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documentation</a:t>
            </a:r>
            <a:endParaRPr sz="1300" b="0" dirty="0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F10ECB7-8E0C-4D51-855A-3F114DB4BE40}"/>
              </a:ext>
            </a:extLst>
          </p:cNvPr>
          <p:cNvSpPr>
            <a:spLocks noGrp="1"/>
          </p:cNvSpPr>
          <p:nvPr/>
        </p:nvSpPr>
        <p:spPr>
          <a:xfrm>
            <a:off x="523875" y="5450000"/>
            <a:ext cx="8096250" cy="60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>
            <a:defPPr>
              <a:defRPr sz="15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>
            <a:pPr algn="l"/>
            <a:endParaRPr sz="1250" b="0" dirty="0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104A1A8-F41A-1DCB-CF67-3B6DB87CE50D}"/>
              </a:ext>
            </a:extLst>
          </p:cNvPr>
          <p:cNvSpPr txBox="1"/>
          <p:nvPr/>
        </p:nvSpPr>
        <p:spPr>
          <a:xfrm>
            <a:off x="3271706" y="501661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257213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B87E46F-E649-4EC2-BE15-E3DC1B512D09}"/>
              </a:ext>
            </a:extLst>
          </p:cNvPr>
          <p:cNvSpPr>
            <a:spLocks noGrp="1"/>
          </p:cNvSpPr>
          <p:nvPr/>
        </p:nvSpPr>
        <p:spPr>
          <a:xfrm>
            <a:off x="523875" y="400050"/>
            <a:ext cx="8096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0375C"/>
                </a:solidFill>
                <a:latin typeface="Arial"/>
                <a:ea typeface="Arial"/>
                <a:cs typeface="Arial"/>
              </a:rPr>
              <a:t>References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28BC680-DAE1-4C4A-B29D-BFCE9D74EB15}"/>
              </a:ext>
            </a:extLst>
          </p:cNvPr>
          <p:cNvSpPr>
            <a:spLocks noGrp="1"/>
          </p:cNvSpPr>
          <p:nvPr/>
        </p:nvSpPr>
        <p:spPr>
          <a:xfrm>
            <a:off x="523875" y="6315075"/>
            <a:ext cx="5905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Computer Networks Laboratory   CSE20110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2937739-9035-4330-B6E1-0CD991043B34}"/>
              </a:ext>
            </a:extLst>
          </p:cNvPr>
          <p:cNvSpPr>
            <a:spLocks noGrp="1"/>
          </p:cNvSpPr>
          <p:nvPr/>
        </p:nvSpPr>
        <p:spPr>
          <a:xfrm>
            <a:off x="6667500" y="6315075"/>
            <a:ext cx="1905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Backup slide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08EAB2A-6F3A-412A-8E97-83E166768C45}"/>
              </a:ext>
            </a:extLst>
          </p:cNvPr>
          <p:cNvSpPr>
            <a:spLocks noGrp="1"/>
          </p:cNvSpPr>
          <p:nvPr/>
        </p:nvSpPr>
        <p:spPr>
          <a:xfrm>
            <a:off x="523875" y="1400000"/>
            <a:ext cx="8096250" cy="430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>
            <a:defPPr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spcAft>
                <a:spcPts val="900"/>
              </a:spcAft>
            </a:pPr>
            <a:r>
              <a:rPr sz="1300" b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[1] I. Fette and A. Melnikov, "The WebSocket Protocol," RFC 6455, IETF, Dec. 2011. [Online]. Available: https://www.rfc-editor.org/rfc/rfc6455</a:t>
            </a:r>
          </a:p>
          <a:p>
            <a:pPr algn="l">
              <a:spcAft>
                <a:spcPts val="900"/>
              </a:spcAft>
            </a:pPr>
            <a:r>
              <a:rPr sz="1300" b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[2] R. Fielding, M. Nottingham and J. Reschke, "HTTP Semantics," RFC 9110, IETF, Jun. 2022. [Online]. Available: https://www.rfc-editor.org/rfc/rfc9110</a:t>
            </a:r>
          </a:p>
          <a:p>
            <a:pPr algn="l">
              <a:spcAft>
                <a:spcPts val="900"/>
              </a:spcAft>
            </a:pPr>
            <a:r>
              <a:rPr sz="1300" b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[3] W. Eddy, Ed., "Transmission Control Protocol (TCP)," RFC 9293, IETF, Aug. 2022. [Online]. Available: https://www.rfc-editor.org/rfc/rfc9293</a:t>
            </a:r>
          </a:p>
          <a:p>
            <a:pPr algn="l">
              <a:spcAft>
                <a:spcPts val="900"/>
              </a:spcAft>
            </a:pPr>
            <a:r>
              <a:rPr sz="1300" b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[4] </a:t>
            </a:r>
            <a:r>
              <a:rPr sz="1300" b="0" dirty="0" err="1">
                <a:solidFill>
                  <a:srgbClr val="202020"/>
                </a:solidFill>
                <a:latin typeface="Arial"/>
                <a:ea typeface="Arial"/>
                <a:cs typeface="Arial"/>
              </a:rPr>
              <a:t>FastAPI</a:t>
            </a:r>
            <a:r>
              <a:rPr sz="1300" b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, "</a:t>
            </a:r>
            <a:r>
              <a:rPr sz="1300" b="0" dirty="0" err="1">
                <a:solidFill>
                  <a:srgbClr val="202020"/>
                </a:solidFill>
                <a:latin typeface="Arial"/>
                <a:ea typeface="Arial"/>
                <a:cs typeface="Arial"/>
              </a:rPr>
              <a:t>WebSockets</a:t>
            </a:r>
            <a:r>
              <a:rPr sz="1300" b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," </a:t>
            </a:r>
            <a:r>
              <a:rPr sz="1300" b="0" dirty="0" err="1">
                <a:solidFill>
                  <a:srgbClr val="202020"/>
                </a:solidFill>
                <a:latin typeface="Arial"/>
                <a:ea typeface="Arial"/>
                <a:cs typeface="Arial"/>
              </a:rPr>
              <a:t>FastAPI</a:t>
            </a:r>
            <a:r>
              <a:rPr sz="1300" b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 documentation. [Online]. Available: https://fastapi.tiangolo.com/advanced/websockets/</a:t>
            </a:r>
          </a:p>
          <a:p>
            <a:pPr algn="l">
              <a:spcAft>
                <a:spcPts val="900"/>
              </a:spcAft>
            </a:pPr>
            <a:r>
              <a:rPr sz="1300" b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[5] </a:t>
            </a:r>
            <a:r>
              <a:rPr sz="1300" b="0" dirty="0" err="1">
                <a:solidFill>
                  <a:srgbClr val="202020"/>
                </a:solidFill>
                <a:latin typeface="Arial"/>
                <a:ea typeface="Arial"/>
                <a:cs typeface="Arial"/>
              </a:rPr>
              <a:t>Uvicorn</a:t>
            </a:r>
            <a:r>
              <a:rPr sz="1300" b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, "</a:t>
            </a:r>
            <a:r>
              <a:rPr sz="1300" b="0" dirty="0" err="1">
                <a:solidFill>
                  <a:srgbClr val="202020"/>
                </a:solidFill>
                <a:latin typeface="Arial"/>
                <a:ea typeface="Arial"/>
                <a:cs typeface="Arial"/>
              </a:rPr>
              <a:t>Uvicorn</a:t>
            </a:r>
            <a:r>
              <a:rPr sz="1300" b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: An ASGI web server for Python." [Online]. Available: https://www.uvicorn.org/</a:t>
            </a:r>
          </a:p>
        </p:txBody>
      </p:sp>
    </p:spTree>
    <p:extLst>
      <p:ext uri="{BB962C8B-B14F-4D97-AF65-F5344CB8AC3E}">
        <p14:creationId xmlns:p14="http://schemas.microsoft.com/office/powerpoint/2010/main" val="139954670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1468</Words>
  <Application>Microsoft Office PowerPoint</Application>
  <DocSecurity>0</DocSecurity>
  <PresentationFormat>On-screen Show (4:3)</PresentationFormat>
  <Paragraphs>110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Arial</vt:lpstr>
      <vt:lpstr>Courier New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Prajakta Chougule</cp:lastModifiedBy>
  <cp:revision>3</cp:revision>
  <dcterms:created xsi:type="dcterms:W3CDTF">2026-10-14T10:56:48Z</dcterms:created>
  <dcterms:modified xsi:type="dcterms:W3CDTF">2026-10-18T18:58:42Z</dcterms:modified>
</cp:coreProperties>
</file>