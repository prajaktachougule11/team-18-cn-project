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Source Serif Pro Bold" charset="1" panose="02040803050405020204"/>
      <p:regular r:id="rId21"/>
    </p:embeddedFont>
    <p:embeddedFont>
      <p:font typeface="Source Serif Pro" charset="1" panose="02040603050405020204"/>
      <p:regular r:id="rId22"/>
    </p:embeddedFont>
    <p:embeddedFont>
      <p:font typeface="IBM Plex Sans Bold" charset="1" panose="020B0803050203000203"/>
      <p:regular r:id="rId27"/>
    </p:embeddedFont>
    <p:embeddedFont>
      <p:font typeface="IBM Plex Sans" charset="1" panose="020B0503050203000203"/>
      <p:regular r:id="rId28"/>
    </p:embeddedFont>
    <p:embeddedFont>
      <p:font typeface="Arimo Bold" charset="1" panose="020B0704020202020204"/>
      <p:regular r:id="rId33"/>
    </p:embeddedFont>
    <p:embeddedFont>
      <p:font typeface="JetBrains Mono" charset="1" panose="020105090201020500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the team and the project. One line: a whiteboard that any browser on the same LAN can draw on, live, using a small Python server.</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State the problem in one sentence, then walk through the six objectives. Stress that the goal is to demonstrate networking concepts, not just a drawing app.</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concept is tagged with the syllabus unit it belongs to. Spend a sentence on each: LAN, IP and port, client-server, HTTP, WebSocket, TCP.</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top to bottom. Point out that the application never sees Wi-Fi or IP details: each layer only talks to the one below. Encapsulation on the right shows one drawing stroke going down the stack.</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Star topology: every client talks only to the server. Contrast with peer-to-peer, where N clients would need up to N(N-1)/2 connections. The server is also the single point of failure, which we list as a limitation.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WebSocket starts life as an HTTP request, so it passes through the same ports and infrastructure. After 101 Switching Protocols, HTTP is no longer used on that connection. The client picks ws:// or wss:// from the page protocol.</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JSON is easy to produce in JavaScript and parse in Python. A message is a few hundred bytes at most, far smaller than sending an image of the board. The server adds a timestamp and broadcasts DRAW and ERASE to every connected client.</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Read the diagram top to bottom: HTTP page load, WebSocket upgrade, SYNC and WELCOME, then draw, erase and clear events, and finally a disconnect. Note that broadcast() also sends each event back to the sender, who simply redraws the same segment.</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server is under 150 lines of Python. Binding to 0.0.0.0 means it listens on every interface; clients use the host's real LAN IP in the URL. A client whose send fails is dropped from the dictionary so dead connections are never reused.</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screenshots come from three browser clients connected to one server. All three canvases ended with exactly the same number of drawn pixels (3,776). Replace or extend with your own photos from the physical LAN demo.</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figures come from the real running server. Loopback numbers show the server adds very little delay; they are lower bounds. On the day, repeat the PING test over Wi-Fi and quote those numbers instead.</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 upfront about limitations: it is a learning prototype for a trusted network. Close by repeating the one-sentence summary and invite questions.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1.png" Type="http://schemas.openxmlformats.org/officeDocument/2006/relationships/image"/><Relationship Id="rId4" Target="../media/image12.jpe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9525000" y="1238250"/>
            <a:ext cx="6667500" cy="6667500"/>
            <a:chOff x="0" y="0"/>
            <a:chExt cx="8890000" cy="8890000"/>
          </a:xfrm>
        </p:grpSpPr>
        <p:sp>
          <p:nvSpPr>
            <p:cNvPr name="Freeform 4" id="4" descr="A central server node connected to four client nodes by lines, with small data packets travelling along them"/>
            <p:cNvSpPr/>
            <p:nvPr/>
          </p:nvSpPr>
          <p:spPr>
            <a:xfrm flipH="false" flipV="false" rot="0">
              <a:off x="0" y="0"/>
              <a:ext cx="8890000" cy="8890000"/>
            </a:xfrm>
            <a:custGeom>
              <a:avLst/>
              <a:gdLst/>
              <a:ahLst/>
              <a:cxnLst/>
              <a:rect r="r" b="b" t="t" l="l"/>
              <a:pathLst>
                <a:path h="8890000" w="8890000">
                  <a:moveTo>
                    <a:pt x="0" y="0"/>
                  </a:moveTo>
                  <a:lnTo>
                    <a:pt x="8890000" y="0"/>
                  </a:lnTo>
                  <a:lnTo>
                    <a:pt x="8890000" y="8890000"/>
                  </a:lnTo>
                  <a:lnTo>
                    <a:pt x="0" y="8890000"/>
                  </a:lnTo>
                  <a:lnTo>
                    <a:pt x="0" y="0"/>
                  </a:lnTo>
                  <a:close/>
                </a:path>
              </a:pathLst>
            </a:custGeom>
            <a:blipFill>
              <a:blip r:embed="rId4"/>
              <a:stretch>
                <a:fillRect l="0" t="0" r="0" b="0"/>
              </a:stretch>
            </a:blipFill>
          </p:spPr>
        </p:sp>
      </p:grpSp>
      <p:sp>
        <p:nvSpPr>
          <p:cNvPr name="TextBox 5" id="5"/>
          <p:cNvSpPr txBox="true"/>
          <p:nvPr/>
        </p:nvSpPr>
        <p:spPr>
          <a:xfrm rot="0">
            <a:off x="1219200" y="1181100"/>
            <a:ext cx="16325088" cy="356235"/>
          </a:xfrm>
          <a:prstGeom prst="rect">
            <a:avLst/>
          </a:prstGeom>
        </p:spPr>
        <p:txBody>
          <a:bodyPr anchor="t" rtlCol="false" tIns="0" lIns="0" bIns="0" rIns="0">
            <a:spAutoFit/>
          </a:bodyPr>
          <a:lstStyle/>
          <a:p>
            <a:pPr algn="l">
              <a:lnSpc>
                <a:spcPts val="2940"/>
              </a:lnSpc>
            </a:pPr>
            <a:r>
              <a:rPr lang="en-US" b="true" sz="2100" spc="299">
                <a:solidFill>
                  <a:srgbClr val="38BDF8"/>
                </a:solidFill>
                <a:latin typeface="Source Serif Pro Bold"/>
                <a:ea typeface="Source Serif Pro Bold"/>
                <a:cs typeface="Source Serif Pro Bold"/>
                <a:sym typeface="Source Serif Pro Bold"/>
              </a:rPr>
              <a:t>COMPUTER NETWORKS (MINI-PROJECT)</a:t>
            </a:r>
          </a:p>
        </p:txBody>
      </p:sp>
      <p:sp>
        <p:nvSpPr>
          <p:cNvPr name="TextBox 6" id="6"/>
          <p:cNvSpPr txBox="true"/>
          <p:nvPr/>
        </p:nvSpPr>
        <p:spPr>
          <a:xfrm rot="0">
            <a:off x="1219200" y="2380555"/>
            <a:ext cx="8829675" cy="3379470"/>
          </a:xfrm>
          <a:prstGeom prst="rect">
            <a:avLst/>
          </a:prstGeom>
        </p:spPr>
        <p:txBody>
          <a:bodyPr anchor="t" rtlCol="false" tIns="0" lIns="0" bIns="0" rIns="0">
            <a:spAutoFit/>
          </a:bodyPr>
          <a:lstStyle/>
          <a:p>
            <a:pPr algn="l">
              <a:lnSpc>
                <a:spcPts val="8820"/>
              </a:lnSpc>
            </a:pPr>
            <a:r>
              <a:rPr lang="en-US" sz="8400" b="true">
                <a:solidFill>
                  <a:srgbClr val="E6EDF7"/>
                </a:solidFill>
                <a:latin typeface="Source Serif Pro Bold"/>
                <a:ea typeface="Source Serif Pro Bold"/>
                <a:cs typeface="Source Serif Pro Bold"/>
                <a:sym typeface="Source Serif Pro Bold"/>
              </a:rPr>
              <a:t>LAN-Based Collaborative Whiteboard</a:t>
            </a:r>
          </a:p>
        </p:txBody>
      </p:sp>
      <p:sp>
        <p:nvSpPr>
          <p:cNvPr name="TextBox 7" id="7"/>
          <p:cNvSpPr txBox="true"/>
          <p:nvPr/>
        </p:nvSpPr>
        <p:spPr>
          <a:xfrm rot="0">
            <a:off x="1219200" y="5883669"/>
            <a:ext cx="8829675" cy="955357"/>
          </a:xfrm>
          <a:prstGeom prst="rect">
            <a:avLst/>
          </a:prstGeom>
        </p:spPr>
        <p:txBody>
          <a:bodyPr anchor="t" rtlCol="false" tIns="0" lIns="0" bIns="0" rIns="0">
            <a:spAutoFit/>
          </a:bodyPr>
          <a:lstStyle/>
          <a:p>
            <a:pPr algn="l">
              <a:lnSpc>
                <a:spcPts val="3847"/>
              </a:lnSpc>
            </a:pPr>
            <a:r>
              <a:rPr lang="en-US" sz="2850">
                <a:solidFill>
                  <a:srgbClr val="9FB0C8"/>
                </a:solidFill>
                <a:latin typeface="Source Serif Pro"/>
                <a:ea typeface="Source Serif Pro"/>
                <a:cs typeface="Source Serif Pro"/>
                <a:sym typeface="Source Serif Pro"/>
              </a:rPr>
              <a:t>Real-time drawing for every device on the network, built on HTTP, TCP and WebSocket.</a:t>
            </a:r>
          </a:p>
        </p:txBody>
      </p:sp>
      <p:sp>
        <p:nvSpPr>
          <p:cNvPr name="TextBox 8" id="8"/>
          <p:cNvSpPr txBox="true"/>
          <p:nvPr/>
        </p:nvSpPr>
        <p:spPr>
          <a:xfrm rot="0">
            <a:off x="1219200" y="7524845"/>
            <a:ext cx="2769984" cy="381000"/>
          </a:xfrm>
          <a:prstGeom prst="rect">
            <a:avLst/>
          </a:prstGeom>
        </p:spPr>
        <p:txBody>
          <a:bodyPr anchor="t" rtlCol="false" tIns="0" lIns="0" bIns="0" rIns="0">
            <a:spAutoFit/>
          </a:bodyPr>
          <a:lstStyle/>
          <a:p>
            <a:pPr algn="l">
              <a:lnSpc>
                <a:spcPts val="3149"/>
              </a:lnSpc>
            </a:pPr>
            <a:r>
              <a:rPr lang="en-US" sz="2250" b="true">
                <a:solidFill>
                  <a:srgbClr val="E6EDF7"/>
                </a:solidFill>
                <a:latin typeface="Source Serif Pro Bold"/>
                <a:ea typeface="Source Serif Pro Bold"/>
                <a:cs typeface="Source Serif Pro Bold"/>
                <a:sym typeface="Source Serif Pro Bold"/>
              </a:rPr>
              <a:t>Vedant Pawaskar</a:t>
            </a:r>
          </a:p>
        </p:txBody>
      </p:sp>
      <p:sp>
        <p:nvSpPr>
          <p:cNvPr name="TextBox 9" id="9"/>
          <p:cNvSpPr txBox="true"/>
          <p:nvPr/>
        </p:nvSpPr>
        <p:spPr>
          <a:xfrm rot="0">
            <a:off x="1219200" y="7982045"/>
            <a:ext cx="2384527"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1262242102</a:t>
            </a:r>
          </a:p>
        </p:txBody>
      </p:sp>
      <p:sp>
        <p:nvSpPr>
          <p:cNvPr name="TextBox 10" id="10"/>
          <p:cNvSpPr txBox="true"/>
          <p:nvPr/>
        </p:nvSpPr>
        <p:spPr>
          <a:xfrm rot="0">
            <a:off x="4060927" y="7524845"/>
            <a:ext cx="3113961" cy="381000"/>
          </a:xfrm>
          <a:prstGeom prst="rect">
            <a:avLst/>
          </a:prstGeom>
        </p:spPr>
        <p:txBody>
          <a:bodyPr anchor="t" rtlCol="false" tIns="0" lIns="0" bIns="0" rIns="0">
            <a:spAutoFit/>
          </a:bodyPr>
          <a:lstStyle/>
          <a:p>
            <a:pPr algn="l">
              <a:lnSpc>
                <a:spcPts val="3149"/>
              </a:lnSpc>
            </a:pPr>
            <a:r>
              <a:rPr lang="en-US" sz="2250" b="true">
                <a:solidFill>
                  <a:srgbClr val="E6EDF7"/>
                </a:solidFill>
                <a:latin typeface="Source Serif Pro Bold"/>
                <a:ea typeface="Source Serif Pro Bold"/>
                <a:cs typeface="Source Serif Pro Bold"/>
                <a:sym typeface="Source Serif Pro Bold"/>
              </a:rPr>
              <a:t>Prajakta Choughule</a:t>
            </a:r>
          </a:p>
        </p:txBody>
      </p:sp>
      <p:sp>
        <p:nvSpPr>
          <p:cNvPr name="TextBox 11" id="11"/>
          <p:cNvSpPr txBox="true"/>
          <p:nvPr/>
        </p:nvSpPr>
        <p:spPr>
          <a:xfrm rot="0">
            <a:off x="4060927" y="7982045"/>
            <a:ext cx="2672820"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1262241465</a:t>
            </a:r>
          </a:p>
        </p:txBody>
      </p:sp>
      <p:sp>
        <p:nvSpPr>
          <p:cNvPr name="TextBox 12" id="12"/>
          <p:cNvSpPr txBox="true"/>
          <p:nvPr/>
        </p:nvSpPr>
        <p:spPr>
          <a:xfrm rot="0">
            <a:off x="7189289" y="7524845"/>
            <a:ext cx="2158603" cy="381000"/>
          </a:xfrm>
          <a:prstGeom prst="rect">
            <a:avLst/>
          </a:prstGeom>
        </p:spPr>
        <p:txBody>
          <a:bodyPr anchor="t" rtlCol="false" tIns="0" lIns="0" bIns="0" rIns="0">
            <a:spAutoFit/>
          </a:bodyPr>
          <a:lstStyle/>
          <a:p>
            <a:pPr algn="l">
              <a:lnSpc>
                <a:spcPts val="3149"/>
              </a:lnSpc>
            </a:pPr>
            <a:r>
              <a:rPr lang="en-US" sz="2250" b="true">
                <a:solidFill>
                  <a:srgbClr val="E6EDF7"/>
                </a:solidFill>
                <a:latin typeface="Source Serif Pro Bold"/>
                <a:ea typeface="Source Serif Pro Bold"/>
                <a:cs typeface="Source Serif Pro Bold"/>
                <a:sym typeface="Source Serif Pro Bold"/>
              </a:rPr>
              <a:t>Yashraj Agale</a:t>
            </a:r>
          </a:p>
        </p:txBody>
      </p:sp>
      <p:sp>
        <p:nvSpPr>
          <p:cNvPr name="TextBox 13" id="13"/>
          <p:cNvSpPr txBox="true"/>
          <p:nvPr/>
        </p:nvSpPr>
        <p:spPr>
          <a:xfrm rot="0">
            <a:off x="7189289" y="7982045"/>
            <a:ext cx="1875034"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1262242073</a:t>
            </a:r>
          </a:p>
        </p:txBody>
      </p:sp>
      <p:sp>
        <p:nvSpPr>
          <p:cNvPr name="TextBox 14" id="14"/>
          <p:cNvSpPr txBox="true"/>
          <p:nvPr/>
        </p:nvSpPr>
        <p:spPr>
          <a:xfrm rot="0">
            <a:off x="9521523" y="7524845"/>
            <a:ext cx="2604249" cy="381000"/>
          </a:xfrm>
          <a:prstGeom prst="rect">
            <a:avLst/>
          </a:prstGeom>
        </p:spPr>
        <p:txBody>
          <a:bodyPr anchor="t" rtlCol="false" tIns="0" lIns="0" bIns="0" rIns="0">
            <a:spAutoFit/>
          </a:bodyPr>
          <a:lstStyle/>
          <a:p>
            <a:pPr algn="l">
              <a:lnSpc>
                <a:spcPts val="3149"/>
              </a:lnSpc>
            </a:pPr>
            <a:r>
              <a:rPr lang="en-US" sz="2250" b="true">
                <a:solidFill>
                  <a:srgbClr val="E6EDF7"/>
                </a:solidFill>
                <a:latin typeface="Source Serif Pro Bold"/>
                <a:ea typeface="Source Serif Pro Bold"/>
                <a:cs typeface="Source Serif Pro Bold"/>
                <a:sym typeface="Source Serif Pro Bold"/>
              </a:rPr>
              <a:t>Bhavya Maisuria</a:t>
            </a:r>
          </a:p>
        </p:txBody>
      </p:sp>
      <p:sp>
        <p:nvSpPr>
          <p:cNvPr name="TextBox 15" id="15"/>
          <p:cNvSpPr txBox="true"/>
          <p:nvPr/>
        </p:nvSpPr>
        <p:spPr>
          <a:xfrm rot="0">
            <a:off x="9521523" y="7982045"/>
            <a:ext cx="2246414"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1262243418</a:t>
            </a:r>
          </a:p>
        </p:txBody>
      </p:sp>
      <p:sp>
        <p:nvSpPr>
          <p:cNvPr name="TextBox 16" id="16"/>
          <p:cNvSpPr txBox="true"/>
          <p:nvPr/>
        </p:nvSpPr>
        <p:spPr>
          <a:xfrm rot="0">
            <a:off x="1219200" y="8568728"/>
            <a:ext cx="16325088" cy="331470"/>
          </a:xfrm>
          <a:prstGeom prst="rect">
            <a:avLst/>
          </a:prstGeom>
        </p:spPr>
        <p:txBody>
          <a:bodyPr anchor="t" rtlCol="false" tIns="0" lIns="0" bIns="0" rIns="0">
            <a:spAutoFit/>
          </a:bodyPr>
          <a:lstStyle/>
          <a:p>
            <a:pPr algn="l">
              <a:lnSpc>
                <a:spcPts val="2729"/>
              </a:lnSpc>
            </a:pPr>
            <a:r>
              <a:rPr lang="en-US" sz="1950">
                <a:solidFill>
                  <a:srgbClr val="9FB0C8"/>
                </a:solidFill>
                <a:latin typeface="Source Serif Pro"/>
                <a:ea typeface="Source Serif Pro"/>
                <a:cs typeface="Source Serif Pro"/>
                <a:sym typeface="Source Serif Pro"/>
              </a:rPr>
              <a:t>TY B.Tech (CSE) · Semester V · 2026–27</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1D6FDC"/>
                </a:solidFill>
                <a:latin typeface="Source Serif Pro Bold"/>
                <a:ea typeface="Source Serif Pro Bold"/>
                <a:cs typeface="Source Serif Pro Bold"/>
                <a:sym typeface="Source Serif Pro Bold"/>
              </a:rPr>
              <a:t>01 · WHY THIS PROJECT</a:t>
            </a:r>
          </a:p>
        </p:txBody>
      </p:sp>
      <p:sp>
        <p:nvSpPr>
          <p:cNvPr name="TextBox 3" id="3"/>
          <p:cNvSpPr txBox="true"/>
          <p:nvPr/>
        </p:nvSpPr>
        <p:spPr>
          <a:xfrm rot="0">
            <a:off x="1219200" y="1727797"/>
            <a:ext cx="7552730" cy="773430"/>
          </a:xfrm>
          <a:prstGeom prst="rect">
            <a:avLst/>
          </a:prstGeom>
        </p:spPr>
        <p:txBody>
          <a:bodyPr anchor="t" rtlCol="false" tIns="0" lIns="0" bIns="0" rIns="0">
            <a:spAutoFit/>
          </a:bodyPr>
          <a:lstStyle/>
          <a:p>
            <a:pPr algn="l">
              <a:lnSpc>
                <a:spcPts val="5940"/>
              </a:lnSpc>
            </a:pPr>
            <a:r>
              <a:rPr lang="en-US" sz="5400" b="true">
                <a:solidFill>
                  <a:srgbClr val="0B1424"/>
                </a:solidFill>
                <a:latin typeface="Source Serif Pro Bold"/>
                <a:ea typeface="Source Serif Pro Bold"/>
                <a:cs typeface="Source Serif Pro Bold"/>
                <a:sym typeface="Source Serif Pro Bold"/>
              </a:rPr>
              <a:t>Problem and Objectives</a:t>
            </a:r>
          </a:p>
        </p:txBody>
      </p:sp>
      <p:sp>
        <p:nvSpPr>
          <p:cNvPr name="TextBox 4" id="4"/>
          <p:cNvSpPr txBox="true"/>
          <p:nvPr/>
        </p:nvSpPr>
        <p:spPr>
          <a:xfrm rot="0">
            <a:off x="1219200" y="3879456"/>
            <a:ext cx="5494020" cy="1036320"/>
          </a:xfrm>
          <a:prstGeom prst="rect">
            <a:avLst/>
          </a:prstGeom>
        </p:spPr>
        <p:txBody>
          <a:bodyPr anchor="t" rtlCol="false" tIns="0" lIns="0" bIns="0" rIns="0">
            <a:spAutoFit/>
          </a:bodyPr>
          <a:lstStyle/>
          <a:p>
            <a:pPr algn="l">
              <a:lnSpc>
                <a:spcPts val="4125"/>
              </a:lnSpc>
            </a:pPr>
            <a:r>
              <a:rPr lang="en-US" sz="3300">
                <a:solidFill>
                  <a:srgbClr val="0B1424"/>
                </a:solidFill>
                <a:latin typeface="Source Serif Pro"/>
                <a:ea typeface="Source Serif Pro"/>
                <a:cs typeface="Source Serif Pro"/>
                <a:sym typeface="Source Serif Pro"/>
              </a:rPr>
              <a:t>Teams need one shared board, live, on every device.</a:t>
            </a:r>
          </a:p>
        </p:txBody>
      </p:sp>
      <p:sp>
        <p:nvSpPr>
          <p:cNvPr name="TextBox 5" id="5"/>
          <p:cNvSpPr txBox="true"/>
          <p:nvPr/>
        </p:nvSpPr>
        <p:spPr>
          <a:xfrm rot="0">
            <a:off x="1219200" y="5155806"/>
            <a:ext cx="5494020" cy="2024063"/>
          </a:xfrm>
          <a:prstGeom prst="rect">
            <a:avLst/>
          </a:prstGeom>
        </p:spPr>
        <p:txBody>
          <a:bodyPr anchor="t" rtlCol="false" tIns="0" lIns="0" bIns="0" rIns="0">
            <a:spAutoFit/>
          </a:bodyPr>
          <a:lstStyle/>
          <a:p>
            <a:pPr algn="l">
              <a:lnSpc>
                <a:spcPts val="3262"/>
              </a:lnSpc>
            </a:pPr>
            <a:r>
              <a:rPr lang="en-US" sz="2250">
                <a:solidFill>
                  <a:srgbClr val="4A5A73"/>
                </a:solidFill>
                <a:latin typeface="Source Serif Pro"/>
                <a:ea typeface="Source Serif Pro"/>
                <a:cs typeface="Source Serif Pro"/>
                <a:sym typeface="Source Serif Pro"/>
              </a:rPr>
              <a:t>Students explain diagrams, topologies and calculations together. A physical board is not always available, and screenshots are never live. This project turns any browser on the LAN into a shared canvas.</a:t>
            </a:r>
          </a:p>
        </p:txBody>
      </p:sp>
      <p:grpSp>
        <p:nvGrpSpPr>
          <p:cNvPr name="Group 6" id="6"/>
          <p:cNvGrpSpPr/>
          <p:nvPr/>
        </p:nvGrpSpPr>
        <p:grpSpPr>
          <a:xfrm rot="0">
            <a:off x="7162800" y="2815533"/>
            <a:ext cx="4838700" cy="1830086"/>
            <a:chOff x="0" y="0"/>
            <a:chExt cx="6451600" cy="2440114"/>
          </a:xfrm>
        </p:grpSpPr>
        <p:sp>
          <p:nvSpPr>
            <p:cNvPr name="Freeform 7" id="7"/>
            <p:cNvSpPr/>
            <p:nvPr/>
          </p:nvSpPr>
          <p:spPr>
            <a:xfrm flipH="false" flipV="false" rot="0">
              <a:off x="0" y="0"/>
              <a:ext cx="6451600" cy="2440178"/>
            </a:xfrm>
            <a:custGeom>
              <a:avLst/>
              <a:gdLst/>
              <a:ahLst/>
              <a:cxnLst/>
              <a:rect r="r" b="b" t="t" l="l"/>
              <a:pathLst>
                <a:path h="2440178" w="6451600">
                  <a:moveTo>
                    <a:pt x="0" y="197866"/>
                  </a:moveTo>
                  <a:cubicBezTo>
                    <a:pt x="0" y="88646"/>
                    <a:pt x="88646" y="0"/>
                    <a:pt x="197866" y="0"/>
                  </a:cubicBezTo>
                  <a:lnTo>
                    <a:pt x="6253734" y="0"/>
                  </a:lnTo>
                  <a:cubicBezTo>
                    <a:pt x="6362954" y="0"/>
                    <a:pt x="6451600" y="88646"/>
                    <a:pt x="6451600" y="197866"/>
                  </a:cubicBezTo>
                  <a:lnTo>
                    <a:pt x="6451600" y="2242312"/>
                  </a:lnTo>
                  <a:cubicBezTo>
                    <a:pt x="6451600" y="2351532"/>
                    <a:pt x="6362954" y="2440178"/>
                    <a:pt x="6253734" y="2440178"/>
                  </a:cubicBezTo>
                  <a:lnTo>
                    <a:pt x="197866" y="2440178"/>
                  </a:lnTo>
                  <a:cubicBezTo>
                    <a:pt x="88646" y="2440178"/>
                    <a:pt x="0" y="2351532"/>
                    <a:pt x="0" y="2242312"/>
                  </a:cubicBezTo>
                  <a:close/>
                </a:path>
              </a:pathLst>
            </a:custGeom>
            <a:solidFill>
              <a:srgbClr val="FFFFFF"/>
            </a:solidFill>
            <a:ln w="9525" cap="sq">
              <a:solidFill>
                <a:srgbClr val="D5DEEA"/>
              </a:solidFill>
              <a:prstDash val="solid"/>
              <a:miter/>
            </a:ln>
          </p:spPr>
        </p:sp>
      </p:grpSp>
      <p:sp>
        <p:nvSpPr>
          <p:cNvPr name="TextBox 8" id="8"/>
          <p:cNvSpPr txBox="true"/>
          <p:nvPr/>
        </p:nvSpPr>
        <p:spPr>
          <a:xfrm rot="0">
            <a:off x="7435853" y="3040951"/>
            <a:ext cx="4421381"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01</a:t>
            </a:r>
          </a:p>
        </p:txBody>
      </p:sp>
      <p:sp>
        <p:nvSpPr>
          <p:cNvPr name="TextBox 9" id="9"/>
          <p:cNvSpPr txBox="true"/>
          <p:nvPr/>
        </p:nvSpPr>
        <p:spPr>
          <a:xfrm rot="0">
            <a:off x="7435853" y="3618109"/>
            <a:ext cx="4421381" cy="678180"/>
          </a:xfrm>
          <a:prstGeom prst="rect">
            <a:avLst/>
          </a:prstGeom>
        </p:spPr>
        <p:txBody>
          <a:bodyPr anchor="t" rtlCol="false" tIns="0" lIns="0" bIns="0" rIns="0">
            <a:spAutoFit/>
          </a:bodyPr>
          <a:lstStyle/>
          <a:p>
            <a:pPr algn="l">
              <a:lnSpc>
                <a:spcPts val="2730"/>
              </a:lnSpc>
            </a:pPr>
            <a:r>
              <a:rPr lang="en-US" sz="2100">
                <a:solidFill>
                  <a:srgbClr val="0B1424"/>
                </a:solidFill>
                <a:latin typeface="Source Serif Pro"/>
                <a:ea typeface="Source Serif Pro"/>
                <a:cs typeface="Source Serif Pro"/>
                <a:sym typeface="Source Serif Pro"/>
              </a:rPr>
              <a:t>Browser-based whiteboard for devices on one LAN</a:t>
            </a:r>
          </a:p>
        </p:txBody>
      </p:sp>
      <p:grpSp>
        <p:nvGrpSpPr>
          <p:cNvPr name="Group 10" id="10"/>
          <p:cNvGrpSpPr/>
          <p:nvPr/>
        </p:nvGrpSpPr>
        <p:grpSpPr>
          <a:xfrm rot="0">
            <a:off x="12230100" y="2815533"/>
            <a:ext cx="4838700" cy="1830086"/>
            <a:chOff x="0" y="0"/>
            <a:chExt cx="6451600" cy="2440114"/>
          </a:xfrm>
        </p:grpSpPr>
        <p:sp>
          <p:nvSpPr>
            <p:cNvPr name="Freeform 11" id="11"/>
            <p:cNvSpPr/>
            <p:nvPr/>
          </p:nvSpPr>
          <p:spPr>
            <a:xfrm flipH="false" flipV="false" rot="0">
              <a:off x="0" y="0"/>
              <a:ext cx="6451600" cy="2440178"/>
            </a:xfrm>
            <a:custGeom>
              <a:avLst/>
              <a:gdLst/>
              <a:ahLst/>
              <a:cxnLst/>
              <a:rect r="r" b="b" t="t" l="l"/>
              <a:pathLst>
                <a:path h="2440178" w="6451600">
                  <a:moveTo>
                    <a:pt x="0" y="197866"/>
                  </a:moveTo>
                  <a:cubicBezTo>
                    <a:pt x="0" y="88646"/>
                    <a:pt x="88646" y="0"/>
                    <a:pt x="197866" y="0"/>
                  </a:cubicBezTo>
                  <a:lnTo>
                    <a:pt x="6253734" y="0"/>
                  </a:lnTo>
                  <a:cubicBezTo>
                    <a:pt x="6362954" y="0"/>
                    <a:pt x="6451600" y="88646"/>
                    <a:pt x="6451600" y="197866"/>
                  </a:cubicBezTo>
                  <a:lnTo>
                    <a:pt x="6451600" y="2242312"/>
                  </a:lnTo>
                  <a:cubicBezTo>
                    <a:pt x="6451600" y="2351532"/>
                    <a:pt x="6362954" y="2440178"/>
                    <a:pt x="6253734" y="2440178"/>
                  </a:cubicBezTo>
                  <a:lnTo>
                    <a:pt x="197866" y="2440178"/>
                  </a:lnTo>
                  <a:cubicBezTo>
                    <a:pt x="88646" y="2440178"/>
                    <a:pt x="0" y="2351532"/>
                    <a:pt x="0" y="2242312"/>
                  </a:cubicBezTo>
                  <a:close/>
                </a:path>
              </a:pathLst>
            </a:custGeom>
            <a:solidFill>
              <a:srgbClr val="FFFFFF"/>
            </a:solidFill>
            <a:ln w="9525" cap="sq">
              <a:solidFill>
                <a:srgbClr val="D5DEEA"/>
              </a:solidFill>
              <a:prstDash val="solid"/>
              <a:miter/>
            </a:ln>
          </p:spPr>
        </p:sp>
      </p:grpSp>
      <p:sp>
        <p:nvSpPr>
          <p:cNvPr name="TextBox 12" id="12"/>
          <p:cNvSpPr txBox="true"/>
          <p:nvPr/>
        </p:nvSpPr>
        <p:spPr>
          <a:xfrm rot="0">
            <a:off x="12503153" y="3040951"/>
            <a:ext cx="4421381"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02</a:t>
            </a:r>
          </a:p>
        </p:txBody>
      </p:sp>
      <p:sp>
        <p:nvSpPr>
          <p:cNvPr name="TextBox 13" id="13"/>
          <p:cNvSpPr txBox="true"/>
          <p:nvPr/>
        </p:nvSpPr>
        <p:spPr>
          <a:xfrm rot="0">
            <a:off x="12503153" y="3618109"/>
            <a:ext cx="4421381" cy="678180"/>
          </a:xfrm>
          <a:prstGeom prst="rect">
            <a:avLst/>
          </a:prstGeom>
        </p:spPr>
        <p:txBody>
          <a:bodyPr anchor="t" rtlCol="false" tIns="0" lIns="0" bIns="0" rIns="0">
            <a:spAutoFit/>
          </a:bodyPr>
          <a:lstStyle/>
          <a:p>
            <a:pPr algn="l">
              <a:lnSpc>
                <a:spcPts val="2730"/>
              </a:lnSpc>
            </a:pPr>
            <a:r>
              <a:rPr lang="en-US" sz="2100">
                <a:solidFill>
                  <a:srgbClr val="0B1424"/>
                </a:solidFill>
                <a:latin typeface="Source Serif Pro"/>
                <a:ea typeface="Source Serif Pro"/>
                <a:cs typeface="Source Serif Pro"/>
                <a:sym typeface="Source Serif Pro"/>
              </a:rPr>
              <a:t>Central server that receives and broadcasts events</a:t>
            </a:r>
          </a:p>
        </p:txBody>
      </p:sp>
      <p:grpSp>
        <p:nvGrpSpPr>
          <p:cNvPr name="Group 14" id="14"/>
          <p:cNvGrpSpPr/>
          <p:nvPr/>
        </p:nvGrpSpPr>
        <p:grpSpPr>
          <a:xfrm rot="0">
            <a:off x="7162800" y="4874219"/>
            <a:ext cx="4838700" cy="1830086"/>
            <a:chOff x="0" y="0"/>
            <a:chExt cx="6451600" cy="2440114"/>
          </a:xfrm>
        </p:grpSpPr>
        <p:sp>
          <p:nvSpPr>
            <p:cNvPr name="Freeform 15" id="15"/>
            <p:cNvSpPr/>
            <p:nvPr/>
          </p:nvSpPr>
          <p:spPr>
            <a:xfrm flipH="false" flipV="false" rot="0">
              <a:off x="0" y="0"/>
              <a:ext cx="6451600" cy="2440178"/>
            </a:xfrm>
            <a:custGeom>
              <a:avLst/>
              <a:gdLst/>
              <a:ahLst/>
              <a:cxnLst/>
              <a:rect r="r" b="b" t="t" l="l"/>
              <a:pathLst>
                <a:path h="2440178" w="6451600">
                  <a:moveTo>
                    <a:pt x="0" y="197866"/>
                  </a:moveTo>
                  <a:cubicBezTo>
                    <a:pt x="0" y="88646"/>
                    <a:pt x="88646" y="0"/>
                    <a:pt x="197866" y="0"/>
                  </a:cubicBezTo>
                  <a:lnTo>
                    <a:pt x="6253734" y="0"/>
                  </a:lnTo>
                  <a:cubicBezTo>
                    <a:pt x="6362954" y="0"/>
                    <a:pt x="6451600" y="88646"/>
                    <a:pt x="6451600" y="197866"/>
                  </a:cubicBezTo>
                  <a:lnTo>
                    <a:pt x="6451600" y="2242312"/>
                  </a:lnTo>
                  <a:cubicBezTo>
                    <a:pt x="6451600" y="2351532"/>
                    <a:pt x="6362954" y="2440178"/>
                    <a:pt x="6253734" y="2440178"/>
                  </a:cubicBezTo>
                  <a:lnTo>
                    <a:pt x="197866" y="2440178"/>
                  </a:lnTo>
                  <a:cubicBezTo>
                    <a:pt x="88646" y="2440178"/>
                    <a:pt x="0" y="2351532"/>
                    <a:pt x="0" y="2242312"/>
                  </a:cubicBezTo>
                  <a:close/>
                </a:path>
              </a:pathLst>
            </a:custGeom>
            <a:solidFill>
              <a:srgbClr val="FFFFFF"/>
            </a:solidFill>
            <a:ln w="9525" cap="sq">
              <a:solidFill>
                <a:srgbClr val="D5DEEA"/>
              </a:solidFill>
              <a:prstDash val="solid"/>
              <a:miter/>
            </a:ln>
          </p:spPr>
        </p:sp>
      </p:grpSp>
      <p:sp>
        <p:nvSpPr>
          <p:cNvPr name="TextBox 16" id="16"/>
          <p:cNvSpPr txBox="true"/>
          <p:nvPr/>
        </p:nvSpPr>
        <p:spPr>
          <a:xfrm rot="0">
            <a:off x="7435853" y="5099647"/>
            <a:ext cx="4421381"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03</a:t>
            </a:r>
          </a:p>
        </p:txBody>
      </p:sp>
      <p:sp>
        <p:nvSpPr>
          <p:cNvPr name="TextBox 17" id="17"/>
          <p:cNvSpPr txBox="true"/>
          <p:nvPr/>
        </p:nvSpPr>
        <p:spPr>
          <a:xfrm rot="0">
            <a:off x="7435853" y="5676805"/>
            <a:ext cx="4421381" cy="678180"/>
          </a:xfrm>
          <a:prstGeom prst="rect">
            <a:avLst/>
          </a:prstGeom>
        </p:spPr>
        <p:txBody>
          <a:bodyPr anchor="t" rtlCol="false" tIns="0" lIns="0" bIns="0" rIns="0">
            <a:spAutoFit/>
          </a:bodyPr>
          <a:lstStyle/>
          <a:p>
            <a:pPr algn="l">
              <a:lnSpc>
                <a:spcPts val="2730"/>
              </a:lnSpc>
            </a:pPr>
            <a:r>
              <a:rPr lang="en-US" sz="2100">
                <a:solidFill>
                  <a:srgbClr val="0B1424"/>
                </a:solidFill>
                <a:latin typeface="Source Serif Pro"/>
                <a:ea typeface="Source Serif Pro"/>
                <a:cs typeface="Source Serif Pro"/>
                <a:sym typeface="Source Serif Pro"/>
              </a:rPr>
              <a:t>HTTP for the page, WebSocket for live updates</a:t>
            </a:r>
          </a:p>
        </p:txBody>
      </p:sp>
      <p:grpSp>
        <p:nvGrpSpPr>
          <p:cNvPr name="Group 18" id="18"/>
          <p:cNvGrpSpPr/>
          <p:nvPr/>
        </p:nvGrpSpPr>
        <p:grpSpPr>
          <a:xfrm rot="0">
            <a:off x="12230100" y="4874219"/>
            <a:ext cx="4838700" cy="1830086"/>
            <a:chOff x="0" y="0"/>
            <a:chExt cx="6451600" cy="2440114"/>
          </a:xfrm>
        </p:grpSpPr>
        <p:sp>
          <p:nvSpPr>
            <p:cNvPr name="Freeform 19" id="19"/>
            <p:cNvSpPr/>
            <p:nvPr/>
          </p:nvSpPr>
          <p:spPr>
            <a:xfrm flipH="false" flipV="false" rot="0">
              <a:off x="0" y="0"/>
              <a:ext cx="6451600" cy="2440178"/>
            </a:xfrm>
            <a:custGeom>
              <a:avLst/>
              <a:gdLst/>
              <a:ahLst/>
              <a:cxnLst/>
              <a:rect r="r" b="b" t="t" l="l"/>
              <a:pathLst>
                <a:path h="2440178" w="6451600">
                  <a:moveTo>
                    <a:pt x="0" y="197866"/>
                  </a:moveTo>
                  <a:cubicBezTo>
                    <a:pt x="0" y="88646"/>
                    <a:pt x="88646" y="0"/>
                    <a:pt x="197866" y="0"/>
                  </a:cubicBezTo>
                  <a:lnTo>
                    <a:pt x="6253734" y="0"/>
                  </a:lnTo>
                  <a:cubicBezTo>
                    <a:pt x="6362954" y="0"/>
                    <a:pt x="6451600" y="88646"/>
                    <a:pt x="6451600" y="197866"/>
                  </a:cubicBezTo>
                  <a:lnTo>
                    <a:pt x="6451600" y="2242312"/>
                  </a:lnTo>
                  <a:cubicBezTo>
                    <a:pt x="6451600" y="2351532"/>
                    <a:pt x="6362954" y="2440178"/>
                    <a:pt x="6253734" y="2440178"/>
                  </a:cubicBezTo>
                  <a:lnTo>
                    <a:pt x="197866" y="2440178"/>
                  </a:lnTo>
                  <a:cubicBezTo>
                    <a:pt x="88646" y="2440178"/>
                    <a:pt x="0" y="2351532"/>
                    <a:pt x="0" y="2242312"/>
                  </a:cubicBezTo>
                  <a:close/>
                </a:path>
              </a:pathLst>
            </a:custGeom>
            <a:solidFill>
              <a:srgbClr val="FFFFFF"/>
            </a:solidFill>
            <a:ln w="9525" cap="sq">
              <a:solidFill>
                <a:srgbClr val="D5DEEA"/>
              </a:solidFill>
              <a:prstDash val="solid"/>
              <a:miter/>
            </a:ln>
          </p:spPr>
        </p:sp>
      </p:grpSp>
      <p:sp>
        <p:nvSpPr>
          <p:cNvPr name="TextBox 20" id="20"/>
          <p:cNvSpPr txBox="true"/>
          <p:nvPr/>
        </p:nvSpPr>
        <p:spPr>
          <a:xfrm rot="0">
            <a:off x="12503153" y="5099647"/>
            <a:ext cx="4421381"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04</a:t>
            </a:r>
          </a:p>
        </p:txBody>
      </p:sp>
      <p:sp>
        <p:nvSpPr>
          <p:cNvPr name="TextBox 21" id="21"/>
          <p:cNvSpPr txBox="true"/>
          <p:nvPr/>
        </p:nvSpPr>
        <p:spPr>
          <a:xfrm rot="0">
            <a:off x="12503153" y="5676805"/>
            <a:ext cx="4421381" cy="678180"/>
          </a:xfrm>
          <a:prstGeom prst="rect">
            <a:avLst/>
          </a:prstGeom>
        </p:spPr>
        <p:txBody>
          <a:bodyPr anchor="t" rtlCol="false" tIns="0" lIns="0" bIns="0" rIns="0">
            <a:spAutoFit/>
          </a:bodyPr>
          <a:lstStyle/>
          <a:p>
            <a:pPr algn="l">
              <a:lnSpc>
                <a:spcPts val="2730"/>
              </a:lnSpc>
            </a:pPr>
            <a:r>
              <a:rPr lang="en-US" sz="2100">
                <a:solidFill>
                  <a:srgbClr val="0B1424"/>
                </a:solidFill>
                <a:latin typeface="Source Serif Pro"/>
                <a:ea typeface="Source Serif Pro"/>
                <a:cs typeface="Source Serif Pro"/>
                <a:sym typeface="Source Serif Pro"/>
              </a:rPr>
              <a:t>Structured JSON messages for every action</a:t>
            </a:r>
          </a:p>
        </p:txBody>
      </p:sp>
      <p:grpSp>
        <p:nvGrpSpPr>
          <p:cNvPr name="Group 22" id="22"/>
          <p:cNvGrpSpPr/>
          <p:nvPr/>
        </p:nvGrpSpPr>
        <p:grpSpPr>
          <a:xfrm rot="0">
            <a:off x="7162800" y="6932914"/>
            <a:ext cx="4838700" cy="1830086"/>
            <a:chOff x="0" y="0"/>
            <a:chExt cx="6451600" cy="2440114"/>
          </a:xfrm>
        </p:grpSpPr>
        <p:sp>
          <p:nvSpPr>
            <p:cNvPr name="Freeform 23" id="23"/>
            <p:cNvSpPr/>
            <p:nvPr/>
          </p:nvSpPr>
          <p:spPr>
            <a:xfrm flipH="false" flipV="false" rot="0">
              <a:off x="0" y="0"/>
              <a:ext cx="6451600" cy="2440178"/>
            </a:xfrm>
            <a:custGeom>
              <a:avLst/>
              <a:gdLst/>
              <a:ahLst/>
              <a:cxnLst/>
              <a:rect r="r" b="b" t="t" l="l"/>
              <a:pathLst>
                <a:path h="2440178" w="6451600">
                  <a:moveTo>
                    <a:pt x="0" y="197866"/>
                  </a:moveTo>
                  <a:cubicBezTo>
                    <a:pt x="0" y="88646"/>
                    <a:pt x="88646" y="0"/>
                    <a:pt x="197866" y="0"/>
                  </a:cubicBezTo>
                  <a:lnTo>
                    <a:pt x="6253734" y="0"/>
                  </a:lnTo>
                  <a:cubicBezTo>
                    <a:pt x="6362954" y="0"/>
                    <a:pt x="6451600" y="88646"/>
                    <a:pt x="6451600" y="197866"/>
                  </a:cubicBezTo>
                  <a:lnTo>
                    <a:pt x="6451600" y="2242312"/>
                  </a:lnTo>
                  <a:cubicBezTo>
                    <a:pt x="6451600" y="2351532"/>
                    <a:pt x="6362954" y="2440178"/>
                    <a:pt x="6253734" y="2440178"/>
                  </a:cubicBezTo>
                  <a:lnTo>
                    <a:pt x="197866" y="2440178"/>
                  </a:lnTo>
                  <a:cubicBezTo>
                    <a:pt x="88646" y="2440178"/>
                    <a:pt x="0" y="2351532"/>
                    <a:pt x="0" y="2242312"/>
                  </a:cubicBezTo>
                  <a:close/>
                </a:path>
              </a:pathLst>
            </a:custGeom>
            <a:solidFill>
              <a:srgbClr val="FFFFFF"/>
            </a:solidFill>
            <a:ln w="9525" cap="sq">
              <a:solidFill>
                <a:srgbClr val="D5DEEA"/>
              </a:solidFill>
              <a:prstDash val="solid"/>
              <a:miter/>
            </a:ln>
          </p:spPr>
        </p:sp>
      </p:grpSp>
      <p:sp>
        <p:nvSpPr>
          <p:cNvPr name="TextBox 24" id="24"/>
          <p:cNvSpPr txBox="true"/>
          <p:nvPr/>
        </p:nvSpPr>
        <p:spPr>
          <a:xfrm rot="0">
            <a:off x="7435853" y="7158333"/>
            <a:ext cx="4421381"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05</a:t>
            </a:r>
          </a:p>
        </p:txBody>
      </p:sp>
      <p:sp>
        <p:nvSpPr>
          <p:cNvPr name="TextBox 25" id="25"/>
          <p:cNvSpPr txBox="true"/>
          <p:nvPr/>
        </p:nvSpPr>
        <p:spPr>
          <a:xfrm rot="0">
            <a:off x="7435853" y="7735491"/>
            <a:ext cx="4421381" cy="678180"/>
          </a:xfrm>
          <a:prstGeom prst="rect">
            <a:avLst/>
          </a:prstGeom>
        </p:spPr>
        <p:txBody>
          <a:bodyPr anchor="t" rtlCol="false" tIns="0" lIns="0" bIns="0" rIns="0">
            <a:spAutoFit/>
          </a:bodyPr>
          <a:lstStyle/>
          <a:p>
            <a:pPr algn="l">
              <a:lnSpc>
                <a:spcPts val="2730"/>
              </a:lnSpc>
            </a:pPr>
            <a:r>
              <a:rPr lang="en-US" sz="2100">
                <a:solidFill>
                  <a:srgbClr val="0B1424"/>
                </a:solidFill>
                <a:latin typeface="Source Serif Pro"/>
                <a:ea typeface="Source Serif Pro"/>
                <a:cs typeface="Source Serif Pro"/>
                <a:sym typeface="Source Serif Pro"/>
              </a:rPr>
              <a:t>Join, leave and re-join with full state sync</a:t>
            </a:r>
          </a:p>
        </p:txBody>
      </p:sp>
      <p:grpSp>
        <p:nvGrpSpPr>
          <p:cNvPr name="Group 26" id="26"/>
          <p:cNvGrpSpPr/>
          <p:nvPr/>
        </p:nvGrpSpPr>
        <p:grpSpPr>
          <a:xfrm rot="0">
            <a:off x="12230100" y="6932914"/>
            <a:ext cx="4838700" cy="1830086"/>
            <a:chOff x="0" y="0"/>
            <a:chExt cx="6451600" cy="2440114"/>
          </a:xfrm>
        </p:grpSpPr>
        <p:sp>
          <p:nvSpPr>
            <p:cNvPr name="Freeform 27" id="27"/>
            <p:cNvSpPr/>
            <p:nvPr/>
          </p:nvSpPr>
          <p:spPr>
            <a:xfrm flipH="false" flipV="false" rot="0">
              <a:off x="0" y="0"/>
              <a:ext cx="6451600" cy="2440178"/>
            </a:xfrm>
            <a:custGeom>
              <a:avLst/>
              <a:gdLst/>
              <a:ahLst/>
              <a:cxnLst/>
              <a:rect r="r" b="b" t="t" l="l"/>
              <a:pathLst>
                <a:path h="2440178" w="6451600">
                  <a:moveTo>
                    <a:pt x="0" y="197866"/>
                  </a:moveTo>
                  <a:cubicBezTo>
                    <a:pt x="0" y="88646"/>
                    <a:pt x="88646" y="0"/>
                    <a:pt x="197866" y="0"/>
                  </a:cubicBezTo>
                  <a:lnTo>
                    <a:pt x="6253734" y="0"/>
                  </a:lnTo>
                  <a:cubicBezTo>
                    <a:pt x="6362954" y="0"/>
                    <a:pt x="6451600" y="88646"/>
                    <a:pt x="6451600" y="197866"/>
                  </a:cubicBezTo>
                  <a:lnTo>
                    <a:pt x="6451600" y="2242312"/>
                  </a:lnTo>
                  <a:cubicBezTo>
                    <a:pt x="6451600" y="2351532"/>
                    <a:pt x="6362954" y="2440178"/>
                    <a:pt x="6253734" y="2440178"/>
                  </a:cubicBezTo>
                  <a:lnTo>
                    <a:pt x="197866" y="2440178"/>
                  </a:lnTo>
                  <a:cubicBezTo>
                    <a:pt x="88646" y="2440178"/>
                    <a:pt x="0" y="2351532"/>
                    <a:pt x="0" y="2242312"/>
                  </a:cubicBezTo>
                  <a:close/>
                </a:path>
              </a:pathLst>
            </a:custGeom>
            <a:solidFill>
              <a:srgbClr val="FFFFFF"/>
            </a:solidFill>
            <a:ln w="9525" cap="sq">
              <a:solidFill>
                <a:srgbClr val="D5DEEA"/>
              </a:solidFill>
              <a:prstDash val="solid"/>
              <a:miter/>
            </a:ln>
          </p:spPr>
        </p:sp>
      </p:grpSp>
      <p:sp>
        <p:nvSpPr>
          <p:cNvPr name="TextBox 28" id="28"/>
          <p:cNvSpPr txBox="true"/>
          <p:nvPr/>
        </p:nvSpPr>
        <p:spPr>
          <a:xfrm rot="0">
            <a:off x="12503153" y="7158333"/>
            <a:ext cx="4421381"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06</a:t>
            </a:r>
          </a:p>
        </p:txBody>
      </p:sp>
      <p:sp>
        <p:nvSpPr>
          <p:cNvPr name="TextBox 29" id="29"/>
          <p:cNvSpPr txBox="true"/>
          <p:nvPr/>
        </p:nvSpPr>
        <p:spPr>
          <a:xfrm rot="0">
            <a:off x="12503153" y="7735491"/>
            <a:ext cx="4421381" cy="678180"/>
          </a:xfrm>
          <a:prstGeom prst="rect">
            <a:avLst/>
          </a:prstGeom>
        </p:spPr>
        <p:txBody>
          <a:bodyPr anchor="t" rtlCol="false" tIns="0" lIns="0" bIns="0" rIns="0">
            <a:spAutoFit/>
          </a:bodyPr>
          <a:lstStyle/>
          <a:p>
            <a:pPr algn="l">
              <a:lnSpc>
                <a:spcPts val="2730"/>
              </a:lnSpc>
            </a:pPr>
            <a:r>
              <a:rPr lang="en-US" sz="2100">
                <a:solidFill>
                  <a:srgbClr val="0B1424"/>
                </a:solidFill>
                <a:latin typeface="Source Serif Pro"/>
                <a:ea typeface="Source Serif Pro"/>
                <a:cs typeface="Source Serif Pro"/>
                <a:sym typeface="Source Serif Pro"/>
              </a:rPr>
              <a:t>Test, measure and relate results to theory</a:t>
            </a:r>
          </a:p>
        </p:txBody>
      </p:sp>
      <p:sp>
        <p:nvSpPr>
          <p:cNvPr name="TextBox 30" id="30"/>
          <p:cNvSpPr txBox="true"/>
          <p:nvPr/>
        </p:nvSpPr>
        <p:spPr>
          <a:xfrm rot="0">
            <a:off x="1219200" y="9319317"/>
            <a:ext cx="638757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LAN Collaborative Whiteboard · Computer Networks</a:t>
            </a:r>
          </a:p>
        </p:txBody>
      </p:sp>
      <p:sp>
        <p:nvSpPr>
          <p:cNvPr name="TextBox 31" id="31"/>
          <p:cNvSpPr txBox="true"/>
          <p:nvPr/>
        </p:nvSpPr>
        <p:spPr>
          <a:xfrm rot="0">
            <a:off x="16794461" y="9319317"/>
            <a:ext cx="35053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1424"/>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38BDF8"/>
                </a:solidFill>
                <a:latin typeface="Source Serif Pro Bold"/>
                <a:ea typeface="Source Serif Pro Bold"/>
                <a:cs typeface="Source Serif Pro Bold"/>
                <a:sym typeface="Source Serif Pro Bold"/>
              </a:rPr>
              <a:t>02 · THEORY IN PRACTICE</a:t>
            </a:r>
          </a:p>
        </p:txBody>
      </p:sp>
      <p:sp>
        <p:nvSpPr>
          <p:cNvPr name="TextBox 3" id="3"/>
          <p:cNvSpPr txBox="true"/>
          <p:nvPr/>
        </p:nvSpPr>
        <p:spPr>
          <a:xfrm rot="0">
            <a:off x="1219200" y="1727797"/>
            <a:ext cx="8639770" cy="773430"/>
          </a:xfrm>
          <a:prstGeom prst="rect">
            <a:avLst/>
          </a:prstGeom>
        </p:spPr>
        <p:txBody>
          <a:bodyPr anchor="t" rtlCol="false" tIns="0" lIns="0" bIns="0" rIns="0">
            <a:spAutoFit/>
          </a:bodyPr>
          <a:lstStyle/>
          <a:p>
            <a:pPr algn="l">
              <a:lnSpc>
                <a:spcPts val="5940"/>
              </a:lnSpc>
            </a:pPr>
            <a:r>
              <a:rPr lang="en-US" sz="5400" b="true">
                <a:solidFill>
                  <a:srgbClr val="E6EDF7"/>
                </a:solidFill>
                <a:latin typeface="Source Serif Pro Bold"/>
                <a:ea typeface="Source Serif Pro Bold"/>
                <a:cs typeface="Source Serif Pro Bold"/>
                <a:sym typeface="Source Serif Pro Bold"/>
              </a:rPr>
              <a:t>Networking Concepts Used</a:t>
            </a:r>
          </a:p>
        </p:txBody>
      </p:sp>
      <p:grpSp>
        <p:nvGrpSpPr>
          <p:cNvPr name="Group 4" id="4"/>
          <p:cNvGrpSpPr/>
          <p:nvPr/>
        </p:nvGrpSpPr>
        <p:grpSpPr>
          <a:xfrm rot="0">
            <a:off x="1219200" y="2815533"/>
            <a:ext cx="5105400" cy="2840336"/>
            <a:chOff x="0" y="0"/>
            <a:chExt cx="6807200" cy="3787115"/>
          </a:xfrm>
        </p:grpSpPr>
        <p:sp>
          <p:nvSpPr>
            <p:cNvPr name="Freeform 5" id="5"/>
            <p:cNvSpPr/>
            <p:nvPr/>
          </p:nvSpPr>
          <p:spPr>
            <a:xfrm flipH="false" flipV="false" rot="0">
              <a:off x="0" y="0"/>
              <a:ext cx="6807200" cy="3787140"/>
            </a:xfrm>
            <a:custGeom>
              <a:avLst/>
              <a:gdLst/>
              <a:ahLst/>
              <a:cxnLst/>
              <a:rect r="r" b="b" t="t" l="l"/>
              <a:pathLst>
                <a:path h="3787140" w="6807200">
                  <a:moveTo>
                    <a:pt x="0" y="197485"/>
                  </a:moveTo>
                  <a:cubicBezTo>
                    <a:pt x="0" y="88392"/>
                    <a:pt x="88392" y="0"/>
                    <a:pt x="197485" y="0"/>
                  </a:cubicBezTo>
                  <a:lnTo>
                    <a:pt x="6609715" y="0"/>
                  </a:lnTo>
                  <a:cubicBezTo>
                    <a:pt x="6718808" y="0"/>
                    <a:pt x="6807200" y="88392"/>
                    <a:pt x="6807200" y="197485"/>
                  </a:cubicBezTo>
                  <a:lnTo>
                    <a:pt x="6807200" y="3589655"/>
                  </a:lnTo>
                  <a:cubicBezTo>
                    <a:pt x="6807200" y="3698748"/>
                    <a:pt x="6718808" y="3787140"/>
                    <a:pt x="6609715" y="3787140"/>
                  </a:cubicBezTo>
                  <a:lnTo>
                    <a:pt x="197485" y="3787140"/>
                  </a:lnTo>
                  <a:cubicBezTo>
                    <a:pt x="88392" y="3787140"/>
                    <a:pt x="0" y="3698748"/>
                    <a:pt x="0" y="3589655"/>
                  </a:cubicBezTo>
                  <a:close/>
                </a:path>
              </a:pathLst>
            </a:custGeom>
            <a:solidFill>
              <a:srgbClr val="121F36"/>
            </a:solidFill>
            <a:ln w="9525" cap="sq">
              <a:solidFill>
                <a:srgbClr val="223A5E"/>
              </a:solidFill>
              <a:prstDash val="solid"/>
              <a:miter/>
            </a:ln>
          </p:spPr>
        </p:sp>
      </p:grpSp>
      <p:grpSp>
        <p:nvGrpSpPr>
          <p:cNvPr name="Group 6" id="6"/>
          <p:cNvGrpSpPr/>
          <p:nvPr/>
        </p:nvGrpSpPr>
        <p:grpSpPr>
          <a:xfrm rot="0">
            <a:off x="1492253" y="3088576"/>
            <a:ext cx="495300" cy="495300"/>
            <a:chOff x="0" y="0"/>
            <a:chExt cx="660400" cy="660400"/>
          </a:xfrm>
        </p:grpSpPr>
        <p:sp>
          <p:nvSpPr>
            <p:cNvPr name="Freeform 7" id="7" descr="Globe"/>
            <p:cNvSpPr/>
            <p:nvPr/>
          </p:nvSpPr>
          <p:spPr>
            <a:xfrm flipH="false" flipV="false" rot="0">
              <a:off x="0" y="0"/>
              <a:ext cx="660400" cy="660400"/>
            </a:xfrm>
            <a:custGeom>
              <a:avLst/>
              <a:gdLst/>
              <a:ahLst/>
              <a:cxnLst/>
              <a:rect r="r" b="b" t="t" l="l"/>
              <a:pathLst>
                <a:path h="660400" w="660400">
                  <a:moveTo>
                    <a:pt x="0" y="0"/>
                  </a:moveTo>
                  <a:lnTo>
                    <a:pt x="660400" y="0"/>
                  </a:lnTo>
                  <a:lnTo>
                    <a:pt x="660400" y="660400"/>
                  </a:lnTo>
                  <a:lnTo>
                    <a:pt x="0" y="660400"/>
                  </a:lnTo>
                  <a:lnTo>
                    <a:pt x="0" y="0"/>
                  </a:lnTo>
                  <a:close/>
                </a:path>
              </a:pathLst>
            </a:custGeom>
            <a:blipFill>
              <a:blip r:embed="rId3"/>
              <a:stretch>
                <a:fillRect l="0" t="0" r="0" b="0"/>
              </a:stretch>
            </a:blipFill>
          </p:spPr>
        </p:sp>
      </p:grpSp>
      <p:sp>
        <p:nvSpPr>
          <p:cNvPr name="TextBox 8" id="8"/>
          <p:cNvSpPr txBox="true"/>
          <p:nvPr/>
        </p:nvSpPr>
        <p:spPr>
          <a:xfrm rot="0">
            <a:off x="5342411" y="3138087"/>
            <a:ext cx="709136" cy="306705"/>
          </a:xfrm>
          <a:prstGeom prst="rect">
            <a:avLst/>
          </a:prstGeom>
        </p:spPr>
        <p:txBody>
          <a:bodyPr anchor="t" rtlCol="false" tIns="0" lIns="0" bIns="0" rIns="0">
            <a:spAutoFit/>
          </a:bodyPr>
          <a:lstStyle/>
          <a:p>
            <a:pPr algn="r">
              <a:lnSpc>
                <a:spcPts val="2520"/>
              </a:lnSpc>
            </a:pPr>
            <a:r>
              <a:rPr lang="en-US" sz="1800" b="true">
                <a:solidFill>
                  <a:srgbClr val="FBBF24"/>
                </a:solidFill>
                <a:latin typeface="Source Serif Pro Bold"/>
                <a:ea typeface="Source Serif Pro Bold"/>
                <a:cs typeface="Source Serif Pro Bold"/>
                <a:sym typeface="Source Serif Pro Bold"/>
              </a:rPr>
              <a:t>Unit I</a:t>
            </a:r>
          </a:p>
        </p:txBody>
      </p:sp>
      <p:sp>
        <p:nvSpPr>
          <p:cNvPr name="TextBox 9" id="9"/>
          <p:cNvSpPr txBox="true"/>
          <p:nvPr/>
        </p:nvSpPr>
        <p:spPr>
          <a:xfrm rot="0">
            <a:off x="1492253" y="3679126"/>
            <a:ext cx="4696082" cy="409575"/>
          </a:xfrm>
          <a:prstGeom prst="rect">
            <a:avLst/>
          </a:prstGeom>
        </p:spPr>
        <p:txBody>
          <a:bodyPr anchor="t" rtlCol="false" tIns="0" lIns="0" bIns="0" rIns="0">
            <a:spAutoFit/>
          </a:bodyPr>
          <a:lstStyle/>
          <a:p>
            <a:pPr algn="l">
              <a:lnSpc>
                <a:spcPts val="3240"/>
              </a:lnSpc>
            </a:pPr>
            <a:r>
              <a:rPr lang="en-US" sz="2700" b="true">
                <a:solidFill>
                  <a:srgbClr val="E6EDF7"/>
                </a:solidFill>
                <a:latin typeface="Source Serif Pro Bold"/>
                <a:ea typeface="Source Serif Pro Bold"/>
                <a:cs typeface="Source Serif Pro Bold"/>
                <a:sym typeface="Source Serif Pro Bold"/>
              </a:rPr>
              <a:t>LAN</a:t>
            </a:r>
          </a:p>
        </p:txBody>
      </p:sp>
      <p:sp>
        <p:nvSpPr>
          <p:cNvPr name="TextBox 10" id="10"/>
          <p:cNvSpPr txBox="true"/>
          <p:nvPr/>
        </p:nvSpPr>
        <p:spPr>
          <a:xfrm rot="0">
            <a:off x="1492253" y="4157262"/>
            <a:ext cx="4696082" cy="658177"/>
          </a:xfrm>
          <a:prstGeom prst="rect">
            <a:avLst/>
          </a:prstGeom>
        </p:spPr>
        <p:txBody>
          <a:bodyPr anchor="t" rtlCol="false" tIns="0" lIns="0" bIns="0" rIns="0">
            <a:spAutoFit/>
          </a:bodyPr>
          <a:lstStyle/>
          <a:p>
            <a:pPr algn="l">
              <a:lnSpc>
                <a:spcPts val="2632"/>
              </a:lnSpc>
            </a:pPr>
            <a:r>
              <a:rPr lang="en-US" sz="1950">
                <a:solidFill>
                  <a:srgbClr val="9FB0C8"/>
                </a:solidFill>
                <a:latin typeface="Source Serif Pro"/>
                <a:ea typeface="Source Serif Pro"/>
                <a:cs typeface="Source Serif Pro"/>
                <a:sym typeface="Source Serif Pro"/>
              </a:rPr>
              <a:t>Wi-Fi or Ethernet star network; clients reach the host directly.</a:t>
            </a:r>
          </a:p>
        </p:txBody>
      </p:sp>
      <p:grpSp>
        <p:nvGrpSpPr>
          <p:cNvPr name="Group 11" id="11"/>
          <p:cNvGrpSpPr/>
          <p:nvPr/>
        </p:nvGrpSpPr>
        <p:grpSpPr>
          <a:xfrm rot="0">
            <a:off x="6591300" y="2815533"/>
            <a:ext cx="5105400" cy="2840336"/>
            <a:chOff x="0" y="0"/>
            <a:chExt cx="6807200" cy="3787115"/>
          </a:xfrm>
        </p:grpSpPr>
        <p:sp>
          <p:nvSpPr>
            <p:cNvPr name="Freeform 12" id="12"/>
            <p:cNvSpPr/>
            <p:nvPr/>
          </p:nvSpPr>
          <p:spPr>
            <a:xfrm flipH="false" flipV="false" rot="0">
              <a:off x="0" y="0"/>
              <a:ext cx="6807200" cy="3787140"/>
            </a:xfrm>
            <a:custGeom>
              <a:avLst/>
              <a:gdLst/>
              <a:ahLst/>
              <a:cxnLst/>
              <a:rect r="r" b="b" t="t" l="l"/>
              <a:pathLst>
                <a:path h="3787140" w="6807200">
                  <a:moveTo>
                    <a:pt x="0" y="197485"/>
                  </a:moveTo>
                  <a:cubicBezTo>
                    <a:pt x="0" y="88392"/>
                    <a:pt x="88392" y="0"/>
                    <a:pt x="197485" y="0"/>
                  </a:cubicBezTo>
                  <a:lnTo>
                    <a:pt x="6609715" y="0"/>
                  </a:lnTo>
                  <a:cubicBezTo>
                    <a:pt x="6718808" y="0"/>
                    <a:pt x="6807200" y="88392"/>
                    <a:pt x="6807200" y="197485"/>
                  </a:cubicBezTo>
                  <a:lnTo>
                    <a:pt x="6807200" y="3589655"/>
                  </a:lnTo>
                  <a:cubicBezTo>
                    <a:pt x="6807200" y="3698748"/>
                    <a:pt x="6718808" y="3787140"/>
                    <a:pt x="6609715" y="3787140"/>
                  </a:cubicBezTo>
                  <a:lnTo>
                    <a:pt x="197485" y="3787140"/>
                  </a:lnTo>
                  <a:cubicBezTo>
                    <a:pt x="88392" y="3787140"/>
                    <a:pt x="0" y="3698748"/>
                    <a:pt x="0" y="3589655"/>
                  </a:cubicBezTo>
                  <a:close/>
                </a:path>
              </a:pathLst>
            </a:custGeom>
            <a:solidFill>
              <a:srgbClr val="121F36"/>
            </a:solidFill>
            <a:ln w="9525" cap="sq">
              <a:solidFill>
                <a:srgbClr val="223A5E"/>
              </a:solidFill>
              <a:prstDash val="solid"/>
              <a:miter/>
            </a:ln>
          </p:spPr>
        </p:sp>
      </p:grpSp>
      <p:grpSp>
        <p:nvGrpSpPr>
          <p:cNvPr name="Group 13" id="13"/>
          <p:cNvGrpSpPr/>
          <p:nvPr/>
        </p:nvGrpSpPr>
        <p:grpSpPr>
          <a:xfrm rot="0">
            <a:off x="6864353" y="3088576"/>
            <a:ext cx="495300" cy="495300"/>
            <a:chOff x="0" y="0"/>
            <a:chExt cx="660400" cy="660400"/>
          </a:xfrm>
        </p:grpSpPr>
        <p:sp>
          <p:nvSpPr>
            <p:cNvPr name="Freeform 14" id="14" descr="Link"/>
            <p:cNvSpPr/>
            <p:nvPr/>
          </p:nvSpPr>
          <p:spPr>
            <a:xfrm flipH="false" flipV="false" rot="0">
              <a:off x="0" y="0"/>
              <a:ext cx="660400" cy="660400"/>
            </a:xfrm>
            <a:custGeom>
              <a:avLst/>
              <a:gdLst/>
              <a:ahLst/>
              <a:cxnLst/>
              <a:rect r="r" b="b" t="t" l="l"/>
              <a:pathLst>
                <a:path h="660400" w="660400">
                  <a:moveTo>
                    <a:pt x="0" y="0"/>
                  </a:moveTo>
                  <a:lnTo>
                    <a:pt x="660400" y="0"/>
                  </a:lnTo>
                  <a:lnTo>
                    <a:pt x="660400" y="660400"/>
                  </a:lnTo>
                  <a:lnTo>
                    <a:pt x="0" y="660400"/>
                  </a:lnTo>
                  <a:lnTo>
                    <a:pt x="0" y="0"/>
                  </a:lnTo>
                  <a:close/>
                </a:path>
              </a:pathLst>
            </a:custGeom>
            <a:blipFill>
              <a:blip r:embed="rId4"/>
              <a:stretch>
                <a:fillRect l="0" t="0" r="0" b="0"/>
              </a:stretch>
            </a:blipFill>
          </p:spPr>
        </p:sp>
      </p:grpSp>
      <p:sp>
        <p:nvSpPr>
          <p:cNvPr name="TextBox 15" id="15"/>
          <p:cNvSpPr txBox="true"/>
          <p:nvPr/>
        </p:nvSpPr>
        <p:spPr>
          <a:xfrm rot="0">
            <a:off x="10482339" y="3138087"/>
            <a:ext cx="941308" cy="306705"/>
          </a:xfrm>
          <a:prstGeom prst="rect">
            <a:avLst/>
          </a:prstGeom>
        </p:spPr>
        <p:txBody>
          <a:bodyPr anchor="t" rtlCol="false" tIns="0" lIns="0" bIns="0" rIns="0">
            <a:spAutoFit/>
          </a:bodyPr>
          <a:lstStyle/>
          <a:p>
            <a:pPr algn="r">
              <a:lnSpc>
                <a:spcPts val="2520"/>
              </a:lnSpc>
            </a:pPr>
            <a:r>
              <a:rPr lang="en-US" sz="1800" b="true">
                <a:solidFill>
                  <a:srgbClr val="FBBF24"/>
                </a:solidFill>
                <a:latin typeface="Source Serif Pro Bold"/>
                <a:ea typeface="Source Serif Pro Bold"/>
                <a:cs typeface="Source Serif Pro Bold"/>
                <a:sym typeface="Source Serif Pro Bold"/>
              </a:rPr>
              <a:t>Unit III</a:t>
            </a:r>
          </a:p>
        </p:txBody>
      </p:sp>
      <p:sp>
        <p:nvSpPr>
          <p:cNvPr name="TextBox 16" id="16"/>
          <p:cNvSpPr txBox="true"/>
          <p:nvPr/>
        </p:nvSpPr>
        <p:spPr>
          <a:xfrm rot="0">
            <a:off x="6864353" y="3679126"/>
            <a:ext cx="4696082" cy="409575"/>
          </a:xfrm>
          <a:prstGeom prst="rect">
            <a:avLst/>
          </a:prstGeom>
        </p:spPr>
        <p:txBody>
          <a:bodyPr anchor="t" rtlCol="false" tIns="0" lIns="0" bIns="0" rIns="0">
            <a:spAutoFit/>
          </a:bodyPr>
          <a:lstStyle/>
          <a:p>
            <a:pPr algn="l">
              <a:lnSpc>
                <a:spcPts val="3240"/>
              </a:lnSpc>
            </a:pPr>
            <a:r>
              <a:rPr lang="en-US" sz="2700" b="true">
                <a:solidFill>
                  <a:srgbClr val="E6EDF7"/>
                </a:solidFill>
                <a:latin typeface="Source Serif Pro Bold"/>
                <a:ea typeface="Source Serif Pro Bold"/>
                <a:cs typeface="Source Serif Pro Bold"/>
                <a:sym typeface="Source Serif Pro Bold"/>
              </a:rPr>
              <a:t>IP and Ports</a:t>
            </a:r>
          </a:p>
        </p:txBody>
      </p:sp>
      <p:sp>
        <p:nvSpPr>
          <p:cNvPr name="TextBox 17" id="17"/>
          <p:cNvSpPr txBox="true"/>
          <p:nvPr/>
        </p:nvSpPr>
        <p:spPr>
          <a:xfrm rot="0">
            <a:off x="6864353" y="4157262"/>
            <a:ext cx="4696082" cy="658177"/>
          </a:xfrm>
          <a:prstGeom prst="rect">
            <a:avLst/>
          </a:prstGeom>
        </p:spPr>
        <p:txBody>
          <a:bodyPr anchor="t" rtlCol="false" tIns="0" lIns="0" bIns="0" rIns="0">
            <a:spAutoFit/>
          </a:bodyPr>
          <a:lstStyle/>
          <a:p>
            <a:pPr algn="l">
              <a:lnSpc>
                <a:spcPts val="2632"/>
              </a:lnSpc>
            </a:pPr>
            <a:r>
              <a:rPr lang="en-US" sz="1950">
                <a:solidFill>
                  <a:srgbClr val="9FB0C8"/>
                </a:solidFill>
                <a:latin typeface="Source Serif Pro"/>
                <a:ea typeface="Source Serif Pro"/>
                <a:cs typeface="Source Serif Pro"/>
                <a:sym typeface="Source Serif Pro"/>
              </a:rPr>
              <a:t>LAN IP picks the machine; port 8000 picks the program.</a:t>
            </a:r>
          </a:p>
        </p:txBody>
      </p:sp>
      <p:grpSp>
        <p:nvGrpSpPr>
          <p:cNvPr name="Group 18" id="18"/>
          <p:cNvGrpSpPr/>
          <p:nvPr/>
        </p:nvGrpSpPr>
        <p:grpSpPr>
          <a:xfrm rot="0">
            <a:off x="11963400" y="2815533"/>
            <a:ext cx="5105400" cy="2840336"/>
            <a:chOff x="0" y="0"/>
            <a:chExt cx="6807200" cy="3787115"/>
          </a:xfrm>
        </p:grpSpPr>
        <p:sp>
          <p:nvSpPr>
            <p:cNvPr name="Freeform 19" id="19"/>
            <p:cNvSpPr/>
            <p:nvPr/>
          </p:nvSpPr>
          <p:spPr>
            <a:xfrm flipH="false" flipV="false" rot="0">
              <a:off x="0" y="0"/>
              <a:ext cx="6807200" cy="3787140"/>
            </a:xfrm>
            <a:custGeom>
              <a:avLst/>
              <a:gdLst/>
              <a:ahLst/>
              <a:cxnLst/>
              <a:rect r="r" b="b" t="t" l="l"/>
              <a:pathLst>
                <a:path h="3787140" w="6807200">
                  <a:moveTo>
                    <a:pt x="0" y="197485"/>
                  </a:moveTo>
                  <a:cubicBezTo>
                    <a:pt x="0" y="88392"/>
                    <a:pt x="88392" y="0"/>
                    <a:pt x="197485" y="0"/>
                  </a:cubicBezTo>
                  <a:lnTo>
                    <a:pt x="6609715" y="0"/>
                  </a:lnTo>
                  <a:cubicBezTo>
                    <a:pt x="6718808" y="0"/>
                    <a:pt x="6807200" y="88392"/>
                    <a:pt x="6807200" y="197485"/>
                  </a:cubicBezTo>
                  <a:lnTo>
                    <a:pt x="6807200" y="3589655"/>
                  </a:lnTo>
                  <a:cubicBezTo>
                    <a:pt x="6807200" y="3698748"/>
                    <a:pt x="6718808" y="3787140"/>
                    <a:pt x="6609715" y="3787140"/>
                  </a:cubicBezTo>
                  <a:lnTo>
                    <a:pt x="197485" y="3787140"/>
                  </a:lnTo>
                  <a:cubicBezTo>
                    <a:pt x="88392" y="3787140"/>
                    <a:pt x="0" y="3698748"/>
                    <a:pt x="0" y="3589655"/>
                  </a:cubicBezTo>
                  <a:close/>
                </a:path>
              </a:pathLst>
            </a:custGeom>
            <a:solidFill>
              <a:srgbClr val="121F36"/>
            </a:solidFill>
            <a:ln w="9525" cap="sq">
              <a:solidFill>
                <a:srgbClr val="223A5E"/>
              </a:solidFill>
              <a:prstDash val="solid"/>
              <a:miter/>
            </a:ln>
          </p:spPr>
        </p:sp>
      </p:grpSp>
      <p:grpSp>
        <p:nvGrpSpPr>
          <p:cNvPr name="Group 20" id="20"/>
          <p:cNvGrpSpPr/>
          <p:nvPr/>
        </p:nvGrpSpPr>
        <p:grpSpPr>
          <a:xfrm rot="0">
            <a:off x="12236453" y="3088576"/>
            <a:ext cx="495300" cy="495300"/>
            <a:chOff x="0" y="0"/>
            <a:chExt cx="660400" cy="660400"/>
          </a:xfrm>
        </p:grpSpPr>
        <p:sp>
          <p:nvSpPr>
            <p:cNvPr name="Freeform 21" id="21" descr="Users"/>
            <p:cNvSpPr/>
            <p:nvPr/>
          </p:nvSpPr>
          <p:spPr>
            <a:xfrm flipH="false" flipV="false" rot="0">
              <a:off x="0" y="0"/>
              <a:ext cx="660400" cy="660400"/>
            </a:xfrm>
            <a:custGeom>
              <a:avLst/>
              <a:gdLst/>
              <a:ahLst/>
              <a:cxnLst/>
              <a:rect r="r" b="b" t="t" l="l"/>
              <a:pathLst>
                <a:path h="660400" w="660400">
                  <a:moveTo>
                    <a:pt x="0" y="0"/>
                  </a:moveTo>
                  <a:lnTo>
                    <a:pt x="660400" y="0"/>
                  </a:lnTo>
                  <a:lnTo>
                    <a:pt x="660400" y="660400"/>
                  </a:lnTo>
                  <a:lnTo>
                    <a:pt x="0" y="660400"/>
                  </a:lnTo>
                  <a:lnTo>
                    <a:pt x="0" y="0"/>
                  </a:lnTo>
                  <a:close/>
                </a:path>
              </a:pathLst>
            </a:custGeom>
            <a:blipFill>
              <a:blip r:embed="rId5"/>
              <a:stretch>
                <a:fillRect l="0" t="0" r="0" b="0"/>
              </a:stretch>
            </a:blipFill>
          </p:spPr>
        </p:sp>
      </p:grpSp>
      <p:sp>
        <p:nvSpPr>
          <p:cNvPr name="TextBox 22" id="22"/>
          <p:cNvSpPr txBox="true"/>
          <p:nvPr/>
        </p:nvSpPr>
        <p:spPr>
          <a:xfrm rot="0">
            <a:off x="16086611" y="3138087"/>
            <a:ext cx="709136" cy="306705"/>
          </a:xfrm>
          <a:prstGeom prst="rect">
            <a:avLst/>
          </a:prstGeom>
        </p:spPr>
        <p:txBody>
          <a:bodyPr anchor="t" rtlCol="false" tIns="0" lIns="0" bIns="0" rIns="0">
            <a:spAutoFit/>
          </a:bodyPr>
          <a:lstStyle/>
          <a:p>
            <a:pPr algn="r">
              <a:lnSpc>
                <a:spcPts val="2520"/>
              </a:lnSpc>
            </a:pPr>
            <a:r>
              <a:rPr lang="en-US" sz="1800" b="true">
                <a:solidFill>
                  <a:srgbClr val="FBBF24"/>
                </a:solidFill>
                <a:latin typeface="Source Serif Pro Bold"/>
                <a:ea typeface="Source Serif Pro Bold"/>
                <a:cs typeface="Source Serif Pro Bold"/>
                <a:sym typeface="Source Serif Pro Bold"/>
              </a:rPr>
              <a:t>Unit I</a:t>
            </a:r>
          </a:p>
        </p:txBody>
      </p:sp>
      <p:sp>
        <p:nvSpPr>
          <p:cNvPr name="TextBox 23" id="23"/>
          <p:cNvSpPr txBox="true"/>
          <p:nvPr/>
        </p:nvSpPr>
        <p:spPr>
          <a:xfrm rot="0">
            <a:off x="12236453" y="3679126"/>
            <a:ext cx="4696082" cy="409575"/>
          </a:xfrm>
          <a:prstGeom prst="rect">
            <a:avLst/>
          </a:prstGeom>
        </p:spPr>
        <p:txBody>
          <a:bodyPr anchor="t" rtlCol="false" tIns="0" lIns="0" bIns="0" rIns="0">
            <a:spAutoFit/>
          </a:bodyPr>
          <a:lstStyle/>
          <a:p>
            <a:pPr algn="l">
              <a:lnSpc>
                <a:spcPts val="3240"/>
              </a:lnSpc>
            </a:pPr>
            <a:r>
              <a:rPr lang="en-US" sz="2700" b="true">
                <a:solidFill>
                  <a:srgbClr val="E6EDF7"/>
                </a:solidFill>
                <a:latin typeface="Source Serif Pro Bold"/>
                <a:ea typeface="Source Serif Pro Bold"/>
                <a:cs typeface="Source Serif Pro Bold"/>
                <a:sym typeface="Source Serif Pro Bold"/>
              </a:rPr>
              <a:t>Client–Server</a:t>
            </a:r>
          </a:p>
        </p:txBody>
      </p:sp>
      <p:sp>
        <p:nvSpPr>
          <p:cNvPr name="TextBox 24" id="24"/>
          <p:cNvSpPr txBox="true"/>
          <p:nvPr/>
        </p:nvSpPr>
        <p:spPr>
          <a:xfrm rot="0">
            <a:off x="12236453" y="4157262"/>
            <a:ext cx="4696082" cy="658177"/>
          </a:xfrm>
          <a:prstGeom prst="rect">
            <a:avLst/>
          </a:prstGeom>
        </p:spPr>
        <p:txBody>
          <a:bodyPr anchor="t" rtlCol="false" tIns="0" lIns="0" bIns="0" rIns="0">
            <a:spAutoFit/>
          </a:bodyPr>
          <a:lstStyle/>
          <a:p>
            <a:pPr algn="l">
              <a:lnSpc>
                <a:spcPts val="2632"/>
              </a:lnSpc>
            </a:pPr>
            <a:r>
              <a:rPr lang="en-US" sz="1950">
                <a:solidFill>
                  <a:srgbClr val="9FB0C8"/>
                </a:solidFill>
                <a:latin typeface="Source Serif Pro"/>
                <a:ea typeface="Source Serif Pro"/>
                <a:cs typeface="Source Serif Pro"/>
                <a:sym typeface="Source Serif Pro"/>
              </a:rPr>
              <a:t>Browsers talk only to the central FastAPI server.</a:t>
            </a:r>
          </a:p>
        </p:txBody>
      </p:sp>
      <p:grpSp>
        <p:nvGrpSpPr>
          <p:cNvPr name="Group 25" id="25"/>
          <p:cNvGrpSpPr/>
          <p:nvPr/>
        </p:nvGrpSpPr>
        <p:grpSpPr>
          <a:xfrm rot="0">
            <a:off x="1219200" y="5922569"/>
            <a:ext cx="5105400" cy="2840431"/>
            <a:chOff x="0" y="0"/>
            <a:chExt cx="6807200" cy="3787242"/>
          </a:xfrm>
        </p:grpSpPr>
        <p:sp>
          <p:nvSpPr>
            <p:cNvPr name="Freeform 26" id="26"/>
            <p:cNvSpPr/>
            <p:nvPr/>
          </p:nvSpPr>
          <p:spPr>
            <a:xfrm flipH="false" flipV="false" rot="0">
              <a:off x="0" y="0"/>
              <a:ext cx="6807200" cy="3787267"/>
            </a:xfrm>
            <a:custGeom>
              <a:avLst/>
              <a:gdLst/>
              <a:ahLst/>
              <a:cxnLst/>
              <a:rect r="r" b="b" t="t" l="l"/>
              <a:pathLst>
                <a:path h="3787267" w="6807200">
                  <a:moveTo>
                    <a:pt x="0" y="197485"/>
                  </a:moveTo>
                  <a:cubicBezTo>
                    <a:pt x="0" y="88392"/>
                    <a:pt x="88392" y="0"/>
                    <a:pt x="197485" y="0"/>
                  </a:cubicBezTo>
                  <a:lnTo>
                    <a:pt x="6609715" y="0"/>
                  </a:lnTo>
                  <a:cubicBezTo>
                    <a:pt x="6718808" y="0"/>
                    <a:pt x="6807200" y="88392"/>
                    <a:pt x="6807200" y="197485"/>
                  </a:cubicBezTo>
                  <a:lnTo>
                    <a:pt x="6807200" y="3589782"/>
                  </a:lnTo>
                  <a:cubicBezTo>
                    <a:pt x="6807200" y="3698875"/>
                    <a:pt x="6718808" y="3787267"/>
                    <a:pt x="6609715" y="3787267"/>
                  </a:cubicBezTo>
                  <a:lnTo>
                    <a:pt x="197485" y="3787267"/>
                  </a:lnTo>
                  <a:cubicBezTo>
                    <a:pt x="88392" y="3787267"/>
                    <a:pt x="0" y="3698875"/>
                    <a:pt x="0" y="3589782"/>
                  </a:cubicBezTo>
                  <a:close/>
                </a:path>
              </a:pathLst>
            </a:custGeom>
            <a:solidFill>
              <a:srgbClr val="121F36"/>
            </a:solidFill>
            <a:ln w="9525" cap="sq">
              <a:solidFill>
                <a:srgbClr val="223A5E"/>
              </a:solidFill>
              <a:prstDash val="solid"/>
              <a:miter/>
            </a:ln>
          </p:spPr>
        </p:sp>
      </p:grpSp>
      <p:grpSp>
        <p:nvGrpSpPr>
          <p:cNvPr name="Group 27" id="27"/>
          <p:cNvGrpSpPr/>
          <p:nvPr/>
        </p:nvGrpSpPr>
        <p:grpSpPr>
          <a:xfrm rot="0">
            <a:off x="1492253" y="6195612"/>
            <a:ext cx="495300" cy="495300"/>
            <a:chOff x="0" y="0"/>
            <a:chExt cx="660400" cy="660400"/>
          </a:xfrm>
        </p:grpSpPr>
        <p:sp>
          <p:nvSpPr>
            <p:cNvPr name="Freeform 28" id="28" descr="Cloud"/>
            <p:cNvSpPr/>
            <p:nvPr/>
          </p:nvSpPr>
          <p:spPr>
            <a:xfrm flipH="false" flipV="false" rot="0">
              <a:off x="0" y="0"/>
              <a:ext cx="660400" cy="660400"/>
            </a:xfrm>
            <a:custGeom>
              <a:avLst/>
              <a:gdLst/>
              <a:ahLst/>
              <a:cxnLst/>
              <a:rect r="r" b="b" t="t" l="l"/>
              <a:pathLst>
                <a:path h="660400" w="660400">
                  <a:moveTo>
                    <a:pt x="0" y="0"/>
                  </a:moveTo>
                  <a:lnTo>
                    <a:pt x="660400" y="0"/>
                  </a:lnTo>
                  <a:lnTo>
                    <a:pt x="660400" y="660400"/>
                  </a:lnTo>
                  <a:lnTo>
                    <a:pt x="0" y="660400"/>
                  </a:lnTo>
                  <a:lnTo>
                    <a:pt x="0" y="0"/>
                  </a:lnTo>
                  <a:close/>
                </a:path>
              </a:pathLst>
            </a:custGeom>
            <a:blipFill>
              <a:blip r:embed="rId6"/>
              <a:stretch>
                <a:fillRect l="0" t="0" r="0" b="0"/>
              </a:stretch>
            </a:blipFill>
          </p:spPr>
        </p:sp>
      </p:grpSp>
      <p:sp>
        <p:nvSpPr>
          <p:cNvPr name="TextBox 29" id="29"/>
          <p:cNvSpPr txBox="true"/>
          <p:nvPr/>
        </p:nvSpPr>
        <p:spPr>
          <a:xfrm rot="0">
            <a:off x="5283356" y="6245123"/>
            <a:ext cx="768191" cy="306705"/>
          </a:xfrm>
          <a:prstGeom prst="rect">
            <a:avLst/>
          </a:prstGeom>
        </p:spPr>
        <p:txBody>
          <a:bodyPr anchor="t" rtlCol="false" tIns="0" lIns="0" bIns="0" rIns="0">
            <a:spAutoFit/>
          </a:bodyPr>
          <a:lstStyle/>
          <a:p>
            <a:pPr algn="r">
              <a:lnSpc>
                <a:spcPts val="2520"/>
              </a:lnSpc>
            </a:pPr>
            <a:r>
              <a:rPr lang="en-US" sz="1800" b="true">
                <a:solidFill>
                  <a:srgbClr val="FBBF24"/>
                </a:solidFill>
                <a:latin typeface="Source Serif Pro Bold"/>
                <a:ea typeface="Source Serif Pro Bold"/>
                <a:cs typeface="Source Serif Pro Bold"/>
                <a:sym typeface="Source Serif Pro Bold"/>
              </a:rPr>
              <a:t>Unit V</a:t>
            </a:r>
          </a:p>
        </p:txBody>
      </p:sp>
      <p:sp>
        <p:nvSpPr>
          <p:cNvPr name="TextBox 30" id="30"/>
          <p:cNvSpPr txBox="true"/>
          <p:nvPr/>
        </p:nvSpPr>
        <p:spPr>
          <a:xfrm rot="0">
            <a:off x="1492253" y="6786162"/>
            <a:ext cx="4696082" cy="409575"/>
          </a:xfrm>
          <a:prstGeom prst="rect">
            <a:avLst/>
          </a:prstGeom>
        </p:spPr>
        <p:txBody>
          <a:bodyPr anchor="t" rtlCol="false" tIns="0" lIns="0" bIns="0" rIns="0">
            <a:spAutoFit/>
          </a:bodyPr>
          <a:lstStyle/>
          <a:p>
            <a:pPr algn="l">
              <a:lnSpc>
                <a:spcPts val="3240"/>
              </a:lnSpc>
            </a:pPr>
            <a:r>
              <a:rPr lang="en-US" sz="2700" b="true">
                <a:solidFill>
                  <a:srgbClr val="E6EDF7"/>
                </a:solidFill>
                <a:latin typeface="Source Serif Pro Bold"/>
                <a:ea typeface="Source Serif Pro Bold"/>
                <a:cs typeface="Source Serif Pro Bold"/>
                <a:sym typeface="Source Serif Pro Bold"/>
              </a:rPr>
              <a:t>HTTP</a:t>
            </a:r>
          </a:p>
        </p:txBody>
      </p:sp>
      <p:sp>
        <p:nvSpPr>
          <p:cNvPr name="TextBox 31" id="31"/>
          <p:cNvSpPr txBox="true"/>
          <p:nvPr/>
        </p:nvSpPr>
        <p:spPr>
          <a:xfrm rot="0">
            <a:off x="1492253" y="7264298"/>
            <a:ext cx="4696082" cy="658177"/>
          </a:xfrm>
          <a:prstGeom prst="rect">
            <a:avLst/>
          </a:prstGeom>
        </p:spPr>
        <p:txBody>
          <a:bodyPr anchor="t" rtlCol="false" tIns="0" lIns="0" bIns="0" rIns="0">
            <a:spAutoFit/>
          </a:bodyPr>
          <a:lstStyle/>
          <a:p>
            <a:pPr algn="l">
              <a:lnSpc>
                <a:spcPts val="2632"/>
              </a:lnSpc>
            </a:pPr>
            <a:r>
              <a:rPr lang="en-US" sz="1950">
                <a:solidFill>
                  <a:srgbClr val="9FB0C8"/>
                </a:solidFill>
                <a:latin typeface="Source Serif Pro"/>
                <a:ea typeface="Source Serif Pro"/>
                <a:cs typeface="Source Serif Pro"/>
                <a:sym typeface="Source Serif Pro"/>
              </a:rPr>
              <a:t>GET / delivers the page, CSS and JavaScript.</a:t>
            </a:r>
          </a:p>
        </p:txBody>
      </p:sp>
      <p:grpSp>
        <p:nvGrpSpPr>
          <p:cNvPr name="Group 32" id="32"/>
          <p:cNvGrpSpPr/>
          <p:nvPr/>
        </p:nvGrpSpPr>
        <p:grpSpPr>
          <a:xfrm rot="0">
            <a:off x="6591300" y="5922569"/>
            <a:ext cx="5105400" cy="2840431"/>
            <a:chOff x="0" y="0"/>
            <a:chExt cx="6807200" cy="3787242"/>
          </a:xfrm>
        </p:grpSpPr>
        <p:sp>
          <p:nvSpPr>
            <p:cNvPr name="Freeform 33" id="33"/>
            <p:cNvSpPr/>
            <p:nvPr/>
          </p:nvSpPr>
          <p:spPr>
            <a:xfrm flipH="false" flipV="false" rot="0">
              <a:off x="0" y="0"/>
              <a:ext cx="6807200" cy="3787267"/>
            </a:xfrm>
            <a:custGeom>
              <a:avLst/>
              <a:gdLst/>
              <a:ahLst/>
              <a:cxnLst/>
              <a:rect r="r" b="b" t="t" l="l"/>
              <a:pathLst>
                <a:path h="3787267" w="6807200">
                  <a:moveTo>
                    <a:pt x="0" y="197485"/>
                  </a:moveTo>
                  <a:cubicBezTo>
                    <a:pt x="0" y="88392"/>
                    <a:pt x="88392" y="0"/>
                    <a:pt x="197485" y="0"/>
                  </a:cubicBezTo>
                  <a:lnTo>
                    <a:pt x="6609715" y="0"/>
                  </a:lnTo>
                  <a:cubicBezTo>
                    <a:pt x="6718808" y="0"/>
                    <a:pt x="6807200" y="88392"/>
                    <a:pt x="6807200" y="197485"/>
                  </a:cubicBezTo>
                  <a:lnTo>
                    <a:pt x="6807200" y="3589782"/>
                  </a:lnTo>
                  <a:cubicBezTo>
                    <a:pt x="6807200" y="3698875"/>
                    <a:pt x="6718808" y="3787267"/>
                    <a:pt x="6609715" y="3787267"/>
                  </a:cubicBezTo>
                  <a:lnTo>
                    <a:pt x="197485" y="3787267"/>
                  </a:lnTo>
                  <a:cubicBezTo>
                    <a:pt x="88392" y="3787267"/>
                    <a:pt x="0" y="3698875"/>
                    <a:pt x="0" y="3589782"/>
                  </a:cubicBezTo>
                  <a:close/>
                </a:path>
              </a:pathLst>
            </a:custGeom>
            <a:solidFill>
              <a:srgbClr val="121F36"/>
            </a:solidFill>
            <a:ln w="9525" cap="sq">
              <a:solidFill>
                <a:srgbClr val="223A5E"/>
              </a:solidFill>
              <a:prstDash val="solid"/>
              <a:miter/>
            </a:ln>
          </p:spPr>
        </p:sp>
      </p:grpSp>
      <p:grpSp>
        <p:nvGrpSpPr>
          <p:cNvPr name="Group 34" id="34"/>
          <p:cNvGrpSpPr/>
          <p:nvPr/>
        </p:nvGrpSpPr>
        <p:grpSpPr>
          <a:xfrm rot="0">
            <a:off x="6864353" y="6195612"/>
            <a:ext cx="495300" cy="495300"/>
            <a:chOff x="0" y="0"/>
            <a:chExt cx="660400" cy="660400"/>
          </a:xfrm>
        </p:grpSpPr>
        <p:sp>
          <p:nvSpPr>
            <p:cNvPr name="Freeform 35" id="35" descr="Lightning"/>
            <p:cNvSpPr/>
            <p:nvPr/>
          </p:nvSpPr>
          <p:spPr>
            <a:xfrm flipH="false" flipV="false" rot="0">
              <a:off x="0" y="0"/>
              <a:ext cx="660400" cy="660400"/>
            </a:xfrm>
            <a:custGeom>
              <a:avLst/>
              <a:gdLst/>
              <a:ahLst/>
              <a:cxnLst/>
              <a:rect r="r" b="b" t="t" l="l"/>
              <a:pathLst>
                <a:path h="660400" w="660400">
                  <a:moveTo>
                    <a:pt x="0" y="0"/>
                  </a:moveTo>
                  <a:lnTo>
                    <a:pt x="660400" y="0"/>
                  </a:lnTo>
                  <a:lnTo>
                    <a:pt x="660400" y="660400"/>
                  </a:lnTo>
                  <a:lnTo>
                    <a:pt x="0" y="660400"/>
                  </a:lnTo>
                  <a:lnTo>
                    <a:pt x="0" y="0"/>
                  </a:lnTo>
                  <a:close/>
                </a:path>
              </a:pathLst>
            </a:custGeom>
            <a:blipFill>
              <a:blip r:embed="rId7"/>
              <a:stretch>
                <a:fillRect l="0" t="0" r="0" b="0"/>
              </a:stretch>
            </a:blipFill>
          </p:spPr>
        </p:sp>
      </p:grpSp>
      <p:sp>
        <p:nvSpPr>
          <p:cNvPr name="TextBox 36" id="36"/>
          <p:cNvSpPr txBox="true"/>
          <p:nvPr/>
        </p:nvSpPr>
        <p:spPr>
          <a:xfrm rot="0">
            <a:off x="10655456" y="6245123"/>
            <a:ext cx="768191" cy="306705"/>
          </a:xfrm>
          <a:prstGeom prst="rect">
            <a:avLst/>
          </a:prstGeom>
        </p:spPr>
        <p:txBody>
          <a:bodyPr anchor="t" rtlCol="false" tIns="0" lIns="0" bIns="0" rIns="0">
            <a:spAutoFit/>
          </a:bodyPr>
          <a:lstStyle/>
          <a:p>
            <a:pPr algn="r">
              <a:lnSpc>
                <a:spcPts val="2520"/>
              </a:lnSpc>
            </a:pPr>
            <a:r>
              <a:rPr lang="en-US" sz="1800" b="true">
                <a:solidFill>
                  <a:srgbClr val="FBBF24"/>
                </a:solidFill>
                <a:latin typeface="Source Serif Pro Bold"/>
                <a:ea typeface="Source Serif Pro Bold"/>
                <a:cs typeface="Source Serif Pro Bold"/>
                <a:sym typeface="Source Serif Pro Bold"/>
              </a:rPr>
              <a:t>Unit V</a:t>
            </a:r>
          </a:p>
        </p:txBody>
      </p:sp>
      <p:sp>
        <p:nvSpPr>
          <p:cNvPr name="TextBox 37" id="37"/>
          <p:cNvSpPr txBox="true"/>
          <p:nvPr/>
        </p:nvSpPr>
        <p:spPr>
          <a:xfrm rot="0">
            <a:off x="6864353" y="6786162"/>
            <a:ext cx="4696082" cy="409575"/>
          </a:xfrm>
          <a:prstGeom prst="rect">
            <a:avLst/>
          </a:prstGeom>
        </p:spPr>
        <p:txBody>
          <a:bodyPr anchor="t" rtlCol="false" tIns="0" lIns="0" bIns="0" rIns="0">
            <a:spAutoFit/>
          </a:bodyPr>
          <a:lstStyle/>
          <a:p>
            <a:pPr algn="l">
              <a:lnSpc>
                <a:spcPts val="3240"/>
              </a:lnSpc>
            </a:pPr>
            <a:r>
              <a:rPr lang="en-US" sz="2700" b="true">
                <a:solidFill>
                  <a:srgbClr val="E6EDF7"/>
                </a:solidFill>
                <a:latin typeface="Source Serif Pro Bold"/>
                <a:ea typeface="Source Serif Pro Bold"/>
                <a:cs typeface="Source Serif Pro Bold"/>
                <a:sym typeface="Source Serif Pro Bold"/>
              </a:rPr>
              <a:t>WebSocket</a:t>
            </a:r>
          </a:p>
        </p:txBody>
      </p:sp>
      <p:sp>
        <p:nvSpPr>
          <p:cNvPr name="TextBox 38" id="38"/>
          <p:cNvSpPr txBox="true"/>
          <p:nvPr/>
        </p:nvSpPr>
        <p:spPr>
          <a:xfrm rot="0">
            <a:off x="6864353" y="7264298"/>
            <a:ext cx="4696082" cy="658177"/>
          </a:xfrm>
          <a:prstGeom prst="rect">
            <a:avLst/>
          </a:prstGeom>
        </p:spPr>
        <p:txBody>
          <a:bodyPr anchor="t" rtlCol="false" tIns="0" lIns="0" bIns="0" rIns="0">
            <a:spAutoFit/>
          </a:bodyPr>
          <a:lstStyle/>
          <a:p>
            <a:pPr algn="l">
              <a:lnSpc>
                <a:spcPts val="2632"/>
              </a:lnSpc>
            </a:pPr>
            <a:r>
              <a:rPr lang="en-US" sz="1950">
                <a:solidFill>
                  <a:srgbClr val="9FB0C8"/>
                </a:solidFill>
                <a:latin typeface="Source Serif Pro"/>
                <a:ea typeface="Source Serif Pro"/>
                <a:cs typeface="Source Serif Pro"/>
                <a:sym typeface="Source Serif Pro"/>
              </a:rPr>
              <a:t>One persistent two-way channel, upgraded from HTTP.</a:t>
            </a:r>
          </a:p>
        </p:txBody>
      </p:sp>
      <p:grpSp>
        <p:nvGrpSpPr>
          <p:cNvPr name="Group 39" id="39"/>
          <p:cNvGrpSpPr/>
          <p:nvPr/>
        </p:nvGrpSpPr>
        <p:grpSpPr>
          <a:xfrm rot="0">
            <a:off x="11963400" y="5922569"/>
            <a:ext cx="5105400" cy="2840431"/>
            <a:chOff x="0" y="0"/>
            <a:chExt cx="6807200" cy="3787242"/>
          </a:xfrm>
        </p:grpSpPr>
        <p:sp>
          <p:nvSpPr>
            <p:cNvPr name="Freeform 40" id="40"/>
            <p:cNvSpPr/>
            <p:nvPr/>
          </p:nvSpPr>
          <p:spPr>
            <a:xfrm flipH="false" flipV="false" rot="0">
              <a:off x="0" y="0"/>
              <a:ext cx="6807200" cy="3787267"/>
            </a:xfrm>
            <a:custGeom>
              <a:avLst/>
              <a:gdLst/>
              <a:ahLst/>
              <a:cxnLst/>
              <a:rect r="r" b="b" t="t" l="l"/>
              <a:pathLst>
                <a:path h="3787267" w="6807200">
                  <a:moveTo>
                    <a:pt x="0" y="197485"/>
                  </a:moveTo>
                  <a:cubicBezTo>
                    <a:pt x="0" y="88392"/>
                    <a:pt x="88392" y="0"/>
                    <a:pt x="197485" y="0"/>
                  </a:cubicBezTo>
                  <a:lnTo>
                    <a:pt x="6609715" y="0"/>
                  </a:lnTo>
                  <a:cubicBezTo>
                    <a:pt x="6718808" y="0"/>
                    <a:pt x="6807200" y="88392"/>
                    <a:pt x="6807200" y="197485"/>
                  </a:cubicBezTo>
                  <a:lnTo>
                    <a:pt x="6807200" y="3589782"/>
                  </a:lnTo>
                  <a:cubicBezTo>
                    <a:pt x="6807200" y="3698875"/>
                    <a:pt x="6718808" y="3787267"/>
                    <a:pt x="6609715" y="3787267"/>
                  </a:cubicBezTo>
                  <a:lnTo>
                    <a:pt x="197485" y="3787267"/>
                  </a:lnTo>
                  <a:cubicBezTo>
                    <a:pt x="88392" y="3787267"/>
                    <a:pt x="0" y="3698875"/>
                    <a:pt x="0" y="3589782"/>
                  </a:cubicBezTo>
                  <a:close/>
                </a:path>
              </a:pathLst>
            </a:custGeom>
            <a:solidFill>
              <a:srgbClr val="121F36"/>
            </a:solidFill>
            <a:ln w="9525" cap="sq">
              <a:solidFill>
                <a:srgbClr val="223A5E"/>
              </a:solidFill>
              <a:prstDash val="solid"/>
              <a:miter/>
            </a:ln>
          </p:spPr>
        </p:sp>
      </p:grpSp>
      <p:grpSp>
        <p:nvGrpSpPr>
          <p:cNvPr name="Group 41" id="41"/>
          <p:cNvGrpSpPr/>
          <p:nvPr/>
        </p:nvGrpSpPr>
        <p:grpSpPr>
          <a:xfrm rot="0">
            <a:off x="12236453" y="6195612"/>
            <a:ext cx="495300" cy="495300"/>
            <a:chOff x="0" y="0"/>
            <a:chExt cx="660400" cy="660400"/>
          </a:xfrm>
        </p:grpSpPr>
        <p:sp>
          <p:nvSpPr>
            <p:cNvPr name="Freeform 42" id="42" descr="CheckCircle"/>
            <p:cNvSpPr/>
            <p:nvPr/>
          </p:nvSpPr>
          <p:spPr>
            <a:xfrm flipH="false" flipV="false" rot="0">
              <a:off x="0" y="0"/>
              <a:ext cx="660400" cy="660400"/>
            </a:xfrm>
            <a:custGeom>
              <a:avLst/>
              <a:gdLst/>
              <a:ahLst/>
              <a:cxnLst/>
              <a:rect r="r" b="b" t="t" l="l"/>
              <a:pathLst>
                <a:path h="660400" w="660400">
                  <a:moveTo>
                    <a:pt x="0" y="0"/>
                  </a:moveTo>
                  <a:lnTo>
                    <a:pt x="660400" y="0"/>
                  </a:lnTo>
                  <a:lnTo>
                    <a:pt x="660400" y="660400"/>
                  </a:lnTo>
                  <a:lnTo>
                    <a:pt x="0" y="660400"/>
                  </a:lnTo>
                  <a:lnTo>
                    <a:pt x="0" y="0"/>
                  </a:lnTo>
                  <a:close/>
                </a:path>
              </a:pathLst>
            </a:custGeom>
            <a:blipFill>
              <a:blip r:embed="rId8"/>
              <a:stretch>
                <a:fillRect l="0" t="0" r="0" b="0"/>
              </a:stretch>
            </a:blipFill>
          </p:spPr>
        </p:sp>
      </p:grpSp>
      <p:sp>
        <p:nvSpPr>
          <p:cNvPr name="TextBox 43" id="43"/>
          <p:cNvSpPr txBox="true"/>
          <p:nvPr/>
        </p:nvSpPr>
        <p:spPr>
          <a:xfrm rot="0">
            <a:off x="15911589" y="6245123"/>
            <a:ext cx="884158" cy="306705"/>
          </a:xfrm>
          <a:prstGeom prst="rect">
            <a:avLst/>
          </a:prstGeom>
        </p:spPr>
        <p:txBody>
          <a:bodyPr anchor="t" rtlCol="false" tIns="0" lIns="0" bIns="0" rIns="0">
            <a:spAutoFit/>
          </a:bodyPr>
          <a:lstStyle/>
          <a:p>
            <a:pPr algn="r">
              <a:lnSpc>
                <a:spcPts val="2520"/>
              </a:lnSpc>
            </a:pPr>
            <a:r>
              <a:rPr lang="en-US" sz="1800" b="true">
                <a:solidFill>
                  <a:srgbClr val="FBBF24"/>
                </a:solidFill>
                <a:latin typeface="Source Serif Pro Bold"/>
                <a:ea typeface="Source Serif Pro Bold"/>
                <a:cs typeface="Source Serif Pro Bold"/>
                <a:sym typeface="Source Serif Pro Bold"/>
              </a:rPr>
              <a:t>Unit IV</a:t>
            </a:r>
          </a:p>
        </p:txBody>
      </p:sp>
      <p:sp>
        <p:nvSpPr>
          <p:cNvPr name="TextBox 44" id="44"/>
          <p:cNvSpPr txBox="true"/>
          <p:nvPr/>
        </p:nvSpPr>
        <p:spPr>
          <a:xfrm rot="0">
            <a:off x="12236453" y="6786162"/>
            <a:ext cx="4696082" cy="409575"/>
          </a:xfrm>
          <a:prstGeom prst="rect">
            <a:avLst/>
          </a:prstGeom>
        </p:spPr>
        <p:txBody>
          <a:bodyPr anchor="t" rtlCol="false" tIns="0" lIns="0" bIns="0" rIns="0">
            <a:spAutoFit/>
          </a:bodyPr>
          <a:lstStyle/>
          <a:p>
            <a:pPr algn="l">
              <a:lnSpc>
                <a:spcPts val="3240"/>
              </a:lnSpc>
            </a:pPr>
            <a:r>
              <a:rPr lang="en-US" sz="2700" b="true">
                <a:solidFill>
                  <a:srgbClr val="E6EDF7"/>
                </a:solidFill>
                <a:latin typeface="Source Serif Pro Bold"/>
                <a:ea typeface="Source Serif Pro Bold"/>
                <a:cs typeface="Source Serif Pro Bold"/>
                <a:sym typeface="Source Serif Pro Bold"/>
              </a:rPr>
              <a:t>TCP</a:t>
            </a:r>
          </a:p>
        </p:txBody>
      </p:sp>
      <p:sp>
        <p:nvSpPr>
          <p:cNvPr name="TextBox 45" id="45"/>
          <p:cNvSpPr txBox="true"/>
          <p:nvPr/>
        </p:nvSpPr>
        <p:spPr>
          <a:xfrm rot="0">
            <a:off x="12236453" y="7264298"/>
            <a:ext cx="4696082" cy="658177"/>
          </a:xfrm>
          <a:prstGeom prst="rect">
            <a:avLst/>
          </a:prstGeom>
        </p:spPr>
        <p:txBody>
          <a:bodyPr anchor="t" rtlCol="false" tIns="0" lIns="0" bIns="0" rIns="0">
            <a:spAutoFit/>
          </a:bodyPr>
          <a:lstStyle/>
          <a:p>
            <a:pPr algn="l">
              <a:lnSpc>
                <a:spcPts val="2632"/>
              </a:lnSpc>
            </a:pPr>
            <a:r>
              <a:rPr lang="en-US" sz="1950">
                <a:solidFill>
                  <a:srgbClr val="9FB0C8"/>
                </a:solidFill>
                <a:latin typeface="Source Serif Pro"/>
                <a:ea typeface="Source Serif Pro"/>
                <a:cs typeface="Source Serif Pro"/>
                <a:sym typeface="Source Serif Pro"/>
              </a:rPr>
              <a:t>Reliable, ordered delivery of every message.</a:t>
            </a:r>
          </a:p>
        </p:txBody>
      </p:sp>
      <p:sp>
        <p:nvSpPr>
          <p:cNvPr name="TextBox 46" id="46"/>
          <p:cNvSpPr txBox="true"/>
          <p:nvPr/>
        </p:nvSpPr>
        <p:spPr>
          <a:xfrm rot="0">
            <a:off x="1219200" y="9319317"/>
            <a:ext cx="8414033"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Unit tags refer to the course syllabus · LAN Collaborative Whiteboard</a:t>
            </a:r>
          </a:p>
        </p:txBody>
      </p:sp>
      <p:sp>
        <p:nvSpPr>
          <p:cNvPr name="TextBox 47" id="47"/>
          <p:cNvSpPr txBox="true"/>
          <p:nvPr/>
        </p:nvSpPr>
        <p:spPr>
          <a:xfrm rot="0">
            <a:off x="16794461" y="9319317"/>
            <a:ext cx="350539"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03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1D6FDC"/>
                </a:solidFill>
                <a:latin typeface="Source Serif Pro Bold"/>
                <a:ea typeface="Source Serif Pro Bold"/>
                <a:cs typeface="Source Serif Pro Bold"/>
                <a:sym typeface="Source Serif Pro Bold"/>
              </a:rPr>
              <a:t>03 · LAYERS AT WORK</a:t>
            </a:r>
          </a:p>
        </p:txBody>
      </p:sp>
      <p:sp>
        <p:nvSpPr>
          <p:cNvPr name="TextBox 3" id="3"/>
          <p:cNvSpPr txBox="true"/>
          <p:nvPr/>
        </p:nvSpPr>
        <p:spPr>
          <a:xfrm rot="0">
            <a:off x="1219200" y="1727797"/>
            <a:ext cx="4579838" cy="773430"/>
          </a:xfrm>
          <a:prstGeom prst="rect">
            <a:avLst/>
          </a:prstGeom>
        </p:spPr>
        <p:txBody>
          <a:bodyPr anchor="t" rtlCol="false" tIns="0" lIns="0" bIns="0" rIns="0">
            <a:spAutoFit/>
          </a:bodyPr>
          <a:lstStyle/>
          <a:p>
            <a:pPr algn="l">
              <a:lnSpc>
                <a:spcPts val="5940"/>
              </a:lnSpc>
            </a:pPr>
            <a:r>
              <a:rPr lang="en-US" sz="5400" b="true">
                <a:solidFill>
                  <a:srgbClr val="0B1424"/>
                </a:solidFill>
                <a:latin typeface="Source Serif Pro Bold"/>
                <a:ea typeface="Source Serif Pro Bold"/>
                <a:cs typeface="Source Serif Pro Bold"/>
                <a:sym typeface="Source Serif Pro Bold"/>
              </a:rPr>
              <a:t>Protocol Stack</a:t>
            </a:r>
          </a:p>
        </p:txBody>
      </p:sp>
      <p:grpSp>
        <p:nvGrpSpPr>
          <p:cNvPr name="Group 4" id="4"/>
          <p:cNvGrpSpPr/>
          <p:nvPr/>
        </p:nvGrpSpPr>
        <p:grpSpPr>
          <a:xfrm rot="0">
            <a:off x="1219200" y="2815533"/>
            <a:ext cx="9144000" cy="1082878"/>
            <a:chOff x="0" y="0"/>
            <a:chExt cx="12192000" cy="1443838"/>
          </a:xfrm>
        </p:grpSpPr>
        <p:sp>
          <p:nvSpPr>
            <p:cNvPr name="Freeform 5" id="5"/>
            <p:cNvSpPr/>
            <p:nvPr/>
          </p:nvSpPr>
          <p:spPr>
            <a:xfrm flipH="false" flipV="false" rot="0">
              <a:off x="0" y="0"/>
              <a:ext cx="12192000" cy="1443736"/>
            </a:xfrm>
            <a:custGeom>
              <a:avLst/>
              <a:gdLst/>
              <a:ahLst/>
              <a:cxnLst/>
              <a:rect r="r" b="b" t="t" l="l"/>
              <a:pathLst>
                <a:path h="1443736" w="12192000">
                  <a:moveTo>
                    <a:pt x="0" y="147320"/>
                  </a:moveTo>
                  <a:cubicBezTo>
                    <a:pt x="0" y="65913"/>
                    <a:pt x="65913" y="0"/>
                    <a:pt x="147320" y="0"/>
                  </a:cubicBezTo>
                  <a:lnTo>
                    <a:pt x="12044680" y="0"/>
                  </a:lnTo>
                  <a:cubicBezTo>
                    <a:pt x="12126087" y="0"/>
                    <a:pt x="12192000" y="65913"/>
                    <a:pt x="12192000" y="147320"/>
                  </a:cubicBezTo>
                  <a:lnTo>
                    <a:pt x="12192000" y="1296416"/>
                  </a:lnTo>
                  <a:cubicBezTo>
                    <a:pt x="12192000" y="1377823"/>
                    <a:pt x="12126087" y="1443736"/>
                    <a:pt x="12044680" y="1443736"/>
                  </a:cubicBezTo>
                  <a:lnTo>
                    <a:pt x="147320" y="1443736"/>
                  </a:lnTo>
                  <a:cubicBezTo>
                    <a:pt x="65913" y="1443736"/>
                    <a:pt x="0" y="1377823"/>
                    <a:pt x="0" y="1296416"/>
                  </a:cubicBezTo>
                  <a:close/>
                </a:path>
              </a:pathLst>
            </a:custGeom>
            <a:solidFill>
              <a:srgbClr val="FFFFFF"/>
            </a:solidFill>
            <a:ln w="9525" cap="sq">
              <a:solidFill>
                <a:srgbClr val="D5DEEA"/>
              </a:solidFill>
              <a:prstDash val="solid"/>
              <a:miter/>
            </a:ln>
          </p:spPr>
        </p:sp>
      </p:grpSp>
      <p:sp>
        <p:nvSpPr>
          <p:cNvPr name="TextBox 6" id="6"/>
          <p:cNvSpPr txBox="true"/>
          <p:nvPr/>
        </p:nvSpPr>
        <p:spPr>
          <a:xfrm rot="0">
            <a:off x="1492253" y="2974276"/>
            <a:ext cx="8855840" cy="347853"/>
          </a:xfrm>
          <a:prstGeom prst="rect">
            <a:avLst/>
          </a:prstGeom>
        </p:spPr>
        <p:txBody>
          <a:bodyPr anchor="t" rtlCol="false" tIns="0" lIns="0" bIns="0" rIns="0">
            <a:spAutoFit/>
          </a:bodyPr>
          <a:lstStyle/>
          <a:p>
            <a:pPr algn="l">
              <a:lnSpc>
                <a:spcPts val="2876"/>
              </a:lnSpc>
            </a:pPr>
            <a:r>
              <a:rPr lang="en-US" sz="2054" b="true">
                <a:solidFill>
                  <a:srgbClr val="0B1424"/>
                </a:solidFill>
                <a:latin typeface="Source Serif Pro Bold"/>
                <a:ea typeface="Source Serif Pro Bold"/>
                <a:cs typeface="Source Serif Pro Bold"/>
                <a:sym typeface="Source Serif Pro Bold"/>
              </a:rPr>
              <a:t>Application</a:t>
            </a:r>
          </a:p>
        </p:txBody>
      </p:sp>
      <p:sp>
        <p:nvSpPr>
          <p:cNvPr name="TextBox 7" id="7"/>
          <p:cNvSpPr txBox="true"/>
          <p:nvPr/>
        </p:nvSpPr>
        <p:spPr>
          <a:xfrm rot="0">
            <a:off x="1492253" y="3381175"/>
            <a:ext cx="8855840" cy="281025"/>
          </a:xfrm>
          <a:prstGeom prst="rect">
            <a:avLst/>
          </a:prstGeom>
        </p:spPr>
        <p:txBody>
          <a:bodyPr anchor="t" rtlCol="false" tIns="0" lIns="0" bIns="0" rIns="0">
            <a:spAutoFit/>
          </a:bodyPr>
          <a:lstStyle/>
          <a:p>
            <a:pPr algn="l">
              <a:lnSpc>
                <a:spcPts val="2355"/>
              </a:lnSpc>
            </a:pPr>
            <a:r>
              <a:rPr lang="en-US" sz="1681">
                <a:solidFill>
                  <a:srgbClr val="4A5A73"/>
                </a:solidFill>
                <a:latin typeface="Source Serif Pro"/>
                <a:ea typeface="Source Serif Pro"/>
                <a:cs typeface="Source Serif Pro"/>
                <a:sym typeface="Source Serif Pro"/>
              </a:rPr>
              <a:t>JSON messages: DRAW, ERASE, CLEAR, SYNC</a:t>
            </a:r>
          </a:p>
        </p:txBody>
      </p:sp>
      <p:grpSp>
        <p:nvGrpSpPr>
          <p:cNvPr name="Group 8" id="8"/>
          <p:cNvGrpSpPr/>
          <p:nvPr/>
        </p:nvGrpSpPr>
        <p:grpSpPr>
          <a:xfrm rot="0">
            <a:off x="1219200" y="4031752"/>
            <a:ext cx="9144000" cy="1082773"/>
            <a:chOff x="0" y="0"/>
            <a:chExt cx="12192000" cy="1443698"/>
          </a:xfrm>
        </p:grpSpPr>
        <p:sp>
          <p:nvSpPr>
            <p:cNvPr name="Freeform 9" id="9"/>
            <p:cNvSpPr/>
            <p:nvPr/>
          </p:nvSpPr>
          <p:spPr>
            <a:xfrm flipH="false" flipV="false" rot="0">
              <a:off x="0" y="0"/>
              <a:ext cx="12192000" cy="1443609"/>
            </a:xfrm>
            <a:custGeom>
              <a:avLst/>
              <a:gdLst/>
              <a:ahLst/>
              <a:cxnLst/>
              <a:rect r="r" b="b" t="t" l="l"/>
              <a:pathLst>
                <a:path h="1443609" w="12192000">
                  <a:moveTo>
                    <a:pt x="0" y="147320"/>
                  </a:moveTo>
                  <a:cubicBezTo>
                    <a:pt x="0" y="65913"/>
                    <a:pt x="65913" y="0"/>
                    <a:pt x="147320" y="0"/>
                  </a:cubicBezTo>
                  <a:lnTo>
                    <a:pt x="12044680" y="0"/>
                  </a:lnTo>
                  <a:cubicBezTo>
                    <a:pt x="12126087" y="0"/>
                    <a:pt x="12192000" y="65913"/>
                    <a:pt x="12192000" y="147320"/>
                  </a:cubicBezTo>
                  <a:lnTo>
                    <a:pt x="12192000" y="1296289"/>
                  </a:lnTo>
                  <a:cubicBezTo>
                    <a:pt x="12192000" y="1377696"/>
                    <a:pt x="12126087" y="1443609"/>
                    <a:pt x="12044680" y="1443609"/>
                  </a:cubicBezTo>
                  <a:lnTo>
                    <a:pt x="147320" y="1443609"/>
                  </a:lnTo>
                  <a:cubicBezTo>
                    <a:pt x="65913" y="1443609"/>
                    <a:pt x="0" y="1377696"/>
                    <a:pt x="0" y="1296289"/>
                  </a:cubicBezTo>
                  <a:close/>
                </a:path>
              </a:pathLst>
            </a:custGeom>
            <a:solidFill>
              <a:srgbClr val="FFFFFF"/>
            </a:solidFill>
            <a:ln w="9525" cap="sq">
              <a:solidFill>
                <a:srgbClr val="D5DEEA"/>
              </a:solidFill>
              <a:prstDash val="solid"/>
              <a:miter/>
            </a:ln>
          </p:spPr>
        </p:sp>
      </p:grpSp>
      <p:sp>
        <p:nvSpPr>
          <p:cNvPr name="TextBox 10" id="10"/>
          <p:cNvSpPr txBox="true"/>
          <p:nvPr/>
        </p:nvSpPr>
        <p:spPr>
          <a:xfrm rot="0">
            <a:off x="1492253" y="4190505"/>
            <a:ext cx="8855840" cy="347853"/>
          </a:xfrm>
          <a:prstGeom prst="rect">
            <a:avLst/>
          </a:prstGeom>
        </p:spPr>
        <p:txBody>
          <a:bodyPr anchor="t" rtlCol="false" tIns="0" lIns="0" bIns="0" rIns="0">
            <a:spAutoFit/>
          </a:bodyPr>
          <a:lstStyle/>
          <a:p>
            <a:pPr algn="l">
              <a:lnSpc>
                <a:spcPts val="2876"/>
              </a:lnSpc>
            </a:pPr>
            <a:r>
              <a:rPr lang="en-US" sz="2054" b="true">
                <a:solidFill>
                  <a:srgbClr val="0B1424"/>
                </a:solidFill>
                <a:latin typeface="Source Serif Pro Bold"/>
                <a:ea typeface="Source Serif Pro Bold"/>
                <a:cs typeface="Source Serif Pro Bold"/>
                <a:sym typeface="Source Serif Pro Bold"/>
              </a:rPr>
              <a:t>HTTP and WebSocket</a:t>
            </a:r>
          </a:p>
        </p:txBody>
      </p:sp>
      <p:sp>
        <p:nvSpPr>
          <p:cNvPr name="TextBox 11" id="11"/>
          <p:cNvSpPr txBox="true"/>
          <p:nvPr/>
        </p:nvSpPr>
        <p:spPr>
          <a:xfrm rot="0">
            <a:off x="1492253" y="4597298"/>
            <a:ext cx="8855840" cy="281025"/>
          </a:xfrm>
          <a:prstGeom prst="rect">
            <a:avLst/>
          </a:prstGeom>
        </p:spPr>
        <p:txBody>
          <a:bodyPr anchor="t" rtlCol="false" tIns="0" lIns="0" bIns="0" rIns="0">
            <a:spAutoFit/>
          </a:bodyPr>
          <a:lstStyle/>
          <a:p>
            <a:pPr algn="l">
              <a:lnSpc>
                <a:spcPts val="2355"/>
              </a:lnSpc>
            </a:pPr>
            <a:r>
              <a:rPr lang="en-US" sz="1681">
                <a:solidFill>
                  <a:srgbClr val="4A5A73"/>
                </a:solidFill>
                <a:latin typeface="Source Serif Pro"/>
                <a:ea typeface="Source Serif Pro"/>
                <a:cs typeface="Source Serif Pro"/>
                <a:sym typeface="Source Serif Pro"/>
              </a:rPr>
              <a:t>Page delivery, then the live channel at ws://host:8000/ws</a:t>
            </a:r>
          </a:p>
        </p:txBody>
      </p:sp>
      <p:grpSp>
        <p:nvGrpSpPr>
          <p:cNvPr name="Group 12" id="12"/>
          <p:cNvGrpSpPr/>
          <p:nvPr/>
        </p:nvGrpSpPr>
        <p:grpSpPr>
          <a:xfrm rot="0">
            <a:off x="1219200" y="5247875"/>
            <a:ext cx="9144000" cy="1082878"/>
            <a:chOff x="0" y="0"/>
            <a:chExt cx="12192000" cy="1443838"/>
          </a:xfrm>
        </p:grpSpPr>
        <p:sp>
          <p:nvSpPr>
            <p:cNvPr name="Freeform 13" id="13"/>
            <p:cNvSpPr/>
            <p:nvPr/>
          </p:nvSpPr>
          <p:spPr>
            <a:xfrm flipH="false" flipV="false" rot="0">
              <a:off x="0" y="0"/>
              <a:ext cx="12192000" cy="1443736"/>
            </a:xfrm>
            <a:custGeom>
              <a:avLst/>
              <a:gdLst/>
              <a:ahLst/>
              <a:cxnLst/>
              <a:rect r="r" b="b" t="t" l="l"/>
              <a:pathLst>
                <a:path h="1443736" w="12192000">
                  <a:moveTo>
                    <a:pt x="0" y="147320"/>
                  </a:moveTo>
                  <a:cubicBezTo>
                    <a:pt x="0" y="65913"/>
                    <a:pt x="65913" y="0"/>
                    <a:pt x="147320" y="0"/>
                  </a:cubicBezTo>
                  <a:lnTo>
                    <a:pt x="12044680" y="0"/>
                  </a:lnTo>
                  <a:cubicBezTo>
                    <a:pt x="12126087" y="0"/>
                    <a:pt x="12192000" y="65913"/>
                    <a:pt x="12192000" y="147320"/>
                  </a:cubicBezTo>
                  <a:lnTo>
                    <a:pt x="12192000" y="1296416"/>
                  </a:lnTo>
                  <a:cubicBezTo>
                    <a:pt x="12192000" y="1377823"/>
                    <a:pt x="12126087" y="1443736"/>
                    <a:pt x="12044680" y="1443736"/>
                  </a:cubicBezTo>
                  <a:lnTo>
                    <a:pt x="147320" y="1443736"/>
                  </a:lnTo>
                  <a:cubicBezTo>
                    <a:pt x="65913" y="1443736"/>
                    <a:pt x="0" y="1377823"/>
                    <a:pt x="0" y="1296416"/>
                  </a:cubicBezTo>
                  <a:close/>
                </a:path>
              </a:pathLst>
            </a:custGeom>
            <a:solidFill>
              <a:srgbClr val="FFFFFF"/>
            </a:solidFill>
            <a:ln w="9525" cap="sq">
              <a:solidFill>
                <a:srgbClr val="D5DEEA"/>
              </a:solidFill>
              <a:prstDash val="solid"/>
              <a:miter/>
            </a:ln>
          </p:spPr>
        </p:sp>
      </p:grpSp>
      <p:sp>
        <p:nvSpPr>
          <p:cNvPr name="TextBox 14" id="14"/>
          <p:cNvSpPr txBox="true"/>
          <p:nvPr/>
        </p:nvSpPr>
        <p:spPr>
          <a:xfrm rot="0">
            <a:off x="1492253" y="5406628"/>
            <a:ext cx="8855840" cy="347853"/>
          </a:xfrm>
          <a:prstGeom prst="rect">
            <a:avLst/>
          </a:prstGeom>
        </p:spPr>
        <p:txBody>
          <a:bodyPr anchor="t" rtlCol="false" tIns="0" lIns="0" bIns="0" rIns="0">
            <a:spAutoFit/>
          </a:bodyPr>
          <a:lstStyle/>
          <a:p>
            <a:pPr algn="l">
              <a:lnSpc>
                <a:spcPts val="2876"/>
              </a:lnSpc>
            </a:pPr>
            <a:r>
              <a:rPr lang="en-US" sz="2054" b="true">
                <a:solidFill>
                  <a:srgbClr val="0B1424"/>
                </a:solidFill>
                <a:latin typeface="Source Serif Pro Bold"/>
                <a:ea typeface="Source Serif Pro Bold"/>
                <a:cs typeface="Source Serif Pro Bold"/>
                <a:sym typeface="Source Serif Pro Bold"/>
              </a:rPr>
              <a:t>TCP</a:t>
            </a:r>
          </a:p>
        </p:txBody>
      </p:sp>
      <p:sp>
        <p:nvSpPr>
          <p:cNvPr name="TextBox 15" id="15"/>
          <p:cNvSpPr txBox="true"/>
          <p:nvPr/>
        </p:nvSpPr>
        <p:spPr>
          <a:xfrm rot="0">
            <a:off x="1492253" y="5813527"/>
            <a:ext cx="8855840" cy="281025"/>
          </a:xfrm>
          <a:prstGeom prst="rect">
            <a:avLst/>
          </a:prstGeom>
        </p:spPr>
        <p:txBody>
          <a:bodyPr anchor="t" rtlCol="false" tIns="0" lIns="0" bIns="0" rIns="0">
            <a:spAutoFit/>
          </a:bodyPr>
          <a:lstStyle/>
          <a:p>
            <a:pPr algn="l">
              <a:lnSpc>
                <a:spcPts val="2355"/>
              </a:lnSpc>
            </a:pPr>
            <a:r>
              <a:rPr lang="en-US" sz="1681">
                <a:solidFill>
                  <a:srgbClr val="4A5A73"/>
                </a:solidFill>
                <a:latin typeface="Source Serif Pro"/>
                <a:ea typeface="Source Serif Pro"/>
                <a:cs typeface="Source Serif Pro"/>
                <a:sym typeface="Source Serif Pro"/>
              </a:rPr>
              <a:t>Reliable, ordered byte stream to destination port 8000</a:t>
            </a:r>
          </a:p>
        </p:txBody>
      </p:sp>
      <p:grpSp>
        <p:nvGrpSpPr>
          <p:cNvPr name="Group 16" id="16"/>
          <p:cNvGrpSpPr/>
          <p:nvPr/>
        </p:nvGrpSpPr>
        <p:grpSpPr>
          <a:xfrm rot="0">
            <a:off x="1219200" y="6464103"/>
            <a:ext cx="9144000" cy="1082773"/>
            <a:chOff x="0" y="0"/>
            <a:chExt cx="12192000" cy="1443698"/>
          </a:xfrm>
        </p:grpSpPr>
        <p:sp>
          <p:nvSpPr>
            <p:cNvPr name="Freeform 17" id="17"/>
            <p:cNvSpPr/>
            <p:nvPr/>
          </p:nvSpPr>
          <p:spPr>
            <a:xfrm flipH="false" flipV="false" rot="0">
              <a:off x="0" y="0"/>
              <a:ext cx="12192000" cy="1443609"/>
            </a:xfrm>
            <a:custGeom>
              <a:avLst/>
              <a:gdLst/>
              <a:ahLst/>
              <a:cxnLst/>
              <a:rect r="r" b="b" t="t" l="l"/>
              <a:pathLst>
                <a:path h="1443609" w="12192000">
                  <a:moveTo>
                    <a:pt x="0" y="147320"/>
                  </a:moveTo>
                  <a:cubicBezTo>
                    <a:pt x="0" y="65913"/>
                    <a:pt x="65913" y="0"/>
                    <a:pt x="147320" y="0"/>
                  </a:cubicBezTo>
                  <a:lnTo>
                    <a:pt x="12044680" y="0"/>
                  </a:lnTo>
                  <a:cubicBezTo>
                    <a:pt x="12126087" y="0"/>
                    <a:pt x="12192000" y="65913"/>
                    <a:pt x="12192000" y="147320"/>
                  </a:cubicBezTo>
                  <a:lnTo>
                    <a:pt x="12192000" y="1296289"/>
                  </a:lnTo>
                  <a:cubicBezTo>
                    <a:pt x="12192000" y="1377696"/>
                    <a:pt x="12126087" y="1443609"/>
                    <a:pt x="12044680" y="1443609"/>
                  </a:cubicBezTo>
                  <a:lnTo>
                    <a:pt x="147320" y="1443609"/>
                  </a:lnTo>
                  <a:cubicBezTo>
                    <a:pt x="65913" y="1443609"/>
                    <a:pt x="0" y="1377696"/>
                    <a:pt x="0" y="1296289"/>
                  </a:cubicBezTo>
                  <a:close/>
                </a:path>
              </a:pathLst>
            </a:custGeom>
            <a:solidFill>
              <a:srgbClr val="FFFFFF"/>
            </a:solidFill>
            <a:ln w="9525" cap="sq">
              <a:solidFill>
                <a:srgbClr val="D5DEEA"/>
              </a:solidFill>
              <a:prstDash val="solid"/>
              <a:miter/>
            </a:ln>
          </p:spPr>
        </p:sp>
      </p:grpSp>
      <p:sp>
        <p:nvSpPr>
          <p:cNvPr name="TextBox 18" id="18"/>
          <p:cNvSpPr txBox="true"/>
          <p:nvPr/>
        </p:nvSpPr>
        <p:spPr>
          <a:xfrm rot="0">
            <a:off x="1492253" y="6622847"/>
            <a:ext cx="8855840" cy="347853"/>
          </a:xfrm>
          <a:prstGeom prst="rect">
            <a:avLst/>
          </a:prstGeom>
        </p:spPr>
        <p:txBody>
          <a:bodyPr anchor="t" rtlCol="false" tIns="0" lIns="0" bIns="0" rIns="0">
            <a:spAutoFit/>
          </a:bodyPr>
          <a:lstStyle/>
          <a:p>
            <a:pPr algn="l">
              <a:lnSpc>
                <a:spcPts val="2876"/>
              </a:lnSpc>
            </a:pPr>
            <a:r>
              <a:rPr lang="en-US" sz="2054" b="true">
                <a:solidFill>
                  <a:srgbClr val="0B1424"/>
                </a:solidFill>
                <a:latin typeface="Source Serif Pro Bold"/>
                <a:ea typeface="Source Serif Pro Bold"/>
                <a:cs typeface="Source Serif Pro Bold"/>
                <a:sym typeface="Source Serif Pro Bold"/>
              </a:rPr>
              <a:t>IP</a:t>
            </a:r>
          </a:p>
        </p:txBody>
      </p:sp>
      <p:sp>
        <p:nvSpPr>
          <p:cNvPr name="TextBox 19" id="19"/>
          <p:cNvSpPr txBox="true"/>
          <p:nvPr/>
        </p:nvSpPr>
        <p:spPr>
          <a:xfrm rot="0">
            <a:off x="1492253" y="7029650"/>
            <a:ext cx="8855840" cy="281025"/>
          </a:xfrm>
          <a:prstGeom prst="rect">
            <a:avLst/>
          </a:prstGeom>
        </p:spPr>
        <p:txBody>
          <a:bodyPr anchor="t" rtlCol="false" tIns="0" lIns="0" bIns="0" rIns="0">
            <a:spAutoFit/>
          </a:bodyPr>
          <a:lstStyle/>
          <a:p>
            <a:pPr algn="l">
              <a:lnSpc>
                <a:spcPts val="2355"/>
              </a:lnSpc>
            </a:pPr>
            <a:r>
              <a:rPr lang="en-US" sz="1681">
                <a:solidFill>
                  <a:srgbClr val="4A5A73"/>
                </a:solidFill>
                <a:latin typeface="Source Serif Pro"/>
                <a:ea typeface="Source Serif Pro"/>
                <a:cs typeface="Source Serif Pro"/>
                <a:sym typeface="Source Serif Pro"/>
              </a:rPr>
              <a:t>Host LAN address such as 192.168.x.x; routes packets</a:t>
            </a:r>
          </a:p>
        </p:txBody>
      </p:sp>
      <p:grpSp>
        <p:nvGrpSpPr>
          <p:cNvPr name="Group 20" id="20"/>
          <p:cNvGrpSpPr/>
          <p:nvPr/>
        </p:nvGrpSpPr>
        <p:grpSpPr>
          <a:xfrm rot="0">
            <a:off x="1219200" y="7680227"/>
            <a:ext cx="9144000" cy="1082773"/>
            <a:chOff x="0" y="0"/>
            <a:chExt cx="12192000" cy="1443698"/>
          </a:xfrm>
        </p:grpSpPr>
        <p:sp>
          <p:nvSpPr>
            <p:cNvPr name="Freeform 21" id="21"/>
            <p:cNvSpPr/>
            <p:nvPr/>
          </p:nvSpPr>
          <p:spPr>
            <a:xfrm flipH="false" flipV="false" rot="0">
              <a:off x="0" y="0"/>
              <a:ext cx="12192000" cy="1443609"/>
            </a:xfrm>
            <a:custGeom>
              <a:avLst/>
              <a:gdLst/>
              <a:ahLst/>
              <a:cxnLst/>
              <a:rect r="r" b="b" t="t" l="l"/>
              <a:pathLst>
                <a:path h="1443609" w="12192000">
                  <a:moveTo>
                    <a:pt x="0" y="147320"/>
                  </a:moveTo>
                  <a:cubicBezTo>
                    <a:pt x="0" y="65913"/>
                    <a:pt x="65913" y="0"/>
                    <a:pt x="147320" y="0"/>
                  </a:cubicBezTo>
                  <a:lnTo>
                    <a:pt x="12044680" y="0"/>
                  </a:lnTo>
                  <a:cubicBezTo>
                    <a:pt x="12126087" y="0"/>
                    <a:pt x="12192000" y="65913"/>
                    <a:pt x="12192000" y="147320"/>
                  </a:cubicBezTo>
                  <a:lnTo>
                    <a:pt x="12192000" y="1296289"/>
                  </a:lnTo>
                  <a:cubicBezTo>
                    <a:pt x="12192000" y="1377696"/>
                    <a:pt x="12126087" y="1443609"/>
                    <a:pt x="12044680" y="1443609"/>
                  </a:cubicBezTo>
                  <a:lnTo>
                    <a:pt x="147320" y="1443609"/>
                  </a:lnTo>
                  <a:cubicBezTo>
                    <a:pt x="65913" y="1443609"/>
                    <a:pt x="0" y="1377696"/>
                    <a:pt x="0" y="1296289"/>
                  </a:cubicBezTo>
                  <a:close/>
                </a:path>
              </a:pathLst>
            </a:custGeom>
            <a:solidFill>
              <a:srgbClr val="FFFFFF"/>
            </a:solidFill>
            <a:ln w="9525" cap="sq">
              <a:solidFill>
                <a:srgbClr val="D5DEEA"/>
              </a:solidFill>
              <a:prstDash val="solid"/>
              <a:miter/>
            </a:ln>
          </p:spPr>
        </p:sp>
      </p:grpSp>
      <p:sp>
        <p:nvSpPr>
          <p:cNvPr name="TextBox 22" id="22"/>
          <p:cNvSpPr txBox="true"/>
          <p:nvPr/>
        </p:nvSpPr>
        <p:spPr>
          <a:xfrm rot="0">
            <a:off x="1492253" y="7838980"/>
            <a:ext cx="8855840" cy="347853"/>
          </a:xfrm>
          <a:prstGeom prst="rect">
            <a:avLst/>
          </a:prstGeom>
        </p:spPr>
        <p:txBody>
          <a:bodyPr anchor="t" rtlCol="false" tIns="0" lIns="0" bIns="0" rIns="0">
            <a:spAutoFit/>
          </a:bodyPr>
          <a:lstStyle/>
          <a:p>
            <a:pPr algn="l">
              <a:lnSpc>
                <a:spcPts val="2876"/>
              </a:lnSpc>
            </a:pPr>
            <a:r>
              <a:rPr lang="en-US" sz="2054" b="true">
                <a:solidFill>
                  <a:srgbClr val="0B1424"/>
                </a:solidFill>
                <a:latin typeface="Source Serif Pro Bold"/>
                <a:ea typeface="Source Serif Pro Bold"/>
                <a:cs typeface="Source Serif Pro Bold"/>
                <a:sym typeface="Source Serif Pro Bold"/>
              </a:rPr>
              <a:t>Link: Wi-Fi or Ethernet</a:t>
            </a:r>
          </a:p>
        </p:txBody>
      </p:sp>
      <p:sp>
        <p:nvSpPr>
          <p:cNvPr name="TextBox 23" id="23"/>
          <p:cNvSpPr txBox="true"/>
          <p:nvPr/>
        </p:nvSpPr>
        <p:spPr>
          <a:xfrm rot="0">
            <a:off x="1492253" y="8245773"/>
            <a:ext cx="8855840" cy="281025"/>
          </a:xfrm>
          <a:prstGeom prst="rect">
            <a:avLst/>
          </a:prstGeom>
        </p:spPr>
        <p:txBody>
          <a:bodyPr anchor="t" rtlCol="false" tIns="0" lIns="0" bIns="0" rIns="0">
            <a:spAutoFit/>
          </a:bodyPr>
          <a:lstStyle/>
          <a:p>
            <a:pPr algn="l">
              <a:lnSpc>
                <a:spcPts val="2355"/>
              </a:lnSpc>
            </a:pPr>
            <a:r>
              <a:rPr lang="en-US" sz="1681">
                <a:solidFill>
                  <a:srgbClr val="4A5A73"/>
                </a:solidFill>
                <a:latin typeface="Source Serif Pro"/>
                <a:ea typeface="Source Serif Pro"/>
                <a:cs typeface="Source Serif Pro"/>
                <a:sym typeface="Source Serif Pro"/>
              </a:rPr>
              <a:t>Frames over the access point or switch (CSMA/CA on Wi-Fi)</a:t>
            </a:r>
          </a:p>
        </p:txBody>
      </p:sp>
      <p:grpSp>
        <p:nvGrpSpPr>
          <p:cNvPr name="Group 24" id="24"/>
          <p:cNvGrpSpPr/>
          <p:nvPr/>
        </p:nvGrpSpPr>
        <p:grpSpPr>
          <a:xfrm rot="0">
            <a:off x="10896600" y="2815533"/>
            <a:ext cx="6172200" cy="5947467"/>
            <a:chOff x="0" y="0"/>
            <a:chExt cx="8229600" cy="7929956"/>
          </a:xfrm>
        </p:grpSpPr>
        <p:sp>
          <p:nvSpPr>
            <p:cNvPr name="Freeform 25" id="25"/>
            <p:cNvSpPr/>
            <p:nvPr/>
          </p:nvSpPr>
          <p:spPr>
            <a:xfrm flipH="false" flipV="false" rot="0">
              <a:off x="0" y="0"/>
              <a:ext cx="8229600" cy="7930007"/>
            </a:xfrm>
            <a:custGeom>
              <a:avLst/>
              <a:gdLst/>
              <a:ahLst/>
              <a:cxnLst/>
              <a:rect r="r" b="b" t="t" l="l"/>
              <a:pathLst>
                <a:path h="7930007" w="8229600">
                  <a:moveTo>
                    <a:pt x="0" y="254000"/>
                  </a:moveTo>
                  <a:cubicBezTo>
                    <a:pt x="0" y="113665"/>
                    <a:pt x="113665" y="0"/>
                    <a:pt x="254000" y="0"/>
                  </a:cubicBezTo>
                  <a:lnTo>
                    <a:pt x="7975600" y="0"/>
                  </a:lnTo>
                  <a:cubicBezTo>
                    <a:pt x="8115935" y="0"/>
                    <a:pt x="8229600" y="113665"/>
                    <a:pt x="8229600" y="254000"/>
                  </a:cubicBezTo>
                  <a:lnTo>
                    <a:pt x="8229600" y="7676007"/>
                  </a:lnTo>
                  <a:cubicBezTo>
                    <a:pt x="8229600" y="7816342"/>
                    <a:pt x="8115935" y="7930007"/>
                    <a:pt x="7975600" y="7930007"/>
                  </a:cubicBezTo>
                  <a:lnTo>
                    <a:pt x="254000" y="7930007"/>
                  </a:lnTo>
                  <a:cubicBezTo>
                    <a:pt x="113665" y="7930007"/>
                    <a:pt x="0" y="7816342"/>
                    <a:pt x="0" y="7676007"/>
                  </a:cubicBezTo>
                  <a:close/>
                </a:path>
              </a:pathLst>
            </a:custGeom>
            <a:solidFill>
              <a:srgbClr val="0B1424"/>
            </a:solidFill>
          </p:spPr>
        </p:sp>
      </p:grpSp>
      <p:sp>
        <p:nvSpPr>
          <p:cNvPr name="TextBox 26" id="26"/>
          <p:cNvSpPr txBox="true"/>
          <p:nvPr/>
        </p:nvSpPr>
        <p:spPr>
          <a:xfrm rot="0">
            <a:off x="11315700" y="3930948"/>
            <a:ext cx="5494020" cy="331470"/>
          </a:xfrm>
          <a:prstGeom prst="rect">
            <a:avLst/>
          </a:prstGeom>
        </p:spPr>
        <p:txBody>
          <a:bodyPr anchor="t" rtlCol="false" tIns="0" lIns="0" bIns="0" rIns="0">
            <a:spAutoFit/>
          </a:bodyPr>
          <a:lstStyle/>
          <a:p>
            <a:pPr algn="l">
              <a:lnSpc>
                <a:spcPts val="2729"/>
              </a:lnSpc>
            </a:pPr>
            <a:r>
              <a:rPr lang="en-US" b="true" sz="1950" spc="225">
                <a:solidFill>
                  <a:srgbClr val="38BDF8"/>
                </a:solidFill>
                <a:latin typeface="Source Serif Pro Bold"/>
                <a:ea typeface="Source Serif Pro Bold"/>
                <a:cs typeface="Source Serif Pro Bold"/>
                <a:sym typeface="Source Serif Pro Bold"/>
              </a:rPr>
              <a:t>ENCAPSULATION OF ONE STROKE</a:t>
            </a:r>
          </a:p>
        </p:txBody>
      </p:sp>
      <p:sp>
        <p:nvSpPr>
          <p:cNvPr name="TextBox 27" id="27"/>
          <p:cNvSpPr txBox="true"/>
          <p:nvPr/>
        </p:nvSpPr>
        <p:spPr>
          <a:xfrm rot="0">
            <a:off x="11315700" y="4487170"/>
            <a:ext cx="5494020" cy="2114550"/>
          </a:xfrm>
          <a:prstGeom prst="rect">
            <a:avLst/>
          </a:prstGeom>
        </p:spPr>
        <p:txBody>
          <a:bodyPr anchor="t" rtlCol="false" tIns="0" lIns="0" bIns="0" rIns="0">
            <a:spAutoFit/>
          </a:bodyPr>
          <a:lstStyle/>
          <a:p>
            <a:pPr algn="l">
              <a:lnSpc>
                <a:spcPts val="3375"/>
              </a:lnSpc>
            </a:pPr>
            <a:r>
              <a:rPr lang="en-US" sz="2250">
                <a:solidFill>
                  <a:srgbClr val="E6EDF7"/>
                </a:solidFill>
                <a:latin typeface="Source Serif Pro"/>
                <a:ea typeface="Source Serif Pro"/>
                <a:cs typeface="Source Serif Pro"/>
                <a:sym typeface="Source Serif Pro"/>
              </a:rPr>
              <a:t>JSON message</a:t>
            </a:r>
          </a:p>
          <a:p>
            <a:pPr algn="l">
              <a:lnSpc>
                <a:spcPts val="3375"/>
              </a:lnSpc>
            </a:pPr>
            <a:r>
              <a:rPr lang="en-US" sz="2250">
                <a:solidFill>
                  <a:srgbClr val="E6EDF7"/>
                </a:solidFill>
                <a:latin typeface="Source Serif Pro"/>
                <a:ea typeface="Source Serif Pro"/>
                <a:cs typeface="Source Serif Pro"/>
                <a:sym typeface="Source Serif Pro"/>
              </a:rPr>
              <a:t>→ WebSocket frame</a:t>
            </a:r>
          </a:p>
          <a:p>
            <a:pPr algn="l">
              <a:lnSpc>
                <a:spcPts val="3375"/>
              </a:lnSpc>
            </a:pPr>
            <a:r>
              <a:rPr lang="en-US" sz="2250">
                <a:solidFill>
                  <a:srgbClr val="E6EDF7"/>
                </a:solidFill>
                <a:latin typeface="Source Serif Pro"/>
                <a:ea typeface="Source Serif Pro"/>
                <a:cs typeface="Source Serif Pro"/>
                <a:sym typeface="Source Serif Pro"/>
              </a:rPr>
              <a:t>→ TCP segment</a:t>
            </a:r>
          </a:p>
          <a:p>
            <a:pPr algn="l">
              <a:lnSpc>
                <a:spcPts val="3375"/>
              </a:lnSpc>
            </a:pPr>
            <a:r>
              <a:rPr lang="en-US" sz="2250">
                <a:solidFill>
                  <a:srgbClr val="E6EDF7"/>
                </a:solidFill>
                <a:latin typeface="Source Serif Pro"/>
                <a:ea typeface="Source Serif Pro"/>
                <a:cs typeface="Source Serif Pro"/>
                <a:sym typeface="Source Serif Pro"/>
              </a:rPr>
              <a:t>→ IP packet</a:t>
            </a:r>
          </a:p>
          <a:p>
            <a:pPr algn="l">
              <a:lnSpc>
                <a:spcPts val="3375"/>
              </a:lnSpc>
            </a:pPr>
            <a:r>
              <a:rPr lang="en-US" sz="2250">
                <a:solidFill>
                  <a:srgbClr val="E6EDF7"/>
                </a:solidFill>
                <a:latin typeface="Source Serif Pro"/>
                <a:ea typeface="Source Serif Pro"/>
                <a:cs typeface="Source Serif Pro"/>
                <a:sym typeface="Source Serif Pro"/>
              </a:rPr>
              <a:t>→ Wi-Fi or Ethernet frame</a:t>
            </a:r>
          </a:p>
        </p:txBody>
      </p:sp>
      <p:sp>
        <p:nvSpPr>
          <p:cNvPr name="TextBox 28" id="28"/>
          <p:cNvSpPr txBox="true"/>
          <p:nvPr/>
        </p:nvSpPr>
        <p:spPr>
          <a:xfrm rot="0">
            <a:off x="11315700" y="6877945"/>
            <a:ext cx="5494020" cy="674370"/>
          </a:xfrm>
          <a:prstGeom prst="rect">
            <a:avLst/>
          </a:prstGeom>
        </p:spPr>
        <p:txBody>
          <a:bodyPr anchor="t" rtlCol="false" tIns="0" lIns="0" bIns="0" rIns="0">
            <a:spAutoFit/>
          </a:bodyPr>
          <a:lstStyle/>
          <a:p>
            <a:pPr algn="l">
              <a:lnSpc>
                <a:spcPts val="2729"/>
              </a:lnSpc>
            </a:pPr>
            <a:r>
              <a:rPr lang="en-US" sz="1950">
                <a:solidFill>
                  <a:srgbClr val="9FB0C8"/>
                </a:solidFill>
                <a:latin typeface="Source Serif Pro"/>
                <a:ea typeface="Source Serif Pro"/>
                <a:cs typeface="Source Serif Pro"/>
                <a:sym typeface="Source Serif Pro"/>
              </a:rPr>
              <a:t>TCP keeps segments in order, so strokes draw in the sequence they were made.</a:t>
            </a:r>
          </a:p>
        </p:txBody>
      </p:sp>
      <p:sp>
        <p:nvSpPr>
          <p:cNvPr name="TextBox 29" id="29"/>
          <p:cNvSpPr txBox="true"/>
          <p:nvPr/>
        </p:nvSpPr>
        <p:spPr>
          <a:xfrm rot="0">
            <a:off x="1219200" y="9319317"/>
            <a:ext cx="638757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LAN Collaborative Whiteboard · Computer Networks</a:t>
            </a:r>
          </a:p>
        </p:txBody>
      </p:sp>
      <p:sp>
        <p:nvSpPr>
          <p:cNvPr name="TextBox 30" id="30"/>
          <p:cNvSpPr txBox="true"/>
          <p:nvPr/>
        </p:nvSpPr>
        <p:spPr>
          <a:xfrm rot="0">
            <a:off x="16794461" y="9319317"/>
            <a:ext cx="35053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1424"/>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38BDF8"/>
                </a:solidFill>
                <a:latin typeface="Source Serif Pro Bold"/>
                <a:ea typeface="Source Serif Pro Bold"/>
                <a:cs typeface="Source Serif Pro Bold"/>
                <a:sym typeface="Source Serif Pro Bold"/>
              </a:rPr>
              <a:t>04 · HOW IT FITS TOGETHER</a:t>
            </a:r>
          </a:p>
        </p:txBody>
      </p:sp>
      <p:sp>
        <p:nvSpPr>
          <p:cNvPr name="TextBox 3" id="3"/>
          <p:cNvSpPr txBox="true"/>
          <p:nvPr/>
        </p:nvSpPr>
        <p:spPr>
          <a:xfrm rot="0">
            <a:off x="1219200" y="1727797"/>
            <a:ext cx="6479481" cy="773430"/>
          </a:xfrm>
          <a:prstGeom prst="rect">
            <a:avLst/>
          </a:prstGeom>
        </p:spPr>
        <p:txBody>
          <a:bodyPr anchor="t" rtlCol="false" tIns="0" lIns="0" bIns="0" rIns="0">
            <a:spAutoFit/>
          </a:bodyPr>
          <a:lstStyle/>
          <a:p>
            <a:pPr algn="l">
              <a:lnSpc>
                <a:spcPts val="5940"/>
              </a:lnSpc>
            </a:pPr>
            <a:r>
              <a:rPr lang="en-US" sz="5400" b="true">
                <a:solidFill>
                  <a:srgbClr val="E6EDF7"/>
                </a:solidFill>
                <a:latin typeface="Source Serif Pro Bold"/>
                <a:ea typeface="Source Serif Pro Bold"/>
                <a:cs typeface="Source Serif Pro Bold"/>
                <a:sym typeface="Source Serif Pro Bold"/>
              </a:rPr>
              <a:t>System Architecture</a:t>
            </a:r>
          </a:p>
        </p:txBody>
      </p:sp>
      <p:grpSp>
        <p:nvGrpSpPr>
          <p:cNvPr name="Group 4" id="4"/>
          <p:cNvGrpSpPr/>
          <p:nvPr/>
        </p:nvGrpSpPr>
        <p:grpSpPr>
          <a:xfrm rot="0">
            <a:off x="1219200" y="2777433"/>
            <a:ext cx="9525000" cy="5985567"/>
            <a:chOff x="0" y="0"/>
            <a:chExt cx="12700000" cy="7980756"/>
          </a:xfrm>
        </p:grpSpPr>
        <p:sp>
          <p:nvSpPr>
            <p:cNvPr name="Freeform 5" id="5"/>
            <p:cNvSpPr/>
            <p:nvPr/>
          </p:nvSpPr>
          <p:spPr>
            <a:xfrm flipH="false" flipV="false" rot="0">
              <a:off x="0" y="0"/>
              <a:ext cx="12700000" cy="7980680"/>
            </a:xfrm>
            <a:custGeom>
              <a:avLst/>
              <a:gdLst/>
              <a:ahLst/>
              <a:cxnLst/>
              <a:rect r="r" b="b" t="t" l="l"/>
              <a:pathLst>
                <a:path h="7980680" w="12700000">
                  <a:moveTo>
                    <a:pt x="0" y="254000"/>
                  </a:moveTo>
                  <a:cubicBezTo>
                    <a:pt x="0" y="113792"/>
                    <a:pt x="113792" y="0"/>
                    <a:pt x="254000" y="0"/>
                  </a:cubicBezTo>
                  <a:lnTo>
                    <a:pt x="12446000" y="0"/>
                  </a:lnTo>
                  <a:cubicBezTo>
                    <a:pt x="12586335" y="0"/>
                    <a:pt x="12700000" y="113792"/>
                    <a:pt x="12700000" y="254000"/>
                  </a:cubicBezTo>
                  <a:lnTo>
                    <a:pt x="12700000" y="7726680"/>
                  </a:lnTo>
                  <a:cubicBezTo>
                    <a:pt x="12700000" y="7867015"/>
                    <a:pt x="12586208" y="7980680"/>
                    <a:pt x="12446000" y="7980680"/>
                  </a:cubicBezTo>
                  <a:lnTo>
                    <a:pt x="254000" y="7980680"/>
                  </a:lnTo>
                  <a:cubicBezTo>
                    <a:pt x="113665" y="7980680"/>
                    <a:pt x="0" y="7866888"/>
                    <a:pt x="0" y="7726680"/>
                  </a:cubicBezTo>
                  <a:close/>
                </a:path>
              </a:pathLst>
            </a:custGeom>
            <a:solidFill>
              <a:srgbClr val="FFFFFF"/>
            </a:solidFill>
          </p:spPr>
        </p:sp>
      </p:grpSp>
      <p:grpSp>
        <p:nvGrpSpPr>
          <p:cNvPr name="Group 6" id="6"/>
          <p:cNvGrpSpPr/>
          <p:nvPr/>
        </p:nvGrpSpPr>
        <p:grpSpPr>
          <a:xfrm rot="0">
            <a:off x="1409700" y="3103169"/>
            <a:ext cx="9144000" cy="5334000"/>
            <a:chOff x="0" y="0"/>
            <a:chExt cx="12192000" cy="7112000"/>
          </a:xfrm>
        </p:grpSpPr>
        <p:sp>
          <p:nvSpPr>
            <p:cNvPr name="Freeform 7" id="7" descr="Architecture diagram: three browser clients connect over HTTP and WebSocket to a FastAPI and Uvicorn server on port 8000, which keeps connected_clients and canvas_operations in memory"/>
            <p:cNvSpPr/>
            <p:nvPr/>
          </p:nvSpPr>
          <p:spPr>
            <a:xfrm flipH="false" flipV="false" rot="0">
              <a:off x="0" y="0"/>
              <a:ext cx="12192000" cy="7112000"/>
            </a:xfrm>
            <a:custGeom>
              <a:avLst/>
              <a:gdLst/>
              <a:ahLst/>
              <a:cxnLst/>
              <a:rect r="r" b="b" t="t" l="l"/>
              <a:pathLst>
                <a:path h="7112000" w="12192000">
                  <a:moveTo>
                    <a:pt x="0" y="0"/>
                  </a:moveTo>
                  <a:lnTo>
                    <a:pt x="12192000" y="0"/>
                  </a:lnTo>
                  <a:lnTo>
                    <a:pt x="12192000" y="7112000"/>
                  </a:lnTo>
                  <a:lnTo>
                    <a:pt x="0" y="7112000"/>
                  </a:lnTo>
                  <a:lnTo>
                    <a:pt x="0" y="0"/>
                  </a:lnTo>
                  <a:close/>
                </a:path>
              </a:pathLst>
            </a:custGeom>
            <a:blipFill>
              <a:blip r:embed="rId3"/>
              <a:stretch>
                <a:fillRect l="0" t="1913" r="0" b="1913"/>
              </a:stretch>
            </a:blipFill>
          </p:spPr>
        </p:sp>
      </p:grpSp>
      <p:grpSp>
        <p:nvGrpSpPr>
          <p:cNvPr name="Group 8" id="8"/>
          <p:cNvGrpSpPr/>
          <p:nvPr/>
        </p:nvGrpSpPr>
        <p:grpSpPr>
          <a:xfrm rot="0">
            <a:off x="11163300" y="2777433"/>
            <a:ext cx="5905500" cy="1868186"/>
            <a:chOff x="0" y="0"/>
            <a:chExt cx="7874000" cy="2490914"/>
          </a:xfrm>
        </p:grpSpPr>
        <p:sp>
          <p:nvSpPr>
            <p:cNvPr name="Freeform 9" id="9"/>
            <p:cNvSpPr/>
            <p:nvPr/>
          </p:nvSpPr>
          <p:spPr>
            <a:xfrm flipH="false" flipV="false" rot="0">
              <a:off x="0" y="0"/>
              <a:ext cx="7874000" cy="2490978"/>
            </a:xfrm>
            <a:custGeom>
              <a:avLst/>
              <a:gdLst/>
              <a:ahLst/>
              <a:cxnLst/>
              <a:rect r="r" b="b" t="t" l="l"/>
              <a:pathLst>
                <a:path h="2490978" w="7874000">
                  <a:moveTo>
                    <a:pt x="0" y="197866"/>
                  </a:moveTo>
                  <a:cubicBezTo>
                    <a:pt x="0" y="88519"/>
                    <a:pt x="88519" y="0"/>
                    <a:pt x="197866" y="0"/>
                  </a:cubicBezTo>
                  <a:lnTo>
                    <a:pt x="7676134" y="0"/>
                  </a:lnTo>
                  <a:cubicBezTo>
                    <a:pt x="7785481" y="0"/>
                    <a:pt x="7874000" y="88519"/>
                    <a:pt x="7874000" y="197866"/>
                  </a:cubicBezTo>
                  <a:lnTo>
                    <a:pt x="7874000" y="2293112"/>
                  </a:lnTo>
                  <a:cubicBezTo>
                    <a:pt x="7874000" y="2402332"/>
                    <a:pt x="7785481" y="2490978"/>
                    <a:pt x="7676134" y="2490978"/>
                  </a:cubicBezTo>
                  <a:lnTo>
                    <a:pt x="197866" y="2490978"/>
                  </a:lnTo>
                  <a:cubicBezTo>
                    <a:pt x="88519" y="2490978"/>
                    <a:pt x="0" y="2402332"/>
                    <a:pt x="0" y="2293112"/>
                  </a:cubicBezTo>
                  <a:close/>
                </a:path>
              </a:pathLst>
            </a:custGeom>
            <a:solidFill>
              <a:srgbClr val="121F36"/>
            </a:solidFill>
            <a:ln w="9525" cap="sq">
              <a:solidFill>
                <a:srgbClr val="223A5E"/>
              </a:solidFill>
              <a:prstDash val="solid"/>
              <a:miter/>
            </a:ln>
          </p:spPr>
        </p:sp>
      </p:grpSp>
      <p:sp>
        <p:nvSpPr>
          <p:cNvPr name="TextBox 10" id="10"/>
          <p:cNvSpPr txBox="true"/>
          <p:nvPr/>
        </p:nvSpPr>
        <p:spPr>
          <a:xfrm rot="0">
            <a:off x="11417303" y="3031436"/>
            <a:ext cx="5559428" cy="403822"/>
          </a:xfrm>
          <a:prstGeom prst="rect">
            <a:avLst/>
          </a:prstGeom>
        </p:spPr>
        <p:txBody>
          <a:bodyPr anchor="t" rtlCol="false" tIns="0" lIns="0" bIns="0" rIns="0">
            <a:spAutoFit/>
          </a:bodyPr>
          <a:lstStyle/>
          <a:p>
            <a:pPr algn="l">
              <a:lnSpc>
                <a:spcPts val="2879"/>
              </a:lnSpc>
            </a:pPr>
            <a:r>
              <a:rPr lang="en-US" sz="2400" b="true">
                <a:solidFill>
                  <a:srgbClr val="38BDF8"/>
                </a:solidFill>
                <a:latin typeface="IBM Plex Sans Bold"/>
                <a:ea typeface="IBM Plex Sans Bold"/>
                <a:cs typeface="IBM Plex Sans Bold"/>
                <a:sym typeface="IBM Plex Sans Bold"/>
              </a:rPr>
              <a:t>Browser clients</a:t>
            </a:r>
          </a:p>
        </p:txBody>
      </p:sp>
      <p:sp>
        <p:nvSpPr>
          <p:cNvPr name="TextBox 11" id="11"/>
          <p:cNvSpPr txBox="true"/>
          <p:nvPr/>
        </p:nvSpPr>
        <p:spPr>
          <a:xfrm rot="0">
            <a:off x="11417303" y="3444773"/>
            <a:ext cx="5559428" cy="735216"/>
          </a:xfrm>
          <a:prstGeom prst="rect">
            <a:avLst/>
          </a:prstGeom>
        </p:spPr>
        <p:txBody>
          <a:bodyPr anchor="t" rtlCol="false" tIns="0" lIns="0" bIns="0" rIns="0">
            <a:spAutoFit/>
          </a:bodyPr>
          <a:lstStyle/>
          <a:p>
            <a:pPr algn="l">
              <a:lnSpc>
                <a:spcPts val="2632"/>
              </a:lnSpc>
            </a:pPr>
            <a:r>
              <a:rPr lang="en-US" sz="1950">
                <a:solidFill>
                  <a:srgbClr val="9FB0C8"/>
                </a:solidFill>
                <a:latin typeface="IBM Plex Sans"/>
                <a:ea typeface="IBM Plex Sans"/>
                <a:cs typeface="IBM Plex Sans"/>
                <a:sym typeface="IBM Plex Sans"/>
              </a:rPr>
              <a:t>HTML, Canvas and JavaScript capture pointer events and render what they receive.</a:t>
            </a:r>
          </a:p>
        </p:txBody>
      </p:sp>
      <p:grpSp>
        <p:nvGrpSpPr>
          <p:cNvPr name="Group 12" id="12"/>
          <p:cNvGrpSpPr/>
          <p:nvPr/>
        </p:nvGrpSpPr>
        <p:grpSpPr>
          <a:xfrm rot="0">
            <a:off x="11163300" y="4836119"/>
            <a:ext cx="5905500" cy="1868186"/>
            <a:chOff x="0" y="0"/>
            <a:chExt cx="7874000" cy="2490914"/>
          </a:xfrm>
        </p:grpSpPr>
        <p:sp>
          <p:nvSpPr>
            <p:cNvPr name="Freeform 13" id="13"/>
            <p:cNvSpPr/>
            <p:nvPr/>
          </p:nvSpPr>
          <p:spPr>
            <a:xfrm flipH="false" flipV="false" rot="0">
              <a:off x="0" y="0"/>
              <a:ext cx="7874000" cy="2490978"/>
            </a:xfrm>
            <a:custGeom>
              <a:avLst/>
              <a:gdLst/>
              <a:ahLst/>
              <a:cxnLst/>
              <a:rect r="r" b="b" t="t" l="l"/>
              <a:pathLst>
                <a:path h="2490978" w="7874000">
                  <a:moveTo>
                    <a:pt x="0" y="197866"/>
                  </a:moveTo>
                  <a:cubicBezTo>
                    <a:pt x="0" y="88519"/>
                    <a:pt x="88519" y="0"/>
                    <a:pt x="197866" y="0"/>
                  </a:cubicBezTo>
                  <a:lnTo>
                    <a:pt x="7676134" y="0"/>
                  </a:lnTo>
                  <a:cubicBezTo>
                    <a:pt x="7785481" y="0"/>
                    <a:pt x="7874000" y="88519"/>
                    <a:pt x="7874000" y="197866"/>
                  </a:cubicBezTo>
                  <a:lnTo>
                    <a:pt x="7874000" y="2293112"/>
                  </a:lnTo>
                  <a:cubicBezTo>
                    <a:pt x="7874000" y="2402332"/>
                    <a:pt x="7785481" y="2490978"/>
                    <a:pt x="7676134" y="2490978"/>
                  </a:cubicBezTo>
                  <a:lnTo>
                    <a:pt x="197866" y="2490978"/>
                  </a:lnTo>
                  <a:cubicBezTo>
                    <a:pt x="88519" y="2490978"/>
                    <a:pt x="0" y="2402332"/>
                    <a:pt x="0" y="2293112"/>
                  </a:cubicBezTo>
                  <a:close/>
                </a:path>
              </a:pathLst>
            </a:custGeom>
            <a:solidFill>
              <a:srgbClr val="121F36"/>
            </a:solidFill>
            <a:ln w="9525" cap="sq">
              <a:solidFill>
                <a:srgbClr val="223A5E"/>
              </a:solidFill>
              <a:prstDash val="solid"/>
              <a:miter/>
            </a:ln>
          </p:spPr>
        </p:sp>
      </p:grpSp>
      <p:sp>
        <p:nvSpPr>
          <p:cNvPr name="TextBox 14" id="14"/>
          <p:cNvSpPr txBox="true"/>
          <p:nvPr/>
        </p:nvSpPr>
        <p:spPr>
          <a:xfrm rot="0">
            <a:off x="11417303" y="5090122"/>
            <a:ext cx="5559428" cy="403822"/>
          </a:xfrm>
          <a:prstGeom prst="rect">
            <a:avLst/>
          </a:prstGeom>
        </p:spPr>
        <p:txBody>
          <a:bodyPr anchor="t" rtlCol="false" tIns="0" lIns="0" bIns="0" rIns="0">
            <a:spAutoFit/>
          </a:bodyPr>
          <a:lstStyle/>
          <a:p>
            <a:pPr algn="l">
              <a:lnSpc>
                <a:spcPts val="2879"/>
              </a:lnSpc>
            </a:pPr>
            <a:r>
              <a:rPr lang="en-US" sz="2400" b="true">
                <a:solidFill>
                  <a:srgbClr val="38BDF8"/>
                </a:solidFill>
                <a:latin typeface="IBM Plex Sans Bold"/>
                <a:ea typeface="IBM Plex Sans Bold"/>
                <a:cs typeface="IBM Plex Sans Bold"/>
                <a:sym typeface="IBM Plex Sans Bold"/>
              </a:rPr>
              <a:t>FastAPI and Uvicorn</a:t>
            </a:r>
          </a:p>
        </p:txBody>
      </p:sp>
      <p:sp>
        <p:nvSpPr>
          <p:cNvPr name="TextBox 15" id="15"/>
          <p:cNvSpPr txBox="true"/>
          <p:nvPr/>
        </p:nvSpPr>
        <p:spPr>
          <a:xfrm rot="0">
            <a:off x="11417303" y="5503469"/>
            <a:ext cx="5559428" cy="735216"/>
          </a:xfrm>
          <a:prstGeom prst="rect">
            <a:avLst/>
          </a:prstGeom>
        </p:spPr>
        <p:txBody>
          <a:bodyPr anchor="t" rtlCol="false" tIns="0" lIns="0" bIns="0" rIns="0">
            <a:spAutoFit/>
          </a:bodyPr>
          <a:lstStyle/>
          <a:p>
            <a:pPr algn="l">
              <a:lnSpc>
                <a:spcPts val="2632"/>
              </a:lnSpc>
            </a:pPr>
            <a:r>
              <a:rPr lang="en-US" sz="1950">
                <a:solidFill>
                  <a:srgbClr val="9FB0C8"/>
                </a:solidFill>
                <a:latin typeface="IBM Plex Sans"/>
                <a:ea typeface="IBM Plex Sans"/>
                <a:cs typeface="IBM Plex Sans"/>
                <a:sym typeface="IBM Plex Sans"/>
              </a:rPr>
              <a:t>Serves the page over HTTP and accepts live connections at /ws.</a:t>
            </a:r>
          </a:p>
        </p:txBody>
      </p:sp>
      <p:grpSp>
        <p:nvGrpSpPr>
          <p:cNvPr name="Group 16" id="16"/>
          <p:cNvGrpSpPr/>
          <p:nvPr/>
        </p:nvGrpSpPr>
        <p:grpSpPr>
          <a:xfrm rot="0">
            <a:off x="11163300" y="6894814"/>
            <a:ext cx="5905500" cy="1868186"/>
            <a:chOff x="0" y="0"/>
            <a:chExt cx="7874000" cy="2490914"/>
          </a:xfrm>
        </p:grpSpPr>
        <p:sp>
          <p:nvSpPr>
            <p:cNvPr name="Freeform 17" id="17"/>
            <p:cNvSpPr/>
            <p:nvPr/>
          </p:nvSpPr>
          <p:spPr>
            <a:xfrm flipH="false" flipV="false" rot="0">
              <a:off x="0" y="0"/>
              <a:ext cx="7874000" cy="2490978"/>
            </a:xfrm>
            <a:custGeom>
              <a:avLst/>
              <a:gdLst/>
              <a:ahLst/>
              <a:cxnLst/>
              <a:rect r="r" b="b" t="t" l="l"/>
              <a:pathLst>
                <a:path h="2490978" w="7874000">
                  <a:moveTo>
                    <a:pt x="0" y="197866"/>
                  </a:moveTo>
                  <a:cubicBezTo>
                    <a:pt x="0" y="88519"/>
                    <a:pt x="88519" y="0"/>
                    <a:pt x="197866" y="0"/>
                  </a:cubicBezTo>
                  <a:lnTo>
                    <a:pt x="7676134" y="0"/>
                  </a:lnTo>
                  <a:cubicBezTo>
                    <a:pt x="7785481" y="0"/>
                    <a:pt x="7874000" y="88519"/>
                    <a:pt x="7874000" y="197866"/>
                  </a:cubicBezTo>
                  <a:lnTo>
                    <a:pt x="7874000" y="2293112"/>
                  </a:lnTo>
                  <a:cubicBezTo>
                    <a:pt x="7874000" y="2402332"/>
                    <a:pt x="7785481" y="2490978"/>
                    <a:pt x="7676134" y="2490978"/>
                  </a:cubicBezTo>
                  <a:lnTo>
                    <a:pt x="197866" y="2490978"/>
                  </a:lnTo>
                  <a:cubicBezTo>
                    <a:pt x="88519" y="2490978"/>
                    <a:pt x="0" y="2402332"/>
                    <a:pt x="0" y="2293112"/>
                  </a:cubicBezTo>
                  <a:close/>
                </a:path>
              </a:pathLst>
            </a:custGeom>
            <a:solidFill>
              <a:srgbClr val="121F36"/>
            </a:solidFill>
            <a:ln w="9525" cap="sq">
              <a:solidFill>
                <a:srgbClr val="223A5E"/>
              </a:solidFill>
              <a:prstDash val="solid"/>
              <a:miter/>
            </a:ln>
          </p:spPr>
        </p:sp>
      </p:grpSp>
      <p:sp>
        <p:nvSpPr>
          <p:cNvPr name="TextBox 18" id="18"/>
          <p:cNvSpPr txBox="true"/>
          <p:nvPr/>
        </p:nvSpPr>
        <p:spPr>
          <a:xfrm rot="0">
            <a:off x="11417303" y="7148808"/>
            <a:ext cx="5559428" cy="403822"/>
          </a:xfrm>
          <a:prstGeom prst="rect">
            <a:avLst/>
          </a:prstGeom>
        </p:spPr>
        <p:txBody>
          <a:bodyPr anchor="t" rtlCol="false" tIns="0" lIns="0" bIns="0" rIns="0">
            <a:spAutoFit/>
          </a:bodyPr>
          <a:lstStyle/>
          <a:p>
            <a:pPr algn="l">
              <a:lnSpc>
                <a:spcPts val="2879"/>
              </a:lnSpc>
            </a:pPr>
            <a:r>
              <a:rPr lang="en-US" sz="2400" b="true">
                <a:solidFill>
                  <a:srgbClr val="38BDF8"/>
                </a:solidFill>
                <a:latin typeface="IBM Plex Sans Bold"/>
                <a:ea typeface="IBM Plex Sans Bold"/>
                <a:cs typeface="IBM Plex Sans Bold"/>
                <a:sym typeface="IBM Plex Sans Bold"/>
              </a:rPr>
              <a:t>Shared state</a:t>
            </a:r>
          </a:p>
        </p:txBody>
      </p:sp>
      <p:sp>
        <p:nvSpPr>
          <p:cNvPr name="TextBox 19" id="19"/>
          <p:cNvSpPr txBox="true"/>
          <p:nvPr/>
        </p:nvSpPr>
        <p:spPr>
          <a:xfrm rot="0">
            <a:off x="11417303" y="7562155"/>
            <a:ext cx="5559428" cy="735216"/>
          </a:xfrm>
          <a:prstGeom prst="rect">
            <a:avLst/>
          </a:prstGeom>
        </p:spPr>
        <p:txBody>
          <a:bodyPr anchor="t" rtlCol="false" tIns="0" lIns="0" bIns="0" rIns="0">
            <a:spAutoFit/>
          </a:bodyPr>
          <a:lstStyle/>
          <a:p>
            <a:pPr algn="l">
              <a:lnSpc>
                <a:spcPts val="2632"/>
              </a:lnSpc>
            </a:pPr>
            <a:r>
              <a:rPr lang="en-US" sz="1950">
                <a:solidFill>
                  <a:srgbClr val="9FB0C8"/>
                </a:solidFill>
                <a:latin typeface="IBM Plex Sans"/>
                <a:ea typeface="IBM Plex Sans"/>
                <a:cs typeface="IBM Plex Sans"/>
                <a:sym typeface="IBM Plex Sans"/>
              </a:rPr>
              <a:t>An in-memory client list and drawing history let late joiners catch up.</a:t>
            </a:r>
          </a:p>
        </p:txBody>
      </p:sp>
      <p:sp>
        <p:nvSpPr>
          <p:cNvPr name="TextBox 20" id="20"/>
          <p:cNvSpPr txBox="true"/>
          <p:nvPr/>
        </p:nvSpPr>
        <p:spPr>
          <a:xfrm rot="0">
            <a:off x="1219200" y="9319317"/>
            <a:ext cx="6387579" cy="396183"/>
          </a:xfrm>
          <a:prstGeom prst="rect">
            <a:avLst/>
          </a:prstGeom>
        </p:spPr>
        <p:txBody>
          <a:bodyPr anchor="t" rtlCol="false" tIns="0" lIns="0" bIns="0" rIns="0">
            <a:spAutoFit/>
          </a:bodyPr>
          <a:lstStyle/>
          <a:p>
            <a:pPr algn="l">
              <a:lnSpc>
                <a:spcPts val="2520"/>
              </a:lnSpc>
            </a:pPr>
            <a:r>
              <a:rPr lang="en-US" sz="1800">
                <a:solidFill>
                  <a:srgbClr val="9FB0C8"/>
                </a:solidFill>
                <a:latin typeface="IBM Plex Sans"/>
                <a:ea typeface="IBM Plex Sans"/>
                <a:cs typeface="IBM Plex Sans"/>
                <a:sym typeface="IBM Plex Sans"/>
              </a:rPr>
              <a:t>LAN Collaborative Whiteboard · Computer Networks</a:t>
            </a:r>
          </a:p>
        </p:txBody>
      </p:sp>
      <p:sp>
        <p:nvSpPr>
          <p:cNvPr name="TextBox 21" id="21"/>
          <p:cNvSpPr txBox="true"/>
          <p:nvPr/>
        </p:nvSpPr>
        <p:spPr>
          <a:xfrm rot="0">
            <a:off x="16794461" y="9319317"/>
            <a:ext cx="350539" cy="396183"/>
          </a:xfrm>
          <a:prstGeom prst="rect">
            <a:avLst/>
          </a:prstGeom>
        </p:spPr>
        <p:txBody>
          <a:bodyPr anchor="t" rtlCol="false" tIns="0" lIns="0" bIns="0" rIns="0">
            <a:spAutoFit/>
          </a:bodyPr>
          <a:lstStyle/>
          <a:p>
            <a:pPr algn="l">
              <a:lnSpc>
                <a:spcPts val="2520"/>
              </a:lnSpc>
            </a:pPr>
            <a:r>
              <a:rPr lang="en-US" sz="1800">
                <a:solidFill>
                  <a:srgbClr val="9FB0C8"/>
                </a:solidFill>
                <a:latin typeface="IBM Plex Sans"/>
                <a:ea typeface="IBM Plex Sans"/>
                <a:cs typeface="IBM Plex Sans"/>
                <a:sym typeface="IBM Plex Sans"/>
              </a:rPr>
              <a:t>05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1D6FDC"/>
                </a:solidFill>
                <a:latin typeface="Source Serif Pro Bold"/>
                <a:ea typeface="Source Serif Pro Bold"/>
                <a:cs typeface="Source Serif Pro Bold"/>
                <a:sym typeface="Source Serif Pro Bold"/>
              </a:rPr>
              <a:t>05 · APPLICATION LAYER</a:t>
            </a:r>
          </a:p>
        </p:txBody>
      </p:sp>
      <p:sp>
        <p:nvSpPr>
          <p:cNvPr name="TextBox 3" id="3"/>
          <p:cNvSpPr txBox="true"/>
          <p:nvPr/>
        </p:nvSpPr>
        <p:spPr>
          <a:xfrm rot="0">
            <a:off x="1219200" y="1727797"/>
            <a:ext cx="8221464" cy="773430"/>
          </a:xfrm>
          <a:prstGeom prst="rect">
            <a:avLst/>
          </a:prstGeom>
        </p:spPr>
        <p:txBody>
          <a:bodyPr anchor="t" rtlCol="false" tIns="0" lIns="0" bIns="0" rIns="0">
            <a:spAutoFit/>
          </a:bodyPr>
          <a:lstStyle/>
          <a:p>
            <a:pPr algn="l">
              <a:lnSpc>
                <a:spcPts val="5940"/>
              </a:lnSpc>
            </a:pPr>
            <a:r>
              <a:rPr lang="en-US" sz="5400" b="true">
                <a:solidFill>
                  <a:srgbClr val="0B1424"/>
                </a:solidFill>
                <a:latin typeface="Source Serif Pro Bold"/>
                <a:ea typeface="Source Serif Pro Bold"/>
                <a:cs typeface="Source Serif Pro Bold"/>
                <a:sym typeface="Source Serif Pro Bold"/>
              </a:rPr>
              <a:t>From HTTP to WebSocket</a:t>
            </a:r>
          </a:p>
        </p:txBody>
      </p:sp>
      <p:grpSp>
        <p:nvGrpSpPr>
          <p:cNvPr name="Group 4" id="4"/>
          <p:cNvGrpSpPr/>
          <p:nvPr/>
        </p:nvGrpSpPr>
        <p:grpSpPr>
          <a:xfrm rot="0">
            <a:off x="1219200" y="2777433"/>
            <a:ext cx="3790950" cy="2497531"/>
            <a:chOff x="0" y="0"/>
            <a:chExt cx="5054600" cy="3330042"/>
          </a:xfrm>
        </p:grpSpPr>
        <p:sp>
          <p:nvSpPr>
            <p:cNvPr name="Freeform 5" id="5"/>
            <p:cNvSpPr/>
            <p:nvPr/>
          </p:nvSpPr>
          <p:spPr>
            <a:xfrm flipH="false" flipV="false" rot="0">
              <a:off x="0" y="0"/>
              <a:ext cx="5054600" cy="3330067"/>
            </a:xfrm>
            <a:custGeom>
              <a:avLst/>
              <a:gdLst/>
              <a:ahLst/>
              <a:cxnLst/>
              <a:rect r="r" b="b" t="t" l="l"/>
              <a:pathLst>
                <a:path h="3330067" w="5054600">
                  <a:moveTo>
                    <a:pt x="0" y="197612"/>
                  </a:moveTo>
                  <a:cubicBezTo>
                    <a:pt x="0" y="88519"/>
                    <a:pt x="88519" y="0"/>
                    <a:pt x="197612" y="0"/>
                  </a:cubicBezTo>
                  <a:lnTo>
                    <a:pt x="4856988" y="0"/>
                  </a:lnTo>
                  <a:cubicBezTo>
                    <a:pt x="4966081" y="0"/>
                    <a:pt x="5054600" y="88519"/>
                    <a:pt x="5054600" y="197612"/>
                  </a:cubicBezTo>
                  <a:lnTo>
                    <a:pt x="5054600" y="3132455"/>
                  </a:lnTo>
                  <a:cubicBezTo>
                    <a:pt x="5054600" y="3241548"/>
                    <a:pt x="4966081" y="3330067"/>
                    <a:pt x="4856988" y="3330067"/>
                  </a:cubicBezTo>
                  <a:lnTo>
                    <a:pt x="197612" y="3330067"/>
                  </a:lnTo>
                  <a:cubicBezTo>
                    <a:pt x="88519" y="3330067"/>
                    <a:pt x="0" y="3241548"/>
                    <a:pt x="0" y="3132455"/>
                  </a:cubicBezTo>
                  <a:close/>
                </a:path>
              </a:pathLst>
            </a:custGeom>
            <a:solidFill>
              <a:srgbClr val="FFFFFF"/>
            </a:solidFill>
            <a:ln w="9525" cap="sq">
              <a:solidFill>
                <a:srgbClr val="D5DEEA"/>
              </a:solidFill>
              <a:prstDash val="solid"/>
              <a:miter/>
            </a:ln>
          </p:spPr>
        </p:sp>
      </p:grpSp>
      <p:sp>
        <p:nvSpPr>
          <p:cNvPr name="TextBox 6" id="6"/>
          <p:cNvSpPr txBox="true"/>
          <p:nvPr/>
        </p:nvSpPr>
        <p:spPr>
          <a:xfrm rot="0">
            <a:off x="1473203" y="2983811"/>
            <a:ext cx="3381442"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1</a:t>
            </a:r>
          </a:p>
        </p:txBody>
      </p:sp>
      <p:sp>
        <p:nvSpPr>
          <p:cNvPr name="TextBox 7" id="7"/>
          <p:cNvSpPr txBox="true"/>
          <p:nvPr/>
        </p:nvSpPr>
        <p:spPr>
          <a:xfrm rot="0">
            <a:off x="1473203" y="3580009"/>
            <a:ext cx="3381442" cy="342900"/>
          </a:xfrm>
          <a:prstGeom prst="rect">
            <a:avLst/>
          </a:prstGeom>
        </p:spPr>
        <p:txBody>
          <a:bodyPr anchor="t" rtlCol="false" tIns="0" lIns="0" bIns="0" rIns="0">
            <a:spAutoFit/>
          </a:bodyPr>
          <a:lstStyle/>
          <a:p>
            <a:pPr algn="l">
              <a:lnSpc>
                <a:spcPts val="2700"/>
              </a:lnSpc>
            </a:pPr>
            <a:r>
              <a:rPr lang="en-US" sz="2250" b="true">
                <a:solidFill>
                  <a:srgbClr val="0B1424"/>
                </a:solidFill>
                <a:latin typeface="Source Serif Pro Bold"/>
                <a:ea typeface="Source Serif Pro Bold"/>
                <a:cs typeface="Source Serif Pro Bold"/>
                <a:sym typeface="Source Serif Pro Bold"/>
              </a:rPr>
              <a:t>HTTP request</a:t>
            </a:r>
          </a:p>
        </p:txBody>
      </p:sp>
      <p:sp>
        <p:nvSpPr>
          <p:cNvPr name="TextBox 8" id="8"/>
          <p:cNvSpPr txBox="true"/>
          <p:nvPr/>
        </p:nvSpPr>
        <p:spPr>
          <a:xfrm rot="0">
            <a:off x="1473203" y="3989584"/>
            <a:ext cx="3381442" cy="658177"/>
          </a:xfrm>
          <a:prstGeom prst="rect">
            <a:avLst/>
          </a:prstGeom>
        </p:spPr>
        <p:txBody>
          <a:bodyPr anchor="t" rtlCol="false" tIns="0" lIns="0" bIns="0" rIns="0">
            <a:spAutoFit/>
          </a:bodyPr>
          <a:lstStyle/>
          <a:p>
            <a:pPr algn="l">
              <a:lnSpc>
                <a:spcPts val="2632"/>
              </a:lnSpc>
            </a:pPr>
            <a:r>
              <a:rPr lang="en-US" sz="1950">
                <a:solidFill>
                  <a:srgbClr val="4A5A73"/>
                </a:solidFill>
                <a:latin typeface="Source Serif Pro"/>
                <a:ea typeface="Source Serif Pro"/>
                <a:cs typeface="Source Serif Pro"/>
                <a:sym typeface="Source Serif Pro"/>
              </a:rPr>
              <a:t>GET / returns index.html, style.css and app.js.</a:t>
            </a:r>
          </a:p>
        </p:txBody>
      </p:sp>
      <p:grpSp>
        <p:nvGrpSpPr>
          <p:cNvPr name="Group 9" id="9"/>
          <p:cNvGrpSpPr/>
          <p:nvPr/>
        </p:nvGrpSpPr>
        <p:grpSpPr>
          <a:xfrm rot="0">
            <a:off x="5238750" y="2777433"/>
            <a:ext cx="3790950" cy="2497531"/>
            <a:chOff x="0" y="0"/>
            <a:chExt cx="5054600" cy="3330042"/>
          </a:xfrm>
        </p:grpSpPr>
        <p:sp>
          <p:nvSpPr>
            <p:cNvPr name="Freeform 10" id="10"/>
            <p:cNvSpPr/>
            <p:nvPr/>
          </p:nvSpPr>
          <p:spPr>
            <a:xfrm flipH="false" flipV="false" rot="0">
              <a:off x="0" y="0"/>
              <a:ext cx="5054600" cy="3330067"/>
            </a:xfrm>
            <a:custGeom>
              <a:avLst/>
              <a:gdLst/>
              <a:ahLst/>
              <a:cxnLst/>
              <a:rect r="r" b="b" t="t" l="l"/>
              <a:pathLst>
                <a:path h="3330067" w="5054600">
                  <a:moveTo>
                    <a:pt x="0" y="197612"/>
                  </a:moveTo>
                  <a:cubicBezTo>
                    <a:pt x="0" y="88519"/>
                    <a:pt x="88519" y="0"/>
                    <a:pt x="197612" y="0"/>
                  </a:cubicBezTo>
                  <a:lnTo>
                    <a:pt x="4856988" y="0"/>
                  </a:lnTo>
                  <a:cubicBezTo>
                    <a:pt x="4966081" y="0"/>
                    <a:pt x="5054600" y="88519"/>
                    <a:pt x="5054600" y="197612"/>
                  </a:cubicBezTo>
                  <a:lnTo>
                    <a:pt x="5054600" y="3132455"/>
                  </a:lnTo>
                  <a:cubicBezTo>
                    <a:pt x="5054600" y="3241548"/>
                    <a:pt x="4966081" y="3330067"/>
                    <a:pt x="4856988" y="3330067"/>
                  </a:cubicBezTo>
                  <a:lnTo>
                    <a:pt x="197612" y="3330067"/>
                  </a:lnTo>
                  <a:cubicBezTo>
                    <a:pt x="88519" y="3330067"/>
                    <a:pt x="0" y="3241548"/>
                    <a:pt x="0" y="3132455"/>
                  </a:cubicBezTo>
                  <a:close/>
                </a:path>
              </a:pathLst>
            </a:custGeom>
            <a:solidFill>
              <a:srgbClr val="FFFFFF"/>
            </a:solidFill>
            <a:ln w="9525" cap="sq">
              <a:solidFill>
                <a:srgbClr val="D5DEEA"/>
              </a:solidFill>
              <a:prstDash val="solid"/>
              <a:miter/>
            </a:ln>
          </p:spPr>
        </p:sp>
      </p:grpSp>
      <p:sp>
        <p:nvSpPr>
          <p:cNvPr name="TextBox 11" id="11"/>
          <p:cNvSpPr txBox="true"/>
          <p:nvPr/>
        </p:nvSpPr>
        <p:spPr>
          <a:xfrm rot="0">
            <a:off x="5492753" y="2983811"/>
            <a:ext cx="3381442"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2</a:t>
            </a:r>
          </a:p>
        </p:txBody>
      </p:sp>
      <p:sp>
        <p:nvSpPr>
          <p:cNvPr name="TextBox 12" id="12"/>
          <p:cNvSpPr txBox="true"/>
          <p:nvPr/>
        </p:nvSpPr>
        <p:spPr>
          <a:xfrm rot="0">
            <a:off x="5492753" y="3580009"/>
            <a:ext cx="3381442" cy="342900"/>
          </a:xfrm>
          <a:prstGeom prst="rect">
            <a:avLst/>
          </a:prstGeom>
        </p:spPr>
        <p:txBody>
          <a:bodyPr anchor="t" rtlCol="false" tIns="0" lIns="0" bIns="0" rIns="0">
            <a:spAutoFit/>
          </a:bodyPr>
          <a:lstStyle/>
          <a:p>
            <a:pPr algn="l">
              <a:lnSpc>
                <a:spcPts val="2700"/>
              </a:lnSpc>
            </a:pPr>
            <a:r>
              <a:rPr lang="en-US" sz="2250" b="true">
                <a:solidFill>
                  <a:srgbClr val="0B1424"/>
                </a:solidFill>
                <a:latin typeface="Source Serif Pro Bold"/>
                <a:ea typeface="Source Serif Pro Bold"/>
                <a:cs typeface="Source Serif Pro Bold"/>
                <a:sym typeface="Source Serif Pro Bold"/>
              </a:rPr>
              <a:t>Upgrade</a:t>
            </a:r>
          </a:p>
        </p:txBody>
      </p:sp>
      <p:sp>
        <p:nvSpPr>
          <p:cNvPr name="TextBox 13" id="13"/>
          <p:cNvSpPr txBox="true"/>
          <p:nvPr/>
        </p:nvSpPr>
        <p:spPr>
          <a:xfrm rot="0">
            <a:off x="5492753" y="3989584"/>
            <a:ext cx="3381442" cy="658177"/>
          </a:xfrm>
          <a:prstGeom prst="rect">
            <a:avLst/>
          </a:prstGeom>
        </p:spPr>
        <p:txBody>
          <a:bodyPr anchor="t" rtlCol="false" tIns="0" lIns="0" bIns="0" rIns="0">
            <a:spAutoFit/>
          </a:bodyPr>
          <a:lstStyle/>
          <a:p>
            <a:pPr algn="l">
              <a:lnSpc>
                <a:spcPts val="2632"/>
              </a:lnSpc>
            </a:pPr>
            <a:r>
              <a:rPr lang="en-US" sz="1950">
                <a:solidFill>
                  <a:srgbClr val="4A5A73"/>
                </a:solidFill>
                <a:latin typeface="Source Serif Pro"/>
                <a:ea typeface="Source Serif Pro"/>
                <a:cs typeface="Source Serif Pro"/>
                <a:sym typeface="Source Serif Pro"/>
              </a:rPr>
              <a:t>Browser asks GET /ws with an Upgrade: websocket header.</a:t>
            </a:r>
          </a:p>
        </p:txBody>
      </p:sp>
      <p:grpSp>
        <p:nvGrpSpPr>
          <p:cNvPr name="Group 14" id="14"/>
          <p:cNvGrpSpPr/>
          <p:nvPr/>
        </p:nvGrpSpPr>
        <p:grpSpPr>
          <a:xfrm rot="0">
            <a:off x="9258300" y="2777433"/>
            <a:ext cx="3790950" cy="2497531"/>
            <a:chOff x="0" y="0"/>
            <a:chExt cx="5054600" cy="3330042"/>
          </a:xfrm>
        </p:grpSpPr>
        <p:sp>
          <p:nvSpPr>
            <p:cNvPr name="Freeform 15" id="15"/>
            <p:cNvSpPr/>
            <p:nvPr/>
          </p:nvSpPr>
          <p:spPr>
            <a:xfrm flipH="false" flipV="false" rot="0">
              <a:off x="0" y="0"/>
              <a:ext cx="5054600" cy="3330067"/>
            </a:xfrm>
            <a:custGeom>
              <a:avLst/>
              <a:gdLst/>
              <a:ahLst/>
              <a:cxnLst/>
              <a:rect r="r" b="b" t="t" l="l"/>
              <a:pathLst>
                <a:path h="3330067" w="5054600">
                  <a:moveTo>
                    <a:pt x="0" y="197612"/>
                  </a:moveTo>
                  <a:cubicBezTo>
                    <a:pt x="0" y="88519"/>
                    <a:pt x="88519" y="0"/>
                    <a:pt x="197612" y="0"/>
                  </a:cubicBezTo>
                  <a:lnTo>
                    <a:pt x="4856988" y="0"/>
                  </a:lnTo>
                  <a:cubicBezTo>
                    <a:pt x="4966081" y="0"/>
                    <a:pt x="5054600" y="88519"/>
                    <a:pt x="5054600" y="197612"/>
                  </a:cubicBezTo>
                  <a:lnTo>
                    <a:pt x="5054600" y="3132455"/>
                  </a:lnTo>
                  <a:cubicBezTo>
                    <a:pt x="5054600" y="3241548"/>
                    <a:pt x="4966081" y="3330067"/>
                    <a:pt x="4856988" y="3330067"/>
                  </a:cubicBezTo>
                  <a:lnTo>
                    <a:pt x="197612" y="3330067"/>
                  </a:lnTo>
                  <a:cubicBezTo>
                    <a:pt x="88519" y="3330067"/>
                    <a:pt x="0" y="3241548"/>
                    <a:pt x="0" y="3132455"/>
                  </a:cubicBezTo>
                  <a:close/>
                </a:path>
              </a:pathLst>
            </a:custGeom>
            <a:solidFill>
              <a:srgbClr val="FFFFFF"/>
            </a:solidFill>
            <a:ln w="9525" cap="sq">
              <a:solidFill>
                <a:srgbClr val="D5DEEA"/>
              </a:solidFill>
              <a:prstDash val="solid"/>
              <a:miter/>
            </a:ln>
          </p:spPr>
        </p:sp>
      </p:grpSp>
      <p:sp>
        <p:nvSpPr>
          <p:cNvPr name="TextBox 16" id="16"/>
          <p:cNvSpPr txBox="true"/>
          <p:nvPr/>
        </p:nvSpPr>
        <p:spPr>
          <a:xfrm rot="0">
            <a:off x="9512303" y="2983811"/>
            <a:ext cx="3381442"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3</a:t>
            </a:r>
          </a:p>
        </p:txBody>
      </p:sp>
      <p:sp>
        <p:nvSpPr>
          <p:cNvPr name="TextBox 17" id="17"/>
          <p:cNvSpPr txBox="true"/>
          <p:nvPr/>
        </p:nvSpPr>
        <p:spPr>
          <a:xfrm rot="0">
            <a:off x="9512303" y="3580009"/>
            <a:ext cx="3381442" cy="342900"/>
          </a:xfrm>
          <a:prstGeom prst="rect">
            <a:avLst/>
          </a:prstGeom>
        </p:spPr>
        <p:txBody>
          <a:bodyPr anchor="t" rtlCol="false" tIns="0" lIns="0" bIns="0" rIns="0">
            <a:spAutoFit/>
          </a:bodyPr>
          <a:lstStyle/>
          <a:p>
            <a:pPr algn="l">
              <a:lnSpc>
                <a:spcPts val="2700"/>
              </a:lnSpc>
            </a:pPr>
            <a:r>
              <a:rPr lang="en-US" sz="2250" b="true">
                <a:solidFill>
                  <a:srgbClr val="0B1424"/>
                </a:solidFill>
                <a:latin typeface="Source Serif Pro Bold"/>
                <a:ea typeface="Source Serif Pro Bold"/>
                <a:cs typeface="Source Serif Pro Bold"/>
                <a:sym typeface="Source Serif Pro Bold"/>
              </a:rPr>
              <a:t>101 Switching</a:t>
            </a:r>
          </a:p>
        </p:txBody>
      </p:sp>
      <p:sp>
        <p:nvSpPr>
          <p:cNvPr name="TextBox 18" id="18"/>
          <p:cNvSpPr txBox="true"/>
          <p:nvPr/>
        </p:nvSpPr>
        <p:spPr>
          <a:xfrm rot="0">
            <a:off x="9512303" y="3989584"/>
            <a:ext cx="3381442" cy="991552"/>
          </a:xfrm>
          <a:prstGeom prst="rect">
            <a:avLst/>
          </a:prstGeom>
        </p:spPr>
        <p:txBody>
          <a:bodyPr anchor="t" rtlCol="false" tIns="0" lIns="0" bIns="0" rIns="0">
            <a:spAutoFit/>
          </a:bodyPr>
          <a:lstStyle/>
          <a:p>
            <a:pPr algn="l">
              <a:lnSpc>
                <a:spcPts val="2632"/>
              </a:lnSpc>
            </a:pPr>
            <a:r>
              <a:rPr lang="en-US" sz="1950">
                <a:solidFill>
                  <a:srgbClr val="4A5A73"/>
                </a:solidFill>
                <a:latin typeface="Source Serif Pro"/>
                <a:ea typeface="Source Serif Pro"/>
                <a:cs typeface="Source Serif Pro"/>
                <a:sym typeface="Source Serif Pro"/>
              </a:rPr>
              <a:t>The same TCP connection now carries WebSocket frames.</a:t>
            </a:r>
          </a:p>
        </p:txBody>
      </p:sp>
      <p:grpSp>
        <p:nvGrpSpPr>
          <p:cNvPr name="Group 19" id="19"/>
          <p:cNvGrpSpPr/>
          <p:nvPr/>
        </p:nvGrpSpPr>
        <p:grpSpPr>
          <a:xfrm rot="0">
            <a:off x="13277850" y="2777433"/>
            <a:ext cx="3790950" cy="2497531"/>
            <a:chOff x="0" y="0"/>
            <a:chExt cx="5054600" cy="3330042"/>
          </a:xfrm>
        </p:grpSpPr>
        <p:sp>
          <p:nvSpPr>
            <p:cNvPr name="Freeform 20" id="20"/>
            <p:cNvSpPr/>
            <p:nvPr/>
          </p:nvSpPr>
          <p:spPr>
            <a:xfrm flipH="false" flipV="false" rot="0">
              <a:off x="0" y="0"/>
              <a:ext cx="5054600" cy="3330067"/>
            </a:xfrm>
            <a:custGeom>
              <a:avLst/>
              <a:gdLst/>
              <a:ahLst/>
              <a:cxnLst/>
              <a:rect r="r" b="b" t="t" l="l"/>
              <a:pathLst>
                <a:path h="3330067" w="5054600">
                  <a:moveTo>
                    <a:pt x="0" y="197612"/>
                  </a:moveTo>
                  <a:cubicBezTo>
                    <a:pt x="0" y="88519"/>
                    <a:pt x="88519" y="0"/>
                    <a:pt x="197612" y="0"/>
                  </a:cubicBezTo>
                  <a:lnTo>
                    <a:pt x="4856988" y="0"/>
                  </a:lnTo>
                  <a:cubicBezTo>
                    <a:pt x="4966081" y="0"/>
                    <a:pt x="5054600" y="88519"/>
                    <a:pt x="5054600" y="197612"/>
                  </a:cubicBezTo>
                  <a:lnTo>
                    <a:pt x="5054600" y="3132455"/>
                  </a:lnTo>
                  <a:cubicBezTo>
                    <a:pt x="5054600" y="3241548"/>
                    <a:pt x="4966081" y="3330067"/>
                    <a:pt x="4856988" y="3330067"/>
                  </a:cubicBezTo>
                  <a:lnTo>
                    <a:pt x="197612" y="3330067"/>
                  </a:lnTo>
                  <a:cubicBezTo>
                    <a:pt x="88519" y="3330067"/>
                    <a:pt x="0" y="3241548"/>
                    <a:pt x="0" y="3132455"/>
                  </a:cubicBezTo>
                  <a:close/>
                </a:path>
              </a:pathLst>
            </a:custGeom>
            <a:solidFill>
              <a:srgbClr val="FFFFFF"/>
            </a:solidFill>
            <a:ln w="9525" cap="sq">
              <a:solidFill>
                <a:srgbClr val="D5DEEA"/>
              </a:solidFill>
              <a:prstDash val="solid"/>
              <a:miter/>
            </a:ln>
          </p:spPr>
        </p:sp>
      </p:grpSp>
      <p:sp>
        <p:nvSpPr>
          <p:cNvPr name="TextBox 21" id="21"/>
          <p:cNvSpPr txBox="true"/>
          <p:nvPr/>
        </p:nvSpPr>
        <p:spPr>
          <a:xfrm rot="0">
            <a:off x="13531853" y="2983811"/>
            <a:ext cx="3381442" cy="430530"/>
          </a:xfrm>
          <a:prstGeom prst="rect">
            <a:avLst/>
          </a:prstGeom>
        </p:spPr>
        <p:txBody>
          <a:bodyPr anchor="t" rtlCol="false" tIns="0" lIns="0" bIns="0" rIns="0">
            <a:spAutoFit/>
          </a:bodyPr>
          <a:lstStyle/>
          <a:p>
            <a:pPr algn="l">
              <a:lnSpc>
                <a:spcPts val="3569"/>
              </a:lnSpc>
            </a:pPr>
            <a:r>
              <a:rPr lang="en-US" sz="2550" b="true">
                <a:solidFill>
                  <a:srgbClr val="1D6FDC"/>
                </a:solidFill>
                <a:latin typeface="Source Serif Pro Bold"/>
                <a:ea typeface="Source Serif Pro Bold"/>
                <a:cs typeface="Source Serif Pro Bold"/>
                <a:sym typeface="Source Serif Pro Bold"/>
              </a:rPr>
              <a:t>4</a:t>
            </a:r>
          </a:p>
        </p:txBody>
      </p:sp>
      <p:sp>
        <p:nvSpPr>
          <p:cNvPr name="TextBox 22" id="22"/>
          <p:cNvSpPr txBox="true"/>
          <p:nvPr/>
        </p:nvSpPr>
        <p:spPr>
          <a:xfrm rot="0">
            <a:off x="13531853" y="3580009"/>
            <a:ext cx="3381442" cy="342900"/>
          </a:xfrm>
          <a:prstGeom prst="rect">
            <a:avLst/>
          </a:prstGeom>
        </p:spPr>
        <p:txBody>
          <a:bodyPr anchor="t" rtlCol="false" tIns="0" lIns="0" bIns="0" rIns="0">
            <a:spAutoFit/>
          </a:bodyPr>
          <a:lstStyle/>
          <a:p>
            <a:pPr algn="l">
              <a:lnSpc>
                <a:spcPts val="2700"/>
              </a:lnSpc>
            </a:pPr>
            <a:r>
              <a:rPr lang="en-US" sz="2250" b="true">
                <a:solidFill>
                  <a:srgbClr val="0B1424"/>
                </a:solidFill>
                <a:latin typeface="Source Serif Pro Bold"/>
                <a:ea typeface="Source Serif Pro Bold"/>
                <a:cs typeface="Source Serif Pro Bold"/>
                <a:sym typeface="Source Serif Pro Bold"/>
              </a:rPr>
              <a:t>Live channel</a:t>
            </a:r>
          </a:p>
        </p:txBody>
      </p:sp>
      <p:sp>
        <p:nvSpPr>
          <p:cNvPr name="TextBox 23" id="23"/>
          <p:cNvSpPr txBox="true"/>
          <p:nvPr/>
        </p:nvSpPr>
        <p:spPr>
          <a:xfrm rot="0">
            <a:off x="13531853" y="3989584"/>
            <a:ext cx="3381442" cy="658177"/>
          </a:xfrm>
          <a:prstGeom prst="rect">
            <a:avLst/>
          </a:prstGeom>
        </p:spPr>
        <p:txBody>
          <a:bodyPr anchor="t" rtlCol="false" tIns="0" lIns="0" bIns="0" rIns="0">
            <a:spAutoFit/>
          </a:bodyPr>
          <a:lstStyle/>
          <a:p>
            <a:pPr algn="l">
              <a:lnSpc>
                <a:spcPts val="2632"/>
              </a:lnSpc>
            </a:pPr>
            <a:r>
              <a:rPr lang="en-US" sz="1950">
                <a:solidFill>
                  <a:srgbClr val="4A5A73"/>
                </a:solidFill>
                <a:latin typeface="Source Serif Pro"/>
                <a:ea typeface="Source Serif Pro"/>
                <a:cs typeface="Source Serif Pro"/>
                <a:sym typeface="Source Serif Pro"/>
              </a:rPr>
              <a:t>Either side sends at any moment; no polling needed.</a:t>
            </a:r>
          </a:p>
        </p:txBody>
      </p:sp>
      <p:grpSp>
        <p:nvGrpSpPr>
          <p:cNvPr name="Group 24" id="24"/>
          <p:cNvGrpSpPr/>
          <p:nvPr/>
        </p:nvGrpSpPr>
        <p:grpSpPr>
          <a:xfrm rot="0">
            <a:off x="1219200" y="5617864"/>
            <a:ext cx="7791450" cy="3145136"/>
            <a:chOff x="0" y="0"/>
            <a:chExt cx="10388600" cy="4193515"/>
          </a:xfrm>
        </p:grpSpPr>
        <p:sp>
          <p:nvSpPr>
            <p:cNvPr name="Freeform 25" id="25"/>
            <p:cNvSpPr/>
            <p:nvPr/>
          </p:nvSpPr>
          <p:spPr>
            <a:xfrm flipH="false" flipV="false" rot="0">
              <a:off x="0" y="0"/>
              <a:ext cx="10388600" cy="4193540"/>
            </a:xfrm>
            <a:custGeom>
              <a:avLst/>
              <a:gdLst/>
              <a:ahLst/>
              <a:cxnLst/>
              <a:rect r="r" b="b" t="t" l="l"/>
              <a:pathLst>
                <a:path h="4193540" w="10388600">
                  <a:moveTo>
                    <a:pt x="0" y="203200"/>
                  </a:moveTo>
                  <a:cubicBezTo>
                    <a:pt x="0" y="90932"/>
                    <a:pt x="90932" y="0"/>
                    <a:pt x="203200" y="0"/>
                  </a:cubicBezTo>
                  <a:lnTo>
                    <a:pt x="10185400" y="0"/>
                  </a:lnTo>
                  <a:cubicBezTo>
                    <a:pt x="10297668" y="0"/>
                    <a:pt x="10388600" y="90932"/>
                    <a:pt x="10388600" y="203200"/>
                  </a:cubicBezTo>
                  <a:lnTo>
                    <a:pt x="10388600" y="3990340"/>
                  </a:lnTo>
                  <a:cubicBezTo>
                    <a:pt x="10388600" y="4102608"/>
                    <a:pt x="10297668" y="4193540"/>
                    <a:pt x="10185400" y="4193540"/>
                  </a:cubicBezTo>
                  <a:lnTo>
                    <a:pt x="203200" y="4193540"/>
                  </a:lnTo>
                  <a:cubicBezTo>
                    <a:pt x="90932" y="4193540"/>
                    <a:pt x="0" y="4102608"/>
                    <a:pt x="0" y="3990340"/>
                  </a:cubicBezTo>
                  <a:close/>
                </a:path>
              </a:pathLst>
            </a:custGeom>
            <a:solidFill>
              <a:srgbClr val="E4EAF2"/>
            </a:solidFill>
          </p:spPr>
        </p:sp>
      </p:grpSp>
      <p:sp>
        <p:nvSpPr>
          <p:cNvPr name="TextBox 26" id="26"/>
          <p:cNvSpPr txBox="true"/>
          <p:nvPr/>
        </p:nvSpPr>
        <p:spPr>
          <a:xfrm rot="0">
            <a:off x="1524000" y="6545561"/>
            <a:ext cx="7397306" cy="331470"/>
          </a:xfrm>
          <a:prstGeom prst="rect">
            <a:avLst/>
          </a:prstGeom>
        </p:spPr>
        <p:txBody>
          <a:bodyPr anchor="t" rtlCol="false" tIns="0" lIns="0" bIns="0" rIns="0">
            <a:spAutoFit/>
          </a:bodyPr>
          <a:lstStyle/>
          <a:p>
            <a:pPr algn="l">
              <a:lnSpc>
                <a:spcPts val="2729"/>
              </a:lnSpc>
            </a:pPr>
            <a:r>
              <a:rPr lang="en-US" b="true" sz="1950" spc="225">
                <a:solidFill>
                  <a:srgbClr val="4A5A73"/>
                </a:solidFill>
                <a:latin typeface="Source Serif Pro Bold"/>
                <a:ea typeface="Source Serif Pro Bold"/>
                <a:cs typeface="Source Serif Pro Bold"/>
                <a:sym typeface="Source Serif Pro Bold"/>
              </a:rPr>
              <a:t>HTTP POLLING</a:t>
            </a:r>
          </a:p>
        </p:txBody>
      </p:sp>
      <p:sp>
        <p:nvSpPr>
          <p:cNvPr name="TextBox 27" id="27"/>
          <p:cNvSpPr txBox="true"/>
          <p:nvPr/>
        </p:nvSpPr>
        <p:spPr>
          <a:xfrm rot="0">
            <a:off x="1524000" y="6997008"/>
            <a:ext cx="7397306" cy="747713"/>
          </a:xfrm>
          <a:prstGeom prst="rect">
            <a:avLst/>
          </a:prstGeom>
        </p:spPr>
        <p:txBody>
          <a:bodyPr anchor="t" rtlCol="false" tIns="0" lIns="0" bIns="0" rIns="0">
            <a:spAutoFit/>
          </a:bodyPr>
          <a:lstStyle/>
          <a:p>
            <a:pPr algn="l">
              <a:lnSpc>
                <a:spcPts val="3037"/>
              </a:lnSpc>
            </a:pPr>
            <a:r>
              <a:rPr lang="en-US" sz="2250">
                <a:solidFill>
                  <a:srgbClr val="0B1424"/>
                </a:solidFill>
                <a:latin typeface="Source Serif Pro"/>
                <a:ea typeface="Source Serif Pro"/>
                <a:cs typeface="Source Serif Pro"/>
                <a:sym typeface="Source Serif Pro"/>
              </a:rPr>
              <a:t>A new request and full headers every time, and updates arrive only at the next poll.</a:t>
            </a:r>
          </a:p>
        </p:txBody>
      </p:sp>
      <p:grpSp>
        <p:nvGrpSpPr>
          <p:cNvPr name="Group 28" id="28"/>
          <p:cNvGrpSpPr/>
          <p:nvPr/>
        </p:nvGrpSpPr>
        <p:grpSpPr>
          <a:xfrm rot="0">
            <a:off x="9277350" y="5617864"/>
            <a:ext cx="7791450" cy="3145136"/>
            <a:chOff x="0" y="0"/>
            <a:chExt cx="10388600" cy="4193515"/>
          </a:xfrm>
        </p:grpSpPr>
        <p:sp>
          <p:nvSpPr>
            <p:cNvPr name="Freeform 29" id="29"/>
            <p:cNvSpPr/>
            <p:nvPr/>
          </p:nvSpPr>
          <p:spPr>
            <a:xfrm flipH="false" flipV="false" rot="0">
              <a:off x="0" y="0"/>
              <a:ext cx="10388600" cy="4193540"/>
            </a:xfrm>
            <a:custGeom>
              <a:avLst/>
              <a:gdLst/>
              <a:ahLst/>
              <a:cxnLst/>
              <a:rect r="r" b="b" t="t" l="l"/>
              <a:pathLst>
                <a:path h="4193540" w="10388600">
                  <a:moveTo>
                    <a:pt x="0" y="203200"/>
                  </a:moveTo>
                  <a:cubicBezTo>
                    <a:pt x="0" y="90932"/>
                    <a:pt x="90932" y="0"/>
                    <a:pt x="203200" y="0"/>
                  </a:cubicBezTo>
                  <a:lnTo>
                    <a:pt x="10185400" y="0"/>
                  </a:lnTo>
                  <a:cubicBezTo>
                    <a:pt x="10297668" y="0"/>
                    <a:pt x="10388600" y="90932"/>
                    <a:pt x="10388600" y="203200"/>
                  </a:cubicBezTo>
                  <a:lnTo>
                    <a:pt x="10388600" y="3990340"/>
                  </a:lnTo>
                  <a:cubicBezTo>
                    <a:pt x="10388600" y="4102608"/>
                    <a:pt x="10297668" y="4193540"/>
                    <a:pt x="10185400" y="4193540"/>
                  </a:cubicBezTo>
                  <a:lnTo>
                    <a:pt x="203200" y="4193540"/>
                  </a:lnTo>
                  <a:cubicBezTo>
                    <a:pt x="90932" y="4193540"/>
                    <a:pt x="0" y="4102608"/>
                    <a:pt x="0" y="3990340"/>
                  </a:cubicBezTo>
                  <a:close/>
                </a:path>
              </a:pathLst>
            </a:custGeom>
            <a:solidFill>
              <a:srgbClr val="0B1424"/>
            </a:solidFill>
          </p:spPr>
        </p:sp>
      </p:grpSp>
      <p:sp>
        <p:nvSpPr>
          <p:cNvPr name="TextBox 30" id="30"/>
          <p:cNvSpPr txBox="true"/>
          <p:nvPr/>
        </p:nvSpPr>
        <p:spPr>
          <a:xfrm rot="0">
            <a:off x="9582150" y="6545561"/>
            <a:ext cx="7397306" cy="331470"/>
          </a:xfrm>
          <a:prstGeom prst="rect">
            <a:avLst/>
          </a:prstGeom>
        </p:spPr>
        <p:txBody>
          <a:bodyPr anchor="t" rtlCol="false" tIns="0" lIns="0" bIns="0" rIns="0">
            <a:spAutoFit/>
          </a:bodyPr>
          <a:lstStyle/>
          <a:p>
            <a:pPr algn="l">
              <a:lnSpc>
                <a:spcPts val="2729"/>
              </a:lnSpc>
            </a:pPr>
            <a:r>
              <a:rPr lang="en-US" b="true" sz="1950" spc="225">
                <a:solidFill>
                  <a:srgbClr val="38BDF8"/>
                </a:solidFill>
                <a:latin typeface="Source Serif Pro Bold"/>
                <a:ea typeface="Source Serif Pro Bold"/>
                <a:cs typeface="Source Serif Pro Bold"/>
                <a:sym typeface="Source Serif Pro Bold"/>
              </a:rPr>
              <a:t>WEBSOCKET</a:t>
            </a:r>
          </a:p>
        </p:txBody>
      </p:sp>
      <p:sp>
        <p:nvSpPr>
          <p:cNvPr name="TextBox 31" id="31"/>
          <p:cNvSpPr txBox="true"/>
          <p:nvPr/>
        </p:nvSpPr>
        <p:spPr>
          <a:xfrm rot="0">
            <a:off x="9582150" y="6997008"/>
            <a:ext cx="7397306" cy="747713"/>
          </a:xfrm>
          <a:prstGeom prst="rect">
            <a:avLst/>
          </a:prstGeom>
        </p:spPr>
        <p:txBody>
          <a:bodyPr anchor="t" rtlCol="false" tIns="0" lIns="0" bIns="0" rIns="0">
            <a:spAutoFit/>
          </a:bodyPr>
          <a:lstStyle/>
          <a:p>
            <a:pPr algn="l">
              <a:lnSpc>
                <a:spcPts val="3037"/>
              </a:lnSpc>
            </a:pPr>
            <a:r>
              <a:rPr lang="en-US" sz="2250">
                <a:solidFill>
                  <a:srgbClr val="E6EDF7"/>
                </a:solidFill>
                <a:latin typeface="Source Serif Pro"/>
                <a:ea typeface="Source Serif Pro"/>
                <a:cs typeface="Source Serif Pro"/>
                <a:sym typeface="Source Serif Pro"/>
              </a:rPr>
              <a:t>One handshake, then small frames pushed the instant a stroke is drawn.</a:t>
            </a:r>
          </a:p>
        </p:txBody>
      </p:sp>
      <p:sp>
        <p:nvSpPr>
          <p:cNvPr name="TextBox 32" id="32"/>
          <p:cNvSpPr txBox="true"/>
          <p:nvPr/>
        </p:nvSpPr>
        <p:spPr>
          <a:xfrm rot="0">
            <a:off x="1219200" y="9319317"/>
            <a:ext cx="638757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LAN Collaborative Whiteboard · Computer Networks</a:t>
            </a:r>
          </a:p>
        </p:txBody>
      </p:sp>
      <p:sp>
        <p:nvSpPr>
          <p:cNvPr name="TextBox 33" id="33"/>
          <p:cNvSpPr txBox="true"/>
          <p:nvPr/>
        </p:nvSpPr>
        <p:spPr>
          <a:xfrm rot="0">
            <a:off x="16794461" y="9319317"/>
            <a:ext cx="35053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06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B1424"/>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38BDF8"/>
                </a:solidFill>
                <a:latin typeface="Source Serif Pro Bold"/>
                <a:ea typeface="Source Serif Pro Bold"/>
                <a:cs typeface="Source Serif Pro Bold"/>
                <a:sym typeface="Source Serif Pro Bold"/>
              </a:rPr>
              <a:t>06 · DATA FORMAT</a:t>
            </a:r>
          </a:p>
        </p:txBody>
      </p:sp>
      <p:sp>
        <p:nvSpPr>
          <p:cNvPr name="TextBox 3" id="3"/>
          <p:cNvSpPr txBox="true"/>
          <p:nvPr/>
        </p:nvSpPr>
        <p:spPr>
          <a:xfrm rot="0">
            <a:off x="1219200" y="1727797"/>
            <a:ext cx="5574903" cy="773430"/>
          </a:xfrm>
          <a:prstGeom prst="rect">
            <a:avLst/>
          </a:prstGeom>
        </p:spPr>
        <p:txBody>
          <a:bodyPr anchor="t" rtlCol="false" tIns="0" lIns="0" bIns="0" rIns="0">
            <a:spAutoFit/>
          </a:bodyPr>
          <a:lstStyle/>
          <a:p>
            <a:pPr algn="l">
              <a:lnSpc>
                <a:spcPts val="5940"/>
              </a:lnSpc>
            </a:pPr>
            <a:r>
              <a:rPr lang="en-US" sz="5400" b="true">
                <a:solidFill>
                  <a:srgbClr val="E6EDF7"/>
                </a:solidFill>
                <a:latin typeface="Source Serif Pro Bold"/>
                <a:ea typeface="Source Serif Pro Bold"/>
                <a:cs typeface="Source Serif Pro Bold"/>
                <a:sym typeface="Source Serif Pro Bold"/>
              </a:rPr>
              <a:t>Message Protocol</a:t>
            </a:r>
          </a:p>
        </p:txBody>
      </p:sp>
      <p:grpSp>
        <p:nvGrpSpPr>
          <p:cNvPr name="Group 4" id="4"/>
          <p:cNvGrpSpPr/>
          <p:nvPr/>
        </p:nvGrpSpPr>
        <p:grpSpPr>
          <a:xfrm rot="0">
            <a:off x="1219200" y="2777433"/>
            <a:ext cx="6096000" cy="3715544"/>
            <a:chOff x="0" y="0"/>
            <a:chExt cx="8128000" cy="4954058"/>
          </a:xfrm>
        </p:grpSpPr>
        <p:sp>
          <p:nvSpPr>
            <p:cNvPr name="Freeform 5" id="5"/>
            <p:cNvSpPr/>
            <p:nvPr/>
          </p:nvSpPr>
          <p:spPr>
            <a:xfrm flipH="false" flipV="false" rot="0">
              <a:off x="0" y="0"/>
              <a:ext cx="8128000" cy="4954020"/>
            </a:xfrm>
            <a:custGeom>
              <a:avLst/>
              <a:gdLst/>
              <a:ahLst/>
              <a:cxnLst/>
              <a:rect r="r" b="b" t="t" l="l"/>
              <a:pathLst>
                <a:path h="4954020" w="8128000">
                  <a:moveTo>
                    <a:pt x="0" y="197358"/>
                  </a:moveTo>
                  <a:cubicBezTo>
                    <a:pt x="0" y="88392"/>
                    <a:pt x="88392" y="0"/>
                    <a:pt x="197358" y="0"/>
                  </a:cubicBezTo>
                  <a:lnTo>
                    <a:pt x="7930642" y="0"/>
                  </a:lnTo>
                  <a:cubicBezTo>
                    <a:pt x="8039608" y="0"/>
                    <a:pt x="8128000" y="88392"/>
                    <a:pt x="8128000" y="197358"/>
                  </a:cubicBezTo>
                  <a:lnTo>
                    <a:pt x="8128000" y="4756662"/>
                  </a:lnTo>
                  <a:cubicBezTo>
                    <a:pt x="8128000" y="4865628"/>
                    <a:pt x="8039608" y="4954020"/>
                    <a:pt x="7930642" y="4954020"/>
                  </a:cubicBezTo>
                  <a:lnTo>
                    <a:pt x="197358" y="4954020"/>
                  </a:lnTo>
                  <a:cubicBezTo>
                    <a:pt x="88392" y="4954020"/>
                    <a:pt x="0" y="4865755"/>
                    <a:pt x="0" y="4756662"/>
                  </a:cubicBezTo>
                  <a:close/>
                </a:path>
              </a:pathLst>
            </a:custGeom>
            <a:solidFill>
              <a:srgbClr val="060D19"/>
            </a:solidFill>
            <a:ln w="9525" cap="sq">
              <a:solidFill>
                <a:srgbClr val="223A5E"/>
              </a:solidFill>
              <a:prstDash val="solid"/>
              <a:miter/>
            </a:ln>
          </p:spPr>
        </p:sp>
        <p:sp>
          <p:nvSpPr>
            <p:cNvPr name="TextBox 6" id="6"/>
            <p:cNvSpPr txBox="true"/>
            <p:nvPr/>
          </p:nvSpPr>
          <p:spPr>
            <a:xfrm>
              <a:off x="0" y="-47625"/>
              <a:ext cx="8128000" cy="5001683"/>
            </a:xfrm>
            <a:prstGeom prst="rect">
              <a:avLst/>
            </a:prstGeom>
          </p:spPr>
          <p:txBody>
            <a:bodyPr anchor="t" rtlCol="false" tIns="50800" lIns="50800" bIns="50800" rIns="50800"/>
            <a:lstStyle/>
            <a:p>
              <a:pPr algn="l">
                <a:lnSpc>
                  <a:spcPts val="3045"/>
                </a:lnSpc>
              </a:pPr>
              <a:r>
                <a:rPr lang="en-US" sz="2100">
                  <a:solidFill>
                    <a:srgbClr val="9FB0C8"/>
                  </a:solidFill>
                  <a:latin typeface="Source Serif Pro"/>
                  <a:ea typeface="Source Serif Pro"/>
                  <a:cs typeface="Source Serif Pro"/>
                  <a:sym typeface="Source Serif Pro"/>
                </a:rPr>
                <a:t>{</a:t>
              </a:r>
            </a:p>
            <a:p>
              <a:pPr algn="l">
                <a:lnSpc>
                  <a:spcPts val="3045"/>
                </a:lnSpc>
              </a:pPr>
              <a:r>
                <a:rPr lang="en-US" sz="2100">
                  <a:solidFill>
                    <a:srgbClr val="9FB0C8"/>
                  </a:solidFill>
                  <a:latin typeface="Source Serif Pro"/>
                  <a:ea typeface="Source Serif Pro"/>
                  <a:cs typeface="Source Serif Pro"/>
                  <a:sym typeface="Source Serif Pro"/>
                </a:rPr>
                <a:t>  </a:t>
              </a:r>
              <a:r>
                <a:rPr lang="en-US" sz="2100">
                  <a:solidFill>
                    <a:srgbClr val="38BDF8"/>
                  </a:solidFill>
                  <a:latin typeface="Source Serif Pro"/>
                  <a:ea typeface="Source Serif Pro"/>
                  <a:cs typeface="Source Serif Pro"/>
                  <a:sym typeface="Source Serif Pro"/>
                </a:rPr>
                <a:t>"type"</a:t>
              </a:r>
              <a:r>
                <a:rPr lang="en-US" sz="2100">
                  <a:solidFill>
                    <a:srgbClr val="9FB0C8"/>
                  </a:solidFill>
                  <a:latin typeface="Source Serif Pro"/>
                  <a:ea typeface="Source Serif Pro"/>
                  <a:cs typeface="Source Serif Pro"/>
                  <a:sym typeface="Source Serif Pro"/>
                </a:rPr>
                <a:t>: </a:t>
              </a:r>
              <a:r>
                <a:rPr lang="en-US" sz="2100">
                  <a:solidFill>
                    <a:srgbClr val="FBBF24"/>
                  </a:solidFill>
                  <a:latin typeface="Source Serif Pro"/>
                  <a:ea typeface="Source Serif Pro"/>
                  <a:cs typeface="Source Serif Pro"/>
                  <a:sym typeface="Source Serif Pro"/>
                </a:rPr>
                <a:t>"DRAW"</a:t>
              </a:r>
              <a:r>
                <a:rPr lang="en-US" sz="2100">
                  <a:solidFill>
                    <a:srgbClr val="9FB0C8"/>
                  </a:solidFill>
                  <a:latin typeface="Source Serif Pro"/>
                  <a:ea typeface="Source Serif Pro"/>
                  <a:cs typeface="Source Serif Pro"/>
                  <a:sym typeface="Source Serif Pro"/>
                </a:rPr>
                <a:t>,</a:t>
              </a:r>
            </a:p>
            <a:p>
              <a:pPr algn="l">
                <a:lnSpc>
                  <a:spcPts val="3045"/>
                </a:lnSpc>
              </a:pPr>
              <a:r>
                <a:rPr lang="en-US" sz="2100">
                  <a:solidFill>
                    <a:srgbClr val="9FB0C8"/>
                  </a:solidFill>
                  <a:latin typeface="Source Serif Pro"/>
                  <a:ea typeface="Source Serif Pro"/>
                  <a:cs typeface="Source Serif Pro"/>
                  <a:sym typeface="Source Serif Pro"/>
                </a:rPr>
                <a:t>  </a:t>
              </a:r>
              <a:r>
                <a:rPr lang="en-US" sz="2100">
                  <a:solidFill>
                    <a:srgbClr val="38BDF8"/>
                  </a:solidFill>
                  <a:latin typeface="Source Serif Pro"/>
                  <a:ea typeface="Source Serif Pro"/>
                  <a:cs typeface="Source Serif Pro"/>
                  <a:sym typeface="Source Serif Pro"/>
                </a:rPr>
                <a:t>"user_id"</a:t>
              </a:r>
              <a:r>
                <a:rPr lang="en-US" sz="2100">
                  <a:solidFill>
                    <a:srgbClr val="9FB0C8"/>
                  </a:solidFill>
                  <a:latin typeface="Source Serif Pro"/>
                  <a:ea typeface="Source Serif Pro"/>
                  <a:cs typeface="Source Serif Pro"/>
                  <a:sym typeface="Source Serif Pro"/>
                </a:rPr>
                <a:t>: </a:t>
              </a:r>
              <a:r>
                <a:rPr lang="en-US" sz="2100">
                  <a:solidFill>
                    <a:srgbClr val="FBBF24"/>
                  </a:solidFill>
                  <a:latin typeface="Source Serif Pro"/>
                  <a:ea typeface="Source Serif Pro"/>
                  <a:cs typeface="Source Serif Pro"/>
                  <a:sym typeface="Source Serif Pro"/>
                </a:rPr>
                <a:t>"a3f9c1d2"</a:t>
              </a:r>
              <a:r>
                <a:rPr lang="en-US" sz="2100">
                  <a:solidFill>
                    <a:srgbClr val="9FB0C8"/>
                  </a:solidFill>
                  <a:latin typeface="Source Serif Pro"/>
                  <a:ea typeface="Source Serif Pro"/>
                  <a:cs typeface="Source Serif Pro"/>
                  <a:sym typeface="Source Serif Pro"/>
                </a:rPr>
                <a:t>,</a:t>
              </a:r>
            </a:p>
            <a:p>
              <a:pPr algn="l">
                <a:lnSpc>
                  <a:spcPts val="3045"/>
                </a:lnSpc>
              </a:pPr>
              <a:r>
                <a:rPr lang="en-US" sz="2100">
                  <a:solidFill>
                    <a:srgbClr val="9FB0C8"/>
                  </a:solidFill>
                  <a:latin typeface="Source Serif Pro"/>
                  <a:ea typeface="Source Serif Pro"/>
                  <a:cs typeface="Source Serif Pro"/>
                  <a:sym typeface="Source Serif Pro"/>
                </a:rPr>
                <a:t>  </a:t>
              </a:r>
              <a:r>
                <a:rPr lang="en-US" sz="2100">
                  <a:solidFill>
                    <a:srgbClr val="38BDF8"/>
                  </a:solidFill>
                  <a:latin typeface="Source Serif Pro"/>
                  <a:ea typeface="Source Serif Pro"/>
                  <a:cs typeface="Source Serif Pro"/>
                  <a:sym typeface="Source Serif Pro"/>
                </a:rPr>
                <a:t>"x"</a:t>
              </a:r>
              <a:r>
                <a:rPr lang="en-US" sz="2100">
                  <a:solidFill>
                    <a:srgbClr val="9FB0C8"/>
                  </a:solidFill>
                  <a:latin typeface="Source Serif Pro"/>
                  <a:ea typeface="Source Serif Pro"/>
                  <a:cs typeface="Source Serif Pro"/>
                  <a:sym typeface="Source Serif Pro"/>
                </a:rPr>
                <a:t>: 125, </a:t>
              </a:r>
              <a:r>
                <a:rPr lang="en-US" sz="2100">
                  <a:solidFill>
                    <a:srgbClr val="38BDF8"/>
                  </a:solidFill>
                  <a:latin typeface="Source Serif Pro"/>
                  <a:ea typeface="Source Serif Pro"/>
                  <a:cs typeface="Source Serif Pro"/>
                  <a:sym typeface="Source Serif Pro"/>
                </a:rPr>
                <a:t>"y"</a:t>
              </a:r>
              <a:r>
                <a:rPr lang="en-US" sz="2100">
                  <a:solidFill>
                    <a:srgbClr val="9FB0C8"/>
                  </a:solidFill>
                  <a:latin typeface="Source Serif Pro"/>
                  <a:ea typeface="Source Serif Pro"/>
                  <a:cs typeface="Source Serif Pro"/>
                  <a:sym typeface="Source Serif Pro"/>
                </a:rPr>
                <a:t>: 210,</a:t>
              </a:r>
            </a:p>
            <a:p>
              <a:pPr algn="l">
                <a:lnSpc>
                  <a:spcPts val="3045"/>
                </a:lnSpc>
              </a:pPr>
              <a:r>
                <a:rPr lang="en-US" sz="2100">
                  <a:solidFill>
                    <a:srgbClr val="9FB0C8"/>
                  </a:solidFill>
                  <a:latin typeface="Source Serif Pro"/>
                  <a:ea typeface="Source Serif Pro"/>
                  <a:cs typeface="Source Serif Pro"/>
                  <a:sym typeface="Source Serif Pro"/>
                </a:rPr>
                <a:t>  </a:t>
              </a:r>
              <a:r>
                <a:rPr lang="en-US" sz="2100">
                  <a:solidFill>
                    <a:srgbClr val="38BDF8"/>
                  </a:solidFill>
                  <a:latin typeface="Source Serif Pro"/>
                  <a:ea typeface="Source Serif Pro"/>
                  <a:cs typeface="Source Serif Pro"/>
                  <a:sym typeface="Source Serif Pro"/>
                </a:rPr>
                <a:t>"prev_x"</a:t>
              </a:r>
              <a:r>
                <a:rPr lang="en-US" sz="2100">
                  <a:solidFill>
                    <a:srgbClr val="9FB0C8"/>
                  </a:solidFill>
                  <a:latin typeface="Source Serif Pro"/>
                  <a:ea typeface="Source Serif Pro"/>
                  <a:cs typeface="Source Serif Pro"/>
                  <a:sym typeface="Source Serif Pro"/>
                </a:rPr>
                <a:t>: 118, </a:t>
              </a:r>
              <a:r>
                <a:rPr lang="en-US" sz="2100">
                  <a:solidFill>
                    <a:srgbClr val="38BDF8"/>
                  </a:solidFill>
                  <a:latin typeface="Source Serif Pro"/>
                  <a:ea typeface="Source Serif Pro"/>
                  <a:cs typeface="Source Serif Pro"/>
                  <a:sym typeface="Source Serif Pro"/>
                </a:rPr>
                <a:t>"prev_y"</a:t>
              </a:r>
              <a:r>
                <a:rPr lang="en-US" sz="2100">
                  <a:solidFill>
                    <a:srgbClr val="9FB0C8"/>
                  </a:solidFill>
                  <a:latin typeface="Source Serif Pro"/>
                  <a:ea typeface="Source Serif Pro"/>
                  <a:cs typeface="Source Serif Pro"/>
                  <a:sym typeface="Source Serif Pro"/>
                </a:rPr>
                <a:t>: 203,</a:t>
              </a:r>
            </a:p>
            <a:p>
              <a:pPr algn="l">
                <a:lnSpc>
                  <a:spcPts val="3045"/>
                </a:lnSpc>
              </a:pPr>
              <a:r>
                <a:rPr lang="en-US" sz="2100">
                  <a:solidFill>
                    <a:srgbClr val="9FB0C8"/>
                  </a:solidFill>
                  <a:latin typeface="Source Serif Pro"/>
                  <a:ea typeface="Source Serif Pro"/>
                  <a:cs typeface="Source Serif Pro"/>
                  <a:sym typeface="Source Serif Pro"/>
                </a:rPr>
                <a:t>  </a:t>
              </a:r>
              <a:r>
                <a:rPr lang="en-US" sz="2100">
                  <a:solidFill>
                    <a:srgbClr val="38BDF8"/>
                  </a:solidFill>
                  <a:latin typeface="Source Serif Pro"/>
                  <a:ea typeface="Source Serif Pro"/>
                  <a:cs typeface="Source Serif Pro"/>
                  <a:sym typeface="Source Serif Pro"/>
                </a:rPr>
                <a:t>"color"</a:t>
              </a:r>
              <a:r>
                <a:rPr lang="en-US" sz="2100">
                  <a:solidFill>
                    <a:srgbClr val="9FB0C8"/>
                  </a:solidFill>
                  <a:latin typeface="Source Serif Pro"/>
                  <a:ea typeface="Source Serif Pro"/>
                  <a:cs typeface="Source Serif Pro"/>
                  <a:sym typeface="Source Serif Pro"/>
                </a:rPr>
                <a:t>: </a:t>
              </a:r>
              <a:r>
                <a:rPr lang="en-US" sz="2100">
                  <a:solidFill>
                    <a:srgbClr val="FBBF24"/>
                  </a:solidFill>
                  <a:latin typeface="Source Serif Pro"/>
                  <a:ea typeface="Source Serif Pro"/>
                  <a:cs typeface="Source Serif Pro"/>
                  <a:sym typeface="Source Serif Pro"/>
                </a:rPr>
                <a:t>"#111111"</a:t>
              </a:r>
              <a:r>
                <a:rPr lang="en-US" sz="2100">
                  <a:solidFill>
                    <a:srgbClr val="9FB0C8"/>
                  </a:solidFill>
                  <a:latin typeface="Source Serif Pro"/>
                  <a:ea typeface="Source Serif Pro"/>
                  <a:cs typeface="Source Serif Pro"/>
                  <a:sym typeface="Source Serif Pro"/>
                </a:rPr>
                <a:t>,</a:t>
              </a:r>
            </a:p>
            <a:p>
              <a:pPr algn="l">
                <a:lnSpc>
                  <a:spcPts val="3045"/>
                </a:lnSpc>
              </a:pPr>
              <a:r>
                <a:rPr lang="en-US" sz="2100">
                  <a:solidFill>
                    <a:srgbClr val="9FB0C8"/>
                  </a:solidFill>
                  <a:latin typeface="Source Serif Pro"/>
                  <a:ea typeface="Source Serif Pro"/>
                  <a:cs typeface="Source Serif Pro"/>
                  <a:sym typeface="Source Serif Pro"/>
                </a:rPr>
                <a:t>  </a:t>
              </a:r>
              <a:r>
                <a:rPr lang="en-US" sz="2100">
                  <a:solidFill>
                    <a:srgbClr val="38BDF8"/>
                  </a:solidFill>
                  <a:latin typeface="Source Serif Pro"/>
                  <a:ea typeface="Source Serif Pro"/>
                  <a:cs typeface="Source Serif Pro"/>
                  <a:sym typeface="Source Serif Pro"/>
                </a:rPr>
                <a:t>"width"</a:t>
              </a:r>
              <a:r>
                <a:rPr lang="en-US" sz="2100">
                  <a:solidFill>
                    <a:srgbClr val="9FB0C8"/>
                  </a:solidFill>
                  <a:latin typeface="Source Serif Pro"/>
                  <a:ea typeface="Source Serif Pro"/>
                  <a:cs typeface="Source Serif Pro"/>
                  <a:sym typeface="Source Serif Pro"/>
                </a:rPr>
                <a:t>: 4</a:t>
              </a:r>
            </a:p>
            <a:p>
              <a:pPr algn="l">
                <a:lnSpc>
                  <a:spcPts val="3045"/>
                </a:lnSpc>
              </a:pPr>
              <a:r>
                <a:rPr lang="en-US" sz="2100">
                  <a:solidFill>
                    <a:srgbClr val="9FB0C8"/>
                  </a:solidFill>
                  <a:latin typeface="Source Serif Pro"/>
                  <a:ea typeface="Source Serif Pro"/>
                  <a:cs typeface="Source Serif Pro"/>
                  <a:sym typeface="Source Serif Pro"/>
                </a:rPr>
                <a:t>}</a:t>
              </a:r>
            </a:p>
          </p:txBody>
        </p:sp>
      </p:grpSp>
      <p:sp>
        <p:nvSpPr>
          <p:cNvPr name="TextBox 7" id="7"/>
          <p:cNvSpPr txBox="true"/>
          <p:nvPr/>
        </p:nvSpPr>
        <p:spPr>
          <a:xfrm rot="0">
            <a:off x="1219200" y="6645373"/>
            <a:ext cx="6278880" cy="674370"/>
          </a:xfrm>
          <a:prstGeom prst="rect">
            <a:avLst/>
          </a:prstGeom>
        </p:spPr>
        <p:txBody>
          <a:bodyPr anchor="t" rtlCol="false" tIns="0" lIns="0" bIns="0" rIns="0">
            <a:spAutoFit/>
          </a:bodyPr>
          <a:lstStyle/>
          <a:p>
            <a:pPr algn="l">
              <a:lnSpc>
                <a:spcPts val="2729"/>
              </a:lnSpc>
            </a:pPr>
            <a:r>
              <a:rPr lang="en-US" sz="1950">
                <a:solidFill>
                  <a:srgbClr val="9FB0C8"/>
                </a:solidFill>
                <a:latin typeface="Source Serif Pro"/>
                <a:ea typeface="Source Serif Pro"/>
                <a:cs typeface="Source Serif Pro"/>
                <a:sym typeface="Source Serif Pro"/>
              </a:rPr>
              <a:t>Each message is one line segment: the current and previous point, so receivers redraw it exactly.</a:t>
            </a:r>
          </a:p>
        </p:txBody>
      </p:sp>
      <p:graphicFrame>
        <p:nvGraphicFramePr>
          <p:cNvPr name="Table 8" id="8"/>
          <p:cNvGraphicFramePr>
            <a:graphicFrameLocks noGrp="true"/>
          </p:cNvGraphicFramePr>
          <p:nvPr/>
        </p:nvGraphicFramePr>
        <p:xfrm>
          <a:off x="7791450" y="2796480"/>
          <a:ext cx="9239250" cy="4267200"/>
        </p:xfrm>
        <a:graphic>
          <a:graphicData uri="http://schemas.openxmlformats.org/drawingml/2006/table">
            <a:tbl>
              <a:tblPr/>
              <a:tblGrid>
                <a:gridCol w="3140595"/>
                <a:gridCol w="2410451"/>
                <a:gridCol w="3688204"/>
              </a:tblGrid>
              <a:tr h="533400">
                <a:tc>
                  <a:txBody>
                    <a:bodyPr anchor="t" rtlCol="false"/>
                    <a:lstStyle/>
                    <a:p>
                      <a:pPr algn="l">
                        <a:lnSpc>
                          <a:spcPts val="2729"/>
                        </a:lnSpc>
                        <a:defRPr/>
                      </a:pPr>
                      <a:r>
                        <a:rPr lang="en-US" sz="1950" b="true">
                          <a:solidFill>
                            <a:srgbClr val="E6EDF7"/>
                          </a:solidFill>
                          <a:latin typeface="Source Serif Pro Bold"/>
                          <a:ea typeface="Source Serif Pro Bold"/>
                          <a:cs typeface="Source Serif Pro Bold"/>
                          <a:sym typeface="Source Serif Pro Bold"/>
                        </a:rPr>
                        <a:t>Event</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C5F77"/>
                      </a:solidFill>
                      <a:prstDash val="solid"/>
                      <a:round/>
                      <a:headEnd type="none" w="med" len="med"/>
                      <a:tailEnd type="none" w="med" len="med"/>
                    </a:lnR>
                    <a:lnT cmpd="sng" algn="ctr" cap="flat" w="12700">
                      <a:solidFill>
                        <a:srgbClr val="404652"/>
                      </a:solidFill>
                      <a:prstDash val="solid"/>
                      <a:round/>
                      <a:headEnd type="none" w="med" len="med"/>
                      <a:tailEnd type="none" w="med" len="med"/>
                    </a:lnT>
                    <a:lnB cmpd="sng" algn="ctr" cap="flat" w="12700">
                      <a:solidFill>
                        <a:srgbClr val="4C5F77"/>
                      </a:solidFill>
                      <a:prstDash val="solid"/>
                      <a:round/>
                      <a:headEnd type="none" w="med" len="med"/>
                      <a:tailEnd type="none" w="med" len="med"/>
                    </a:lnB>
                    <a:solidFill>
                      <a:srgbClr val="1B3354"/>
                    </a:solidFill>
                  </a:tcPr>
                </a:tc>
                <a:tc>
                  <a:txBody>
                    <a:bodyPr anchor="t" rtlCol="false"/>
                    <a:lstStyle/>
                    <a:p>
                      <a:pPr algn="l">
                        <a:lnSpc>
                          <a:spcPts val="2729"/>
                        </a:lnSpc>
                        <a:defRPr/>
                      </a:pPr>
                      <a:r>
                        <a:rPr lang="en-US" sz="1950" b="true">
                          <a:solidFill>
                            <a:srgbClr val="E6EDF7"/>
                          </a:solidFill>
                          <a:latin typeface="Source Serif Pro Bold"/>
                          <a:ea typeface="Source Serif Pro Bold"/>
                          <a:cs typeface="Source Serif Pro Bold"/>
                          <a:sym typeface="Source Serif Pro Bold"/>
                        </a:rPr>
                        <a:t>Direction</a:t>
                      </a:r>
                      <a:endParaRPr lang="en-US" sz="1100"/>
                    </a:p>
                  </a:txBody>
                  <a:tcPr marL="57785" marR="57785" marT="57785" marB="57785" anchor="t">
                    <a:lnL cmpd="sng" algn="ctr" cap="flat" w="12700">
                      <a:solidFill>
                        <a:srgbClr val="4C5F77"/>
                      </a:solidFill>
                      <a:prstDash val="solid"/>
                      <a:round/>
                      <a:headEnd type="none" w="med" len="med"/>
                      <a:tailEnd type="none" w="med" len="med"/>
                    </a:lnL>
                    <a:lnR cmpd="sng" algn="ctr" cap="flat" w="12700">
                      <a:solidFill>
                        <a:srgbClr val="4C5F77"/>
                      </a:solidFill>
                      <a:prstDash val="solid"/>
                      <a:round/>
                      <a:headEnd type="none" w="med" len="med"/>
                      <a:tailEnd type="none" w="med" len="med"/>
                    </a:lnR>
                    <a:lnT cmpd="sng" algn="ctr" cap="flat" w="12700">
                      <a:solidFill>
                        <a:srgbClr val="404652"/>
                      </a:solidFill>
                      <a:prstDash val="solid"/>
                      <a:round/>
                      <a:headEnd type="none" w="med" len="med"/>
                      <a:tailEnd type="none" w="med" len="med"/>
                    </a:lnT>
                    <a:lnB cmpd="sng" algn="ctr" cap="flat" w="12700">
                      <a:solidFill>
                        <a:srgbClr val="4C5F77"/>
                      </a:solidFill>
                      <a:prstDash val="solid"/>
                      <a:round/>
                      <a:headEnd type="none" w="med" len="med"/>
                      <a:tailEnd type="none" w="med" len="med"/>
                    </a:lnB>
                    <a:solidFill>
                      <a:srgbClr val="1B3354"/>
                    </a:solidFill>
                  </a:tcPr>
                </a:tc>
                <a:tc>
                  <a:txBody>
                    <a:bodyPr anchor="t" rtlCol="false"/>
                    <a:lstStyle/>
                    <a:p>
                      <a:pPr algn="l">
                        <a:lnSpc>
                          <a:spcPts val="2729"/>
                        </a:lnSpc>
                        <a:defRPr/>
                      </a:pPr>
                      <a:r>
                        <a:rPr lang="en-US" sz="1950" b="true">
                          <a:solidFill>
                            <a:srgbClr val="E6EDF7"/>
                          </a:solidFill>
                          <a:latin typeface="Source Serif Pro Bold"/>
                          <a:ea typeface="Source Serif Pro Bold"/>
                          <a:cs typeface="Source Serif Pro Bold"/>
                          <a:sym typeface="Source Serif Pro Bold"/>
                        </a:rPr>
                        <a:t>Purpose</a:t>
                      </a:r>
                      <a:endParaRPr lang="en-US" sz="1100"/>
                    </a:p>
                  </a:txBody>
                  <a:tcPr marL="57785" marR="57785" marT="57785" marB="57785" anchor="t">
                    <a:lnL cmpd="sng" algn="ctr" cap="flat" w="12700">
                      <a:solidFill>
                        <a:srgbClr val="4C5F77"/>
                      </a:solidFill>
                      <a:prstDash val="solid"/>
                      <a:round/>
                      <a:headEnd type="none" w="med" len="med"/>
                      <a:tailEnd type="none" w="med" len="med"/>
                    </a:lnL>
                    <a:lnR cmpd="sng" algn="ctr" cap="flat" w="12700">
                      <a:solidFill>
                        <a:srgbClr val="4C5F77"/>
                      </a:solidFill>
                      <a:prstDash val="solid"/>
                      <a:round/>
                      <a:headEnd type="none" w="med" len="med"/>
                      <a:tailEnd type="none" w="med" len="med"/>
                    </a:lnR>
                    <a:lnT cmpd="sng" algn="ctr" cap="flat" w="12700">
                      <a:solidFill>
                        <a:srgbClr val="404652"/>
                      </a:solidFill>
                      <a:prstDash val="solid"/>
                      <a:round/>
                      <a:headEnd type="none" w="med" len="med"/>
                      <a:tailEnd type="none" w="med" len="med"/>
                    </a:lnT>
                    <a:lnB cmpd="sng" algn="ctr" cap="flat" w="12700">
                      <a:solidFill>
                        <a:srgbClr val="4C5F77"/>
                      </a:solidFill>
                      <a:prstDash val="solid"/>
                      <a:round/>
                      <a:headEnd type="none" w="med" len="med"/>
                      <a:tailEnd type="none" w="med" len="med"/>
                    </a:lnB>
                    <a:solidFill>
                      <a:srgbClr val="1B3354"/>
                    </a:solidFill>
                  </a:tcPr>
                </a:tc>
              </a:tr>
              <a:tr h="533400">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DRAW</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C5F77"/>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C → S → all</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C5F77"/>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Draw one segment</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C5F77"/>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r>
              <a:tr h="533400">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ERASE</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C → S → all</a:t>
                      </a:r>
                      <a:endParaRPr lang="en-US" sz="1100"/>
                    </a:p>
                  </a:txBody>
                  <a:tcPr marL="57785" marR="57785" marT="57785" marB="57785" anchor="t">
                    <a:lnL cmpd="sng" algn="ctr" cap="flat" w="12700">
                      <a:solidFill>
                        <a:srgbClr val="434B5A"/>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Erase one segment</a:t>
                      </a:r>
                      <a:endParaRPr lang="en-US" sz="1100"/>
                    </a:p>
                  </a:txBody>
                  <a:tcPr marL="57785" marR="57785" marT="57785" marB="57785" anchor="t">
                    <a:lnL cmpd="sng" algn="ctr" cap="flat" w="12700">
                      <a:solidFill>
                        <a:srgbClr val="434B5A"/>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r>
              <a:tr h="533400">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CLEAR</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C → S → all</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Clear the board</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r>
              <a:tr h="533400">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SYNC</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S → joiner</a:t>
                      </a:r>
                      <a:endParaRPr lang="en-US" sz="1100"/>
                    </a:p>
                  </a:txBody>
                  <a:tcPr marL="57785" marR="57785" marT="57785" marB="57785" anchor="t">
                    <a:lnL cmpd="sng" algn="ctr" cap="flat" w="12700">
                      <a:solidFill>
                        <a:srgbClr val="434B5A"/>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Replay stored drawing</a:t>
                      </a:r>
                      <a:endParaRPr lang="en-US" sz="1100"/>
                    </a:p>
                  </a:txBody>
                  <a:tcPr marL="57785" marR="57785" marT="57785" marB="57785" anchor="t">
                    <a:lnL cmpd="sng" algn="ctr" cap="flat" w="12700">
                      <a:solidFill>
                        <a:srgbClr val="434B5A"/>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r>
              <a:tr h="533400">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WELCOME</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S → joiner</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Client id, users online</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r>
              <a:tr h="533400">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USER_JOINED / LEFT</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S → others</a:t>
                      </a:r>
                      <a:endParaRPr lang="en-US" sz="1100"/>
                    </a:p>
                  </a:txBody>
                  <a:tcPr marL="57785" marR="57785" marT="57785" marB="57785" anchor="t">
                    <a:lnL cmpd="sng" algn="ctr" cap="flat" w="12700">
                      <a:solidFill>
                        <a:srgbClr val="434B5A"/>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Update online count</a:t>
                      </a:r>
                      <a:endParaRPr lang="en-US" sz="1100"/>
                    </a:p>
                  </a:txBody>
                  <a:tcPr marL="57785" marR="57785" marT="57785" marB="57785" anchor="t">
                    <a:lnL cmpd="sng" algn="ctr" cap="flat" w="12700">
                      <a:solidFill>
                        <a:srgbClr val="434B5A"/>
                      </a:solidFill>
                      <a:prstDash val="solid"/>
                      <a:round/>
                      <a:headEnd type="none" w="med" len="med"/>
                      <a:tailEnd type="none" w="med" len="med"/>
                    </a:lnL>
                    <a:lnR cmpd="sng" algn="ctr" cap="flat" w="12700">
                      <a:solidFill>
                        <a:srgbClr val="434B5A"/>
                      </a:solidFill>
                      <a:prstDash val="solid"/>
                      <a:round/>
                      <a:headEnd type="none" w="med" len="med"/>
                      <a:tailEnd type="none" w="med" len="med"/>
                    </a:lnR>
                    <a:lnT cmpd="sng" algn="ctr" cap="flat" w="12700">
                      <a:solidFill>
                        <a:srgbClr val="454F60"/>
                      </a:solidFill>
                      <a:prstDash val="solid"/>
                      <a:round/>
                      <a:headEnd type="none" w="med" len="med"/>
                      <a:tailEnd type="none" w="med" len="med"/>
                    </a:lnT>
                    <a:lnB cmpd="sng" algn="ctr" cap="flat" w="12700">
                      <a:solidFill>
                        <a:srgbClr val="434B5A"/>
                      </a:solidFill>
                      <a:prstDash val="solid"/>
                      <a:round/>
                      <a:headEnd type="none" w="med" len="med"/>
                      <a:tailEnd type="none" w="med" len="med"/>
                    </a:lnB>
                    <a:solidFill>
                      <a:srgbClr val="0F1A2E"/>
                    </a:solidFill>
                  </a:tcPr>
                </a:tc>
              </a:tr>
              <a:tr h="533400">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PING / PONG</a:t>
                      </a:r>
                      <a:endParaRPr lang="en-US" sz="1100"/>
                    </a:p>
                  </a:txBody>
                  <a:tcPr marL="57785" marR="57785" marT="57785" marB="57785" anchor="t">
                    <a:lnL cmpd="sng" algn="ctr" cap="flat" w="12700">
                      <a:solidFill>
                        <a:srgbClr val="404652"/>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C ↔ S</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c>
                  <a:txBody>
                    <a:bodyPr anchor="t" rtlCol="false"/>
                    <a:lstStyle/>
                    <a:p>
                      <a:pPr algn="l">
                        <a:lnSpc>
                          <a:spcPts val="2729"/>
                        </a:lnSpc>
                        <a:defRPr/>
                      </a:pPr>
                      <a:r>
                        <a:rPr lang="en-US" sz="1950">
                          <a:solidFill>
                            <a:srgbClr val="E6EDF7"/>
                          </a:solidFill>
                          <a:latin typeface="Source Serif Pro"/>
                          <a:ea typeface="Source Serif Pro"/>
                          <a:cs typeface="Source Serif Pro"/>
                          <a:sym typeface="Source Serif Pro"/>
                        </a:rPr>
                        <a:t>Latency probe</a:t>
                      </a:r>
                      <a:endParaRPr lang="en-US" sz="1100"/>
                    </a:p>
                  </a:txBody>
                  <a:tcPr marL="57785" marR="57785" marT="57785" marB="57785" anchor="t">
                    <a:lnL cmpd="sng" algn="ctr" cap="flat" w="12700">
                      <a:solidFill>
                        <a:srgbClr val="454F60"/>
                      </a:solidFill>
                      <a:prstDash val="solid"/>
                      <a:round/>
                      <a:headEnd type="none" w="med" len="med"/>
                      <a:tailEnd type="none" w="med" len="med"/>
                    </a:lnL>
                    <a:lnR cmpd="sng" algn="ctr" cap="flat" w="12700">
                      <a:solidFill>
                        <a:srgbClr val="454F60"/>
                      </a:solidFill>
                      <a:prstDash val="solid"/>
                      <a:round/>
                      <a:headEnd type="none" w="med" len="med"/>
                      <a:tailEnd type="none" w="med" len="med"/>
                    </a:lnR>
                    <a:lnT cmpd="sng" algn="ctr" cap="flat" w="12700">
                      <a:solidFill>
                        <a:srgbClr val="434B5A"/>
                      </a:solidFill>
                      <a:prstDash val="solid"/>
                      <a:round/>
                      <a:headEnd type="none" w="med" len="med"/>
                      <a:tailEnd type="none" w="med" len="med"/>
                    </a:lnT>
                    <a:lnB cmpd="sng" algn="ctr" cap="flat" w="12700">
                      <a:solidFill>
                        <a:srgbClr val="454F60"/>
                      </a:solidFill>
                      <a:prstDash val="solid"/>
                      <a:round/>
                      <a:headEnd type="none" w="med" len="med"/>
                      <a:tailEnd type="none" w="med" len="med"/>
                    </a:lnB>
                    <a:solidFill>
                      <a:srgbClr val="121F36"/>
                    </a:solidFill>
                  </a:tcPr>
                </a:tc>
              </a:tr>
            </a:tbl>
          </a:graphicData>
        </a:graphic>
      </p:graphicFrame>
      <p:sp>
        <p:nvSpPr>
          <p:cNvPr name="TextBox 9" id="9"/>
          <p:cNvSpPr txBox="true"/>
          <p:nvPr/>
        </p:nvSpPr>
        <p:spPr>
          <a:xfrm rot="0">
            <a:off x="1219200" y="9319317"/>
            <a:ext cx="6430928"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C = client, S = server · LAN Collaborative Whiteboard</a:t>
            </a:r>
          </a:p>
        </p:txBody>
      </p:sp>
      <p:sp>
        <p:nvSpPr>
          <p:cNvPr name="TextBox 10" id="10"/>
          <p:cNvSpPr txBox="true"/>
          <p:nvPr/>
        </p:nvSpPr>
        <p:spPr>
          <a:xfrm rot="0">
            <a:off x="16794461" y="9319317"/>
            <a:ext cx="350539" cy="306705"/>
          </a:xfrm>
          <a:prstGeom prst="rect">
            <a:avLst/>
          </a:prstGeom>
        </p:spPr>
        <p:txBody>
          <a:bodyPr anchor="t" rtlCol="false" tIns="0" lIns="0" bIns="0" rIns="0">
            <a:spAutoFit/>
          </a:bodyPr>
          <a:lstStyle/>
          <a:p>
            <a:pPr algn="l">
              <a:lnSpc>
                <a:spcPts val="2520"/>
              </a:lnSpc>
            </a:pPr>
            <a:r>
              <a:rPr lang="en-US" sz="1800">
                <a:solidFill>
                  <a:srgbClr val="9FB0C8"/>
                </a:solidFill>
                <a:latin typeface="Source Serif Pro"/>
                <a:ea typeface="Source Serif Pro"/>
                <a:cs typeface="Source Serif Pro"/>
                <a:sym typeface="Source Serif Pro"/>
              </a:rPr>
              <a:t>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1D6FDC"/>
                </a:solidFill>
                <a:latin typeface="Source Serif Pro Bold"/>
                <a:ea typeface="Source Serif Pro Bold"/>
                <a:cs typeface="Source Serif Pro Bold"/>
                <a:sym typeface="Source Serif Pro Bold"/>
              </a:rPr>
              <a:t>07 · END-TO-END WORKING</a:t>
            </a:r>
          </a:p>
        </p:txBody>
      </p:sp>
      <p:sp>
        <p:nvSpPr>
          <p:cNvPr name="TextBox 3" id="3"/>
          <p:cNvSpPr txBox="true"/>
          <p:nvPr/>
        </p:nvSpPr>
        <p:spPr>
          <a:xfrm rot="0">
            <a:off x="1219200" y="1727797"/>
            <a:ext cx="4434384" cy="773430"/>
          </a:xfrm>
          <a:prstGeom prst="rect">
            <a:avLst/>
          </a:prstGeom>
        </p:spPr>
        <p:txBody>
          <a:bodyPr anchor="t" rtlCol="false" tIns="0" lIns="0" bIns="0" rIns="0">
            <a:spAutoFit/>
          </a:bodyPr>
          <a:lstStyle/>
          <a:p>
            <a:pPr algn="l">
              <a:lnSpc>
                <a:spcPts val="5940"/>
              </a:lnSpc>
            </a:pPr>
            <a:r>
              <a:rPr lang="en-US" sz="5400" b="true">
                <a:solidFill>
                  <a:srgbClr val="0B1424"/>
                </a:solidFill>
                <a:latin typeface="Source Serif Pro Bold"/>
                <a:ea typeface="Source Serif Pro Bold"/>
                <a:cs typeface="Source Serif Pro Bold"/>
                <a:sym typeface="Source Serif Pro Bold"/>
              </a:rPr>
              <a:t>Message Flow</a:t>
            </a:r>
          </a:p>
        </p:txBody>
      </p:sp>
      <p:grpSp>
        <p:nvGrpSpPr>
          <p:cNvPr name="Group 4" id="4"/>
          <p:cNvGrpSpPr/>
          <p:nvPr/>
        </p:nvGrpSpPr>
        <p:grpSpPr>
          <a:xfrm rot="0">
            <a:off x="1219200" y="2777433"/>
            <a:ext cx="8001000" cy="5985567"/>
            <a:chOff x="0" y="0"/>
            <a:chExt cx="10668000" cy="7980756"/>
          </a:xfrm>
        </p:grpSpPr>
        <p:sp>
          <p:nvSpPr>
            <p:cNvPr name="Freeform 5" id="5"/>
            <p:cNvSpPr/>
            <p:nvPr/>
          </p:nvSpPr>
          <p:spPr>
            <a:xfrm flipH="false" flipV="false" rot="0">
              <a:off x="0" y="0"/>
              <a:ext cx="10668000" cy="7980807"/>
            </a:xfrm>
            <a:custGeom>
              <a:avLst/>
              <a:gdLst/>
              <a:ahLst/>
              <a:cxnLst/>
              <a:rect r="r" b="b" t="t" l="l"/>
              <a:pathLst>
                <a:path h="7980807" w="10668000">
                  <a:moveTo>
                    <a:pt x="0" y="248031"/>
                  </a:moveTo>
                  <a:cubicBezTo>
                    <a:pt x="0" y="110998"/>
                    <a:pt x="110998" y="0"/>
                    <a:pt x="248031" y="0"/>
                  </a:cubicBezTo>
                  <a:lnTo>
                    <a:pt x="10419969" y="0"/>
                  </a:lnTo>
                  <a:cubicBezTo>
                    <a:pt x="10557002" y="0"/>
                    <a:pt x="10668000" y="110998"/>
                    <a:pt x="10668000" y="248031"/>
                  </a:cubicBezTo>
                  <a:lnTo>
                    <a:pt x="10668000" y="7732776"/>
                  </a:lnTo>
                  <a:cubicBezTo>
                    <a:pt x="10668000" y="7869809"/>
                    <a:pt x="10557002" y="7980807"/>
                    <a:pt x="10419969" y="7980807"/>
                  </a:cubicBezTo>
                  <a:lnTo>
                    <a:pt x="248031" y="7980807"/>
                  </a:lnTo>
                  <a:cubicBezTo>
                    <a:pt x="110998" y="7980807"/>
                    <a:pt x="0" y="7869682"/>
                    <a:pt x="0" y="7732776"/>
                  </a:cubicBezTo>
                  <a:close/>
                </a:path>
              </a:pathLst>
            </a:custGeom>
            <a:solidFill>
              <a:srgbClr val="FFFFFF"/>
            </a:solidFill>
            <a:ln w="9525" cap="sq">
              <a:solidFill>
                <a:srgbClr val="D5DEEA"/>
              </a:solidFill>
              <a:prstDash val="solid"/>
              <a:miter/>
            </a:ln>
          </p:spPr>
        </p:sp>
      </p:grpSp>
      <p:grpSp>
        <p:nvGrpSpPr>
          <p:cNvPr name="Group 6" id="6"/>
          <p:cNvGrpSpPr/>
          <p:nvPr/>
        </p:nvGrpSpPr>
        <p:grpSpPr>
          <a:xfrm rot="0">
            <a:off x="1377953" y="2960294"/>
            <a:ext cx="7683503" cy="5619750"/>
            <a:chOff x="0" y="0"/>
            <a:chExt cx="10244671" cy="7493000"/>
          </a:xfrm>
        </p:grpSpPr>
        <p:sp>
          <p:nvSpPr>
            <p:cNvPr name="Freeform 7" id="7" descr="Sequence diagram between Client A, the server and Client B showing page request, WebSocket upgrade, SYNC and WELCOME, DRAW and ERASE broadcasts, CLEAR, and USER_LEFT on disconnect"/>
            <p:cNvSpPr/>
            <p:nvPr/>
          </p:nvSpPr>
          <p:spPr>
            <a:xfrm flipH="false" flipV="false" rot="0">
              <a:off x="0" y="0"/>
              <a:ext cx="10244709" cy="7493000"/>
            </a:xfrm>
            <a:custGeom>
              <a:avLst/>
              <a:gdLst/>
              <a:ahLst/>
              <a:cxnLst/>
              <a:rect r="r" b="b" t="t" l="l"/>
              <a:pathLst>
                <a:path h="7493000" w="10244709">
                  <a:moveTo>
                    <a:pt x="0" y="0"/>
                  </a:moveTo>
                  <a:lnTo>
                    <a:pt x="10244709" y="0"/>
                  </a:lnTo>
                  <a:lnTo>
                    <a:pt x="10244709" y="7493000"/>
                  </a:lnTo>
                  <a:lnTo>
                    <a:pt x="0" y="7493000"/>
                  </a:lnTo>
                  <a:lnTo>
                    <a:pt x="0" y="0"/>
                  </a:lnTo>
                  <a:close/>
                </a:path>
              </a:pathLst>
            </a:custGeom>
            <a:blipFill>
              <a:blip r:embed="rId3"/>
              <a:stretch>
                <a:fillRect l="681" t="0" r="681" b="0"/>
              </a:stretch>
            </a:blipFill>
          </p:spPr>
        </p:sp>
      </p:grpSp>
      <p:grpSp>
        <p:nvGrpSpPr>
          <p:cNvPr name="Group 8" id="8"/>
          <p:cNvGrpSpPr/>
          <p:nvPr/>
        </p:nvGrpSpPr>
        <p:grpSpPr>
          <a:xfrm rot="0">
            <a:off x="9639300" y="2777433"/>
            <a:ext cx="7429500" cy="1868186"/>
            <a:chOff x="0" y="0"/>
            <a:chExt cx="9906000" cy="2490914"/>
          </a:xfrm>
        </p:grpSpPr>
        <p:sp>
          <p:nvSpPr>
            <p:cNvPr name="Freeform 9" id="9"/>
            <p:cNvSpPr/>
            <p:nvPr/>
          </p:nvSpPr>
          <p:spPr>
            <a:xfrm flipH="false" flipV="false" rot="0">
              <a:off x="0" y="0"/>
              <a:ext cx="9906000" cy="2490978"/>
            </a:xfrm>
            <a:custGeom>
              <a:avLst/>
              <a:gdLst/>
              <a:ahLst/>
              <a:cxnLst/>
              <a:rect r="r" b="b" t="t" l="l"/>
              <a:pathLst>
                <a:path h="2490978" w="9906000">
                  <a:moveTo>
                    <a:pt x="0" y="197866"/>
                  </a:moveTo>
                  <a:cubicBezTo>
                    <a:pt x="0" y="88519"/>
                    <a:pt x="88519" y="0"/>
                    <a:pt x="197866" y="0"/>
                  </a:cubicBezTo>
                  <a:lnTo>
                    <a:pt x="9708134" y="0"/>
                  </a:lnTo>
                  <a:cubicBezTo>
                    <a:pt x="9817481" y="0"/>
                    <a:pt x="9906000" y="88519"/>
                    <a:pt x="9906000" y="197866"/>
                  </a:cubicBezTo>
                  <a:lnTo>
                    <a:pt x="9906000" y="2293112"/>
                  </a:lnTo>
                  <a:cubicBezTo>
                    <a:pt x="9906000" y="2402332"/>
                    <a:pt x="9817481" y="2490978"/>
                    <a:pt x="9708134" y="2490978"/>
                  </a:cubicBezTo>
                  <a:lnTo>
                    <a:pt x="197866" y="2490978"/>
                  </a:lnTo>
                  <a:cubicBezTo>
                    <a:pt x="88519" y="2490978"/>
                    <a:pt x="0" y="2402332"/>
                    <a:pt x="0" y="2293112"/>
                  </a:cubicBezTo>
                  <a:close/>
                </a:path>
              </a:pathLst>
            </a:custGeom>
            <a:solidFill>
              <a:srgbClr val="FFFFFF"/>
            </a:solidFill>
            <a:ln w="9525" cap="sq">
              <a:solidFill>
                <a:srgbClr val="D5DEEA"/>
              </a:solidFill>
              <a:prstDash val="solid"/>
              <a:miter/>
            </a:ln>
          </p:spPr>
        </p:sp>
      </p:grpSp>
      <p:sp>
        <p:nvSpPr>
          <p:cNvPr name="TextBox 10" id="10"/>
          <p:cNvSpPr txBox="true"/>
          <p:nvPr/>
        </p:nvSpPr>
        <p:spPr>
          <a:xfrm rot="0">
            <a:off x="9893303" y="3156252"/>
            <a:ext cx="7129148" cy="361950"/>
          </a:xfrm>
          <a:prstGeom prst="rect">
            <a:avLst/>
          </a:prstGeom>
        </p:spPr>
        <p:txBody>
          <a:bodyPr anchor="t" rtlCol="false" tIns="0" lIns="0" bIns="0" rIns="0">
            <a:spAutoFit/>
          </a:bodyPr>
          <a:lstStyle/>
          <a:p>
            <a:pPr algn="l">
              <a:lnSpc>
                <a:spcPts val="2879"/>
              </a:lnSpc>
            </a:pPr>
            <a:r>
              <a:rPr lang="en-US" sz="2400" b="true">
                <a:solidFill>
                  <a:srgbClr val="0B1424"/>
                </a:solidFill>
                <a:latin typeface="Source Serif Pro Bold"/>
                <a:ea typeface="Source Serif Pro Bold"/>
                <a:cs typeface="Source Serif Pro Bold"/>
                <a:sym typeface="Source Serif Pro Bold"/>
              </a:rPr>
              <a:t>Join</a:t>
            </a:r>
          </a:p>
        </p:txBody>
      </p:sp>
      <p:sp>
        <p:nvSpPr>
          <p:cNvPr name="TextBox 11" id="11"/>
          <p:cNvSpPr txBox="true"/>
          <p:nvPr/>
        </p:nvSpPr>
        <p:spPr>
          <a:xfrm rot="0">
            <a:off x="9893303" y="3569599"/>
            <a:ext cx="7129148" cy="658177"/>
          </a:xfrm>
          <a:prstGeom prst="rect">
            <a:avLst/>
          </a:prstGeom>
        </p:spPr>
        <p:txBody>
          <a:bodyPr anchor="t" rtlCol="false" tIns="0" lIns="0" bIns="0" rIns="0">
            <a:spAutoFit/>
          </a:bodyPr>
          <a:lstStyle/>
          <a:p>
            <a:pPr algn="l">
              <a:lnSpc>
                <a:spcPts val="2632"/>
              </a:lnSpc>
            </a:pPr>
            <a:r>
              <a:rPr lang="en-US" sz="1950">
                <a:solidFill>
                  <a:srgbClr val="4A5A73"/>
                </a:solidFill>
                <a:latin typeface="Source Serif Pro"/>
                <a:ea typeface="Source Serif Pro"/>
                <a:cs typeface="Source Serif Pro"/>
                <a:sym typeface="Source Serif Pro"/>
              </a:rPr>
              <a:t>The new client gets the stored drawing (SYNC), then its id (WELCOME).</a:t>
            </a:r>
          </a:p>
        </p:txBody>
      </p:sp>
      <p:grpSp>
        <p:nvGrpSpPr>
          <p:cNvPr name="Group 12" id="12"/>
          <p:cNvGrpSpPr/>
          <p:nvPr/>
        </p:nvGrpSpPr>
        <p:grpSpPr>
          <a:xfrm rot="0">
            <a:off x="9639300" y="4836119"/>
            <a:ext cx="7429500" cy="1868186"/>
            <a:chOff x="0" y="0"/>
            <a:chExt cx="9906000" cy="2490914"/>
          </a:xfrm>
        </p:grpSpPr>
        <p:sp>
          <p:nvSpPr>
            <p:cNvPr name="Freeform 13" id="13"/>
            <p:cNvSpPr/>
            <p:nvPr/>
          </p:nvSpPr>
          <p:spPr>
            <a:xfrm flipH="false" flipV="false" rot="0">
              <a:off x="0" y="0"/>
              <a:ext cx="9906000" cy="2490978"/>
            </a:xfrm>
            <a:custGeom>
              <a:avLst/>
              <a:gdLst/>
              <a:ahLst/>
              <a:cxnLst/>
              <a:rect r="r" b="b" t="t" l="l"/>
              <a:pathLst>
                <a:path h="2490978" w="9906000">
                  <a:moveTo>
                    <a:pt x="0" y="197866"/>
                  </a:moveTo>
                  <a:cubicBezTo>
                    <a:pt x="0" y="88519"/>
                    <a:pt x="88519" y="0"/>
                    <a:pt x="197866" y="0"/>
                  </a:cubicBezTo>
                  <a:lnTo>
                    <a:pt x="9708134" y="0"/>
                  </a:lnTo>
                  <a:cubicBezTo>
                    <a:pt x="9817481" y="0"/>
                    <a:pt x="9906000" y="88519"/>
                    <a:pt x="9906000" y="197866"/>
                  </a:cubicBezTo>
                  <a:lnTo>
                    <a:pt x="9906000" y="2293112"/>
                  </a:lnTo>
                  <a:cubicBezTo>
                    <a:pt x="9906000" y="2402332"/>
                    <a:pt x="9817481" y="2490978"/>
                    <a:pt x="9708134" y="2490978"/>
                  </a:cubicBezTo>
                  <a:lnTo>
                    <a:pt x="197866" y="2490978"/>
                  </a:lnTo>
                  <a:cubicBezTo>
                    <a:pt x="88519" y="2490978"/>
                    <a:pt x="0" y="2402332"/>
                    <a:pt x="0" y="2293112"/>
                  </a:cubicBezTo>
                  <a:close/>
                </a:path>
              </a:pathLst>
            </a:custGeom>
            <a:solidFill>
              <a:srgbClr val="FFFFFF"/>
            </a:solidFill>
            <a:ln w="9525" cap="sq">
              <a:solidFill>
                <a:srgbClr val="D5DEEA"/>
              </a:solidFill>
              <a:prstDash val="solid"/>
              <a:miter/>
            </a:ln>
          </p:spPr>
        </p:sp>
      </p:grpSp>
      <p:sp>
        <p:nvSpPr>
          <p:cNvPr name="TextBox 14" id="14"/>
          <p:cNvSpPr txBox="true"/>
          <p:nvPr/>
        </p:nvSpPr>
        <p:spPr>
          <a:xfrm rot="0">
            <a:off x="9893303" y="5214938"/>
            <a:ext cx="7129148" cy="361950"/>
          </a:xfrm>
          <a:prstGeom prst="rect">
            <a:avLst/>
          </a:prstGeom>
        </p:spPr>
        <p:txBody>
          <a:bodyPr anchor="t" rtlCol="false" tIns="0" lIns="0" bIns="0" rIns="0">
            <a:spAutoFit/>
          </a:bodyPr>
          <a:lstStyle/>
          <a:p>
            <a:pPr algn="l">
              <a:lnSpc>
                <a:spcPts val="2879"/>
              </a:lnSpc>
            </a:pPr>
            <a:r>
              <a:rPr lang="en-US" sz="2400" b="true">
                <a:solidFill>
                  <a:srgbClr val="0B1424"/>
                </a:solidFill>
                <a:latin typeface="Source Serif Pro Bold"/>
                <a:ea typeface="Source Serif Pro Bold"/>
                <a:cs typeface="Source Serif Pro Bold"/>
                <a:sym typeface="Source Serif Pro Bold"/>
              </a:rPr>
              <a:t>Draw</a:t>
            </a:r>
          </a:p>
        </p:txBody>
      </p:sp>
      <p:sp>
        <p:nvSpPr>
          <p:cNvPr name="TextBox 15" id="15"/>
          <p:cNvSpPr txBox="true"/>
          <p:nvPr/>
        </p:nvSpPr>
        <p:spPr>
          <a:xfrm rot="0">
            <a:off x="9893303" y="5628284"/>
            <a:ext cx="7129148" cy="658177"/>
          </a:xfrm>
          <a:prstGeom prst="rect">
            <a:avLst/>
          </a:prstGeom>
        </p:spPr>
        <p:txBody>
          <a:bodyPr anchor="t" rtlCol="false" tIns="0" lIns="0" bIns="0" rIns="0">
            <a:spAutoFit/>
          </a:bodyPr>
          <a:lstStyle/>
          <a:p>
            <a:pPr algn="l">
              <a:lnSpc>
                <a:spcPts val="2632"/>
              </a:lnSpc>
            </a:pPr>
            <a:r>
              <a:rPr lang="en-US" sz="1950">
                <a:solidFill>
                  <a:srgbClr val="4A5A73"/>
                </a:solidFill>
                <a:latin typeface="Source Serif Pro"/>
                <a:ea typeface="Source Serif Pro"/>
                <a:cs typeface="Source Serif Pro"/>
                <a:sym typeface="Source Serif Pro"/>
              </a:rPr>
              <a:t>The server stores each segment and broadcasts it to every connected client.</a:t>
            </a:r>
          </a:p>
        </p:txBody>
      </p:sp>
      <p:grpSp>
        <p:nvGrpSpPr>
          <p:cNvPr name="Group 16" id="16"/>
          <p:cNvGrpSpPr/>
          <p:nvPr/>
        </p:nvGrpSpPr>
        <p:grpSpPr>
          <a:xfrm rot="0">
            <a:off x="9639300" y="6894814"/>
            <a:ext cx="7429500" cy="1868186"/>
            <a:chOff x="0" y="0"/>
            <a:chExt cx="9906000" cy="2490914"/>
          </a:xfrm>
        </p:grpSpPr>
        <p:sp>
          <p:nvSpPr>
            <p:cNvPr name="Freeform 17" id="17"/>
            <p:cNvSpPr/>
            <p:nvPr/>
          </p:nvSpPr>
          <p:spPr>
            <a:xfrm flipH="false" flipV="false" rot="0">
              <a:off x="0" y="0"/>
              <a:ext cx="9906000" cy="2490978"/>
            </a:xfrm>
            <a:custGeom>
              <a:avLst/>
              <a:gdLst/>
              <a:ahLst/>
              <a:cxnLst/>
              <a:rect r="r" b="b" t="t" l="l"/>
              <a:pathLst>
                <a:path h="2490978" w="9906000">
                  <a:moveTo>
                    <a:pt x="0" y="197866"/>
                  </a:moveTo>
                  <a:cubicBezTo>
                    <a:pt x="0" y="88519"/>
                    <a:pt x="88519" y="0"/>
                    <a:pt x="197866" y="0"/>
                  </a:cubicBezTo>
                  <a:lnTo>
                    <a:pt x="9708134" y="0"/>
                  </a:lnTo>
                  <a:cubicBezTo>
                    <a:pt x="9817481" y="0"/>
                    <a:pt x="9906000" y="88519"/>
                    <a:pt x="9906000" y="197866"/>
                  </a:cubicBezTo>
                  <a:lnTo>
                    <a:pt x="9906000" y="2293112"/>
                  </a:lnTo>
                  <a:cubicBezTo>
                    <a:pt x="9906000" y="2402332"/>
                    <a:pt x="9817481" y="2490978"/>
                    <a:pt x="9708134" y="2490978"/>
                  </a:cubicBezTo>
                  <a:lnTo>
                    <a:pt x="197866" y="2490978"/>
                  </a:lnTo>
                  <a:cubicBezTo>
                    <a:pt x="88519" y="2490978"/>
                    <a:pt x="0" y="2402332"/>
                    <a:pt x="0" y="2293112"/>
                  </a:cubicBezTo>
                  <a:close/>
                </a:path>
              </a:pathLst>
            </a:custGeom>
            <a:solidFill>
              <a:srgbClr val="FFFFFF"/>
            </a:solidFill>
            <a:ln w="9525" cap="sq">
              <a:solidFill>
                <a:srgbClr val="D5DEEA"/>
              </a:solidFill>
              <a:prstDash val="solid"/>
              <a:miter/>
            </a:ln>
          </p:spPr>
        </p:sp>
      </p:grpSp>
      <p:sp>
        <p:nvSpPr>
          <p:cNvPr name="TextBox 18" id="18"/>
          <p:cNvSpPr txBox="true"/>
          <p:nvPr/>
        </p:nvSpPr>
        <p:spPr>
          <a:xfrm rot="0">
            <a:off x="9893303" y="7273633"/>
            <a:ext cx="7129148" cy="361950"/>
          </a:xfrm>
          <a:prstGeom prst="rect">
            <a:avLst/>
          </a:prstGeom>
        </p:spPr>
        <p:txBody>
          <a:bodyPr anchor="t" rtlCol="false" tIns="0" lIns="0" bIns="0" rIns="0">
            <a:spAutoFit/>
          </a:bodyPr>
          <a:lstStyle/>
          <a:p>
            <a:pPr algn="l">
              <a:lnSpc>
                <a:spcPts val="2879"/>
              </a:lnSpc>
            </a:pPr>
            <a:r>
              <a:rPr lang="en-US" sz="2400" b="true">
                <a:solidFill>
                  <a:srgbClr val="0B1424"/>
                </a:solidFill>
                <a:latin typeface="Source Serif Pro Bold"/>
                <a:ea typeface="Source Serif Pro Bold"/>
                <a:cs typeface="Source Serif Pro Bold"/>
                <a:sym typeface="Source Serif Pro Bold"/>
              </a:rPr>
              <a:t>Leave</a:t>
            </a:r>
          </a:p>
        </p:txBody>
      </p:sp>
      <p:sp>
        <p:nvSpPr>
          <p:cNvPr name="TextBox 19" id="19"/>
          <p:cNvSpPr txBox="true"/>
          <p:nvPr/>
        </p:nvSpPr>
        <p:spPr>
          <a:xfrm rot="0">
            <a:off x="9893303" y="7686970"/>
            <a:ext cx="7129148" cy="658177"/>
          </a:xfrm>
          <a:prstGeom prst="rect">
            <a:avLst/>
          </a:prstGeom>
        </p:spPr>
        <p:txBody>
          <a:bodyPr anchor="t" rtlCol="false" tIns="0" lIns="0" bIns="0" rIns="0">
            <a:spAutoFit/>
          </a:bodyPr>
          <a:lstStyle/>
          <a:p>
            <a:pPr algn="l">
              <a:lnSpc>
                <a:spcPts val="2632"/>
              </a:lnSpc>
            </a:pPr>
            <a:r>
              <a:rPr lang="en-US" sz="1950">
                <a:solidFill>
                  <a:srgbClr val="4A5A73"/>
                </a:solidFill>
                <a:latin typeface="Source Serif Pro"/>
                <a:ea typeface="Source Serif Pro"/>
                <a:cs typeface="Source Serif Pro"/>
                <a:sym typeface="Source Serif Pro"/>
              </a:rPr>
              <a:t>A closed connection is removed and USER_LEFT updates everyone's count.</a:t>
            </a:r>
          </a:p>
        </p:txBody>
      </p:sp>
      <p:sp>
        <p:nvSpPr>
          <p:cNvPr name="TextBox 20" id="20"/>
          <p:cNvSpPr txBox="true"/>
          <p:nvPr/>
        </p:nvSpPr>
        <p:spPr>
          <a:xfrm rot="0">
            <a:off x="1219200" y="9319317"/>
            <a:ext cx="638757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LAN Collaborative Whiteboard · Computer Networks</a:t>
            </a:r>
          </a:p>
        </p:txBody>
      </p:sp>
      <p:sp>
        <p:nvSpPr>
          <p:cNvPr name="TextBox 21" id="21"/>
          <p:cNvSpPr txBox="true"/>
          <p:nvPr/>
        </p:nvSpPr>
        <p:spPr>
          <a:xfrm rot="0">
            <a:off x="16794461" y="9319317"/>
            <a:ext cx="35053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08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B1424"/>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422872"/>
          </a:xfrm>
          <a:prstGeom prst="rect">
            <a:avLst/>
          </a:prstGeom>
        </p:spPr>
        <p:txBody>
          <a:bodyPr anchor="t" rtlCol="false" tIns="0" lIns="0" bIns="0" rIns="0">
            <a:spAutoFit/>
          </a:bodyPr>
          <a:lstStyle/>
          <a:p>
            <a:pPr algn="l">
              <a:lnSpc>
                <a:spcPts val="2729"/>
              </a:lnSpc>
            </a:pPr>
            <a:r>
              <a:rPr lang="en-US" b="true" sz="1950" spc="299">
                <a:solidFill>
                  <a:srgbClr val="38BDF8"/>
                </a:solidFill>
                <a:latin typeface="IBM Plex Sans Bold"/>
                <a:ea typeface="IBM Plex Sans Bold"/>
                <a:cs typeface="IBM Plex Sans Bold"/>
                <a:sym typeface="IBM Plex Sans Bold"/>
              </a:rPr>
              <a:t>08 · BUILDING IT</a:t>
            </a:r>
          </a:p>
        </p:txBody>
      </p:sp>
      <p:sp>
        <p:nvSpPr>
          <p:cNvPr name="TextBox 3" id="3"/>
          <p:cNvSpPr txBox="true"/>
          <p:nvPr/>
        </p:nvSpPr>
        <p:spPr>
          <a:xfrm rot="0">
            <a:off x="1219200" y="1699231"/>
            <a:ext cx="16325088" cy="773411"/>
          </a:xfrm>
          <a:prstGeom prst="rect">
            <a:avLst/>
          </a:prstGeom>
        </p:spPr>
        <p:txBody>
          <a:bodyPr anchor="t" rtlCol="false" tIns="0" lIns="0" bIns="0" rIns="0">
            <a:spAutoFit/>
          </a:bodyPr>
          <a:lstStyle/>
          <a:p>
            <a:pPr algn="l">
              <a:lnSpc>
                <a:spcPts val="5940"/>
              </a:lnSpc>
            </a:pPr>
            <a:r>
              <a:rPr lang="en-US" sz="5400" b="true">
                <a:solidFill>
                  <a:srgbClr val="E6EDF7"/>
                </a:solidFill>
                <a:latin typeface="Arimo Bold"/>
                <a:ea typeface="Arimo Bold"/>
                <a:cs typeface="Arimo Bold"/>
                <a:sym typeface="Arimo Bold"/>
              </a:rPr>
              <a:t>Implementation</a:t>
            </a:r>
          </a:p>
        </p:txBody>
      </p:sp>
      <p:grpSp>
        <p:nvGrpSpPr>
          <p:cNvPr name="Group 4" id="4"/>
          <p:cNvGrpSpPr/>
          <p:nvPr/>
        </p:nvGrpSpPr>
        <p:grpSpPr>
          <a:xfrm rot="0">
            <a:off x="1219200" y="2777433"/>
            <a:ext cx="6667500" cy="2878436"/>
            <a:chOff x="0" y="0"/>
            <a:chExt cx="8890000" cy="3837915"/>
          </a:xfrm>
        </p:grpSpPr>
        <p:sp>
          <p:nvSpPr>
            <p:cNvPr name="Freeform 5" id="5"/>
            <p:cNvSpPr/>
            <p:nvPr/>
          </p:nvSpPr>
          <p:spPr>
            <a:xfrm flipH="false" flipV="false" rot="0">
              <a:off x="0" y="0"/>
              <a:ext cx="8890000" cy="3837940"/>
            </a:xfrm>
            <a:custGeom>
              <a:avLst/>
              <a:gdLst/>
              <a:ahLst/>
              <a:cxnLst/>
              <a:rect r="r" b="b" t="t" l="l"/>
              <a:pathLst>
                <a:path h="3837940" w="8890000">
                  <a:moveTo>
                    <a:pt x="0" y="197485"/>
                  </a:moveTo>
                  <a:cubicBezTo>
                    <a:pt x="0" y="88392"/>
                    <a:pt x="88392" y="0"/>
                    <a:pt x="197485" y="0"/>
                  </a:cubicBezTo>
                  <a:lnTo>
                    <a:pt x="8692515" y="0"/>
                  </a:lnTo>
                  <a:cubicBezTo>
                    <a:pt x="8801608" y="0"/>
                    <a:pt x="8890000" y="88392"/>
                    <a:pt x="8890000" y="197485"/>
                  </a:cubicBezTo>
                  <a:lnTo>
                    <a:pt x="8890000" y="3640455"/>
                  </a:lnTo>
                  <a:cubicBezTo>
                    <a:pt x="8890000" y="3749548"/>
                    <a:pt x="8801608" y="3837940"/>
                    <a:pt x="8692515" y="3837940"/>
                  </a:cubicBezTo>
                  <a:lnTo>
                    <a:pt x="197485" y="3837940"/>
                  </a:lnTo>
                  <a:cubicBezTo>
                    <a:pt x="88392" y="3837940"/>
                    <a:pt x="0" y="3749548"/>
                    <a:pt x="0" y="3640455"/>
                  </a:cubicBezTo>
                  <a:close/>
                </a:path>
              </a:pathLst>
            </a:custGeom>
            <a:solidFill>
              <a:srgbClr val="121F36"/>
            </a:solidFill>
            <a:ln w="9525" cap="sq">
              <a:solidFill>
                <a:srgbClr val="223A5E"/>
              </a:solidFill>
              <a:prstDash val="solid"/>
              <a:miter/>
            </a:ln>
          </p:spPr>
        </p:sp>
      </p:grpSp>
      <p:sp>
        <p:nvSpPr>
          <p:cNvPr name="TextBox 6" id="6"/>
          <p:cNvSpPr txBox="true"/>
          <p:nvPr/>
        </p:nvSpPr>
        <p:spPr>
          <a:xfrm rot="0">
            <a:off x="1492253" y="3445173"/>
            <a:ext cx="6305045" cy="417119"/>
          </a:xfrm>
          <a:prstGeom prst="rect">
            <a:avLst/>
          </a:prstGeom>
        </p:spPr>
        <p:txBody>
          <a:bodyPr anchor="t" rtlCol="false" tIns="0" lIns="0" bIns="0" rIns="0">
            <a:spAutoFit/>
          </a:bodyPr>
          <a:lstStyle/>
          <a:p>
            <a:pPr algn="l">
              <a:lnSpc>
                <a:spcPts val="3060"/>
              </a:lnSpc>
            </a:pPr>
            <a:r>
              <a:rPr lang="en-US" sz="2550" b="true">
                <a:solidFill>
                  <a:srgbClr val="38BDF8"/>
                </a:solidFill>
                <a:latin typeface="IBM Plex Sans Bold"/>
                <a:ea typeface="IBM Plex Sans Bold"/>
                <a:cs typeface="IBM Plex Sans Bold"/>
                <a:sym typeface="IBM Plex Sans Bold"/>
              </a:rPr>
              <a:t>Server · main.py</a:t>
            </a:r>
          </a:p>
        </p:txBody>
      </p:sp>
      <p:sp>
        <p:nvSpPr>
          <p:cNvPr name="TextBox 7" id="7"/>
          <p:cNvSpPr txBox="true"/>
          <p:nvPr/>
        </p:nvSpPr>
        <p:spPr>
          <a:xfrm rot="0">
            <a:off x="1620269" y="3919442"/>
            <a:ext cx="6165599" cy="1116216"/>
          </a:xfrm>
          <a:prstGeom prst="rect">
            <a:avLst/>
          </a:prstGeom>
        </p:spPr>
        <p:txBody>
          <a:bodyPr anchor="t" rtlCol="false" tIns="0" lIns="0" bIns="0" rIns="0">
            <a:spAutoFit/>
          </a:bodyPr>
          <a:lstStyle/>
          <a:p>
            <a:pPr algn="l" marL="352901" indent="-176451" lvl="1">
              <a:lnSpc>
                <a:spcPts val="2729"/>
              </a:lnSpc>
              <a:buFont typeface="Arial"/>
              <a:buChar char="•"/>
            </a:pPr>
            <a:r>
              <a:rPr lang="en-US" sz="1950">
                <a:solidFill>
                  <a:srgbClr val="C9D6E8"/>
                </a:solidFill>
                <a:latin typeface="IBM Plex Sans"/>
                <a:ea typeface="IBM Plex Sans"/>
                <a:cs typeface="IBM Plex Sans"/>
                <a:sym typeface="IBM Plex Sans"/>
              </a:rPr>
              <a:t>Serves / and /static over HTTP</a:t>
            </a:r>
          </a:p>
          <a:p>
            <a:pPr algn="l" marL="352901" indent="-176451" lvl="1">
              <a:lnSpc>
                <a:spcPts val="2729"/>
              </a:lnSpc>
              <a:buFont typeface="Arial"/>
              <a:buChar char="•"/>
            </a:pPr>
            <a:r>
              <a:rPr lang="en-US" sz="1950">
                <a:solidFill>
                  <a:srgbClr val="C9D6E8"/>
                </a:solidFill>
                <a:latin typeface="IBM Plex Sans"/>
                <a:ea typeface="IBM Plex Sans"/>
                <a:cs typeface="IBM Plex Sans"/>
                <a:sym typeface="IBM Plex Sans"/>
              </a:rPr>
              <a:t>Accepts /ws and tracks every client</a:t>
            </a:r>
          </a:p>
          <a:p>
            <a:pPr algn="l" marL="352901" indent="-176451" lvl="1">
              <a:lnSpc>
                <a:spcPts val="2729"/>
              </a:lnSpc>
              <a:buFont typeface="Arial"/>
              <a:buChar char="•"/>
            </a:pPr>
            <a:r>
              <a:rPr lang="en-US" sz="1950">
                <a:solidFill>
                  <a:srgbClr val="C9D6E8"/>
                </a:solidFill>
                <a:latin typeface="IBM Plex Sans"/>
                <a:ea typeface="IBM Plex Sans"/>
                <a:cs typeface="IBM Plex Sans"/>
                <a:sym typeface="IBM Plex Sans"/>
              </a:rPr>
              <a:t>Stores strokes; replays SYNC to joiners</a:t>
            </a:r>
          </a:p>
        </p:txBody>
      </p:sp>
      <p:grpSp>
        <p:nvGrpSpPr>
          <p:cNvPr name="Group 8" id="8"/>
          <p:cNvGrpSpPr/>
          <p:nvPr/>
        </p:nvGrpSpPr>
        <p:grpSpPr>
          <a:xfrm rot="0">
            <a:off x="1219200" y="5884469"/>
            <a:ext cx="6667500" cy="2878531"/>
            <a:chOff x="0" y="0"/>
            <a:chExt cx="8890000" cy="3838042"/>
          </a:xfrm>
        </p:grpSpPr>
        <p:sp>
          <p:nvSpPr>
            <p:cNvPr name="Freeform 9" id="9"/>
            <p:cNvSpPr/>
            <p:nvPr/>
          </p:nvSpPr>
          <p:spPr>
            <a:xfrm flipH="false" flipV="false" rot="0">
              <a:off x="0" y="0"/>
              <a:ext cx="8890000" cy="3838067"/>
            </a:xfrm>
            <a:custGeom>
              <a:avLst/>
              <a:gdLst/>
              <a:ahLst/>
              <a:cxnLst/>
              <a:rect r="r" b="b" t="t" l="l"/>
              <a:pathLst>
                <a:path h="3838067" w="8890000">
                  <a:moveTo>
                    <a:pt x="0" y="197485"/>
                  </a:moveTo>
                  <a:cubicBezTo>
                    <a:pt x="0" y="88392"/>
                    <a:pt x="88392" y="0"/>
                    <a:pt x="197485" y="0"/>
                  </a:cubicBezTo>
                  <a:lnTo>
                    <a:pt x="8692515" y="0"/>
                  </a:lnTo>
                  <a:cubicBezTo>
                    <a:pt x="8801608" y="0"/>
                    <a:pt x="8890000" y="88392"/>
                    <a:pt x="8890000" y="197485"/>
                  </a:cubicBezTo>
                  <a:lnTo>
                    <a:pt x="8890000" y="3640582"/>
                  </a:lnTo>
                  <a:cubicBezTo>
                    <a:pt x="8890000" y="3749675"/>
                    <a:pt x="8801608" y="3838067"/>
                    <a:pt x="8692515" y="3838067"/>
                  </a:cubicBezTo>
                  <a:lnTo>
                    <a:pt x="197485" y="3838067"/>
                  </a:lnTo>
                  <a:cubicBezTo>
                    <a:pt x="88392" y="3838067"/>
                    <a:pt x="0" y="3749675"/>
                    <a:pt x="0" y="3640582"/>
                  </a:cubicBezTo>
                  <a:close/>
                </a:path>
              </a:pathLst>
            </a:custGeom>
            <a:solidFill>
              <a:srgbClr val="121F36"/>
            </a:solidFill>
            <a:ln w="9525" cap="sq">
              <a:solidFill>
                <a:srgbClr val="223A5E"/>
              </a:solidFill>
              <a:prstDash val="solid"/>
              <a:miter/>
            </a:ln>
          </p:spPr>
        </p:sp>
      </p:grpSp>
      <p:sp>
        <p:nvSpPr>
          <p:cNvPr name="TextBox 10" id="10"/>
          <p:cNvSpPr txBox="true"/>
          <p:nvPr/>
        </p:nvSpPr>
        <p:spPr>
          <a:xfrm rot="0">
            <a:off x="1492253" y="6552305"/>
            <a:ext cx="6305045" cy="417119"/>
          </a:xfrm>
          <a:prstGeom prst="rect">
            <a:avLst/>
          </a:prstGeom>
        </p:spPr>
        <p:txBody>
          <a:bodyPr anchor="t" rtlCol="false" tIns="0" lIns="0" bIns="0" rIns="0">
            <a:spAutoFit/>
          </a:bodyPr>
          <a:lstStyle/>
          <a:p>
            <a:pPr algn="l">
              <a:lnSpc>
                <a:spcPts val="3060"/>
              </a:lnSpc>
            </a:pPr>
            <a:r>
              <a:rPr lang="en-US" sz="2550" b="true">
                <a:solidFill>
                  <a:srgbClr val="38BDF8"/>
                </a:solidFill>
                <a:latin typeface="IBM Plex Sans Bold"/>
                <a:ea typeface="IBM Plex Sans Bold"/>
                <a:cs typeface="IBM Plex Sans Bold"/>
                <a:sym typeface="IBM Plex Sans Bold"/>
              </a:rPr>
              <a:t>Client · app.js</a:t>
            </a:r>
          </a:p>
        </p:txBody>
      </p:sp>
      <p:sp>
        <p:nvSpPr>
          <p:cNvPr name="TextBox 11" id="11"/>
          <p:cNvSpPr txBox="true"/>
          <p:nvPr/>
        </p:nvSpPr>
        <p:spPr>
          <a:xfrm rot="0">
            <a:off x="1620269" y="7026573"/>
            <a:ext cx="6165599" cy="1116216"/>
          </a:xfrm>
          <a:prstGeom prst="rect">
            <a:avLst/>
          </a:prstGeom>
        </p:spPr>
        <p:txBody>
          <a:bodyPr anchor="t" rtlCol="false" tIns="0" lIns="0" bIns="0" rIns="0">
            <a:spAutoFit/>
          </a:bodyPr>
          <a:lstStyle/>
          <a:p>
            <a:pPr algn="l" marL="352901" indent="-176451" lvl="1">
              <a:lnSpc>
                <a:spcPts val="2729"/>
              </a:lnSpc>
              <a:buFont typeface="Arial"/>
              <a:buChar char="•"/>
            </a:pPr>
            <a:r>
              <a:rPr lang="en-US" sz="1950">
                <a:solidFill>
                  <a:srgbClr val="C9D6E8"/>
                </a:solidFill>
                <a:latin typeface="IBM Plex Sans"/>
                <a:ea typeface="IBM Plex Sans"/>
                <a:cs typeface="IBM Plex Sans"/>
                <a:sym typeface="IBM Plex Sans"/>
              </a:rPr>
              <a:t>Turns pointer moves into JSON events</a:t>
            </a:r>
          </a:p>
          <a:p>
            <a:pPr algn="l" marL="352901" indent="-176451" lvl="1">
              <a:lnSpc>
                <a:spcPts val="2729"/>
              </a:lnSpc>
              <a:buFont typeface="Arial"/>
              <a:buChar char="•"/>
            </a:pPr>
            <a:r>
              <a:rPr lang="en-US" sz="1950">
                <a:solidFill>
                  <a:srgbClr val="C9D6E8"/>
                </a:solidFill>
                <a:latin typeface="IBM Plex Sans"/>
                <a:ea typeface="IBM Plex Sans"/>
                <a:cs typeface="IBM Plex Sans"/>
                <a:sym typeface="IBM Plex Sans"/>
              </a:rPr>
              <a:t>Renders DRAW, ERASE and CLEAR</a:t>
            </a:r>
          </a:p>
          <a:p>
            <a:pPr algn="l" marL="352901" indent="-176451" lvl="1">
              <a:lnSpc>
                <a:spcPts val="2729"/>
              </a:lnSpc>
              <a:buFont typeface="Arial"/>
              <a:buChar char="•"/>
            </a:pPr>
            <a:r>
              <a:rPr lang="en-US" sz="1950">
                <a:solidFill>
                  <a:srgbClr val="C9D6E8"/>
                </a:solidFill>
                <a:latin typeface="IBM Plex Sans"/>
                <a:ea typeface="IBM Plex Sans"/>
                <a:cs typeface="IBM Plex Sans"/>
                <a:sym typeface="IBM Plex Sans"/>
              </a:rPr>
              <a:t>Reconnects automatically every 2 s</a:t>
            </a:r>
          </a:p>
        </p:txBody>
      </p:sp>
      <p:grpSp>
        <p:nvGrpSpPr>
          <p:cNvPr name="Group 12" id="12"/>
          <p:cNvGrpSpPr/>
          <p:nvPr/>
        </p:nvGrpSpPr>
        <p:grpSpPr>
          <a:xfrm rot="0">
            <a:off x="8229600" y="2777433"/>
            <a:ext cx="8839200" cy="5985567"/>
            <a:chOff x="0" y="0"/>
            <a:chExt cx="11785600" cy="7980756"/>
          </a:xfrm>
        </p:grpSpPr>
        <p:sp>
          <p:nvSpPr>
            <p:cNvPr name="Freeform 13" id="13"/>
            <p:cNvSpPr/>
            <p:nvPr/>
          </p:nvSpPr>
          <p:spPr>
            <a:xfrm flipH="false" flipV="false" rot="0">
              <a:off x="0" y="0"/>
              <a:ext cx="11785600" cy="7980680"/>
            </a:xfrm>
            <a:custGeom>
              <a:avLst/>
              <a:gdLst/>
              <a:ahLst/>
              <a:cxnLst/>
              <a:rect r="r" b="b" t="t" l="l"/>
              <a:pathLst>
                <a:path h="7980680" w="11785600">
                  <a:moveTo>
                    <a:pt x="0" y="197104"/>
                  </a:moveTo>
                  <a:cubicBezTo>
                    <a:pt x="0" y="88265"/>
                    <a:pt x="88265" y="0"/>
                    <a:pt x="197104" y="0"/>
                  </a:cubicBezTo>
                  <a:lnTo>
                    <a:pt x="11588496" y="0"/>
                  </a:lnTo>
                  <a:cubicBezTo>
                    <a:pt x="11697335" y="0"/>
                    <a:pt x="11785600" y="88265"/>
                    <a:pt x="11785600" y="197104"/>
                  </a:cubicBezTo>
                  <a:lnTo>
                    <a:pt x="11785600" y="7783576"/>
                  </a:lnTo>
                  <a:cubicBezTo>
                    <a:pt x="11785600" y="7892415"/>
                    <a:pt x="11697335" y="7980680"/>
                    <a:pt x="11588496" y="7980680"/>
                  </a:cubicBezTo>
                  <a:lnTo>
                    <a:pt x="197104" y="7980680"/>
                  </a:lnTo>
                  <a:cubicBezTo>
                    <a:pt x="88265" y="7980807"/>
                    <a:pt x="0" y="7892542"/>
                    <a:pt x="0" y="7783576"/>
                  </a:cubicBezTo>
                  <a:close/>
                </a:path>
              </a:pathLst>
            </a:custGeom>
            <a:solidFill>
              <a:srgbClr val="060D19"/>
            </a:solidFill>
            <a:ln w="9525" cap="sq">
              <a:solidFill>
                <a:srgbClr val="223A5E"/>
              </a:solidFill>
              <a:prstDash val="solid"/>
              <a:miter/>
            </a:ln>
          </p:spPr>
        </p:sp>
      </p:grpSp>
      <p:sp>
        <p:nvSpPr>
          <p:cNvPr name="TextBox 14" id="14"/>
          <p:cNvSpPr txBox="true"/>
          <p:nvPr/>
        </p:nvSpPr>
        <p:spPr>
          <a:xfrm rot="0">
            <a:off x="8578853" y="3836699"/>
            <a:ext cx="8384924" cy="396183"/>
          </a:xfrm>
          <a:prstGeom prst="rect">
            <a:avLst/>
          </a:prstGeom>
        </p:spPr>
        <p:txBody>
          <a:bodyPr anchor="t" rtlCol="false" tIns="0" lIns="0" bIns="0" rIns="0">
            <a:spAutoFit/>
          </a:bodyPr>
          <a:lstStyle/>
          <a:p>
            <a:pPr algn="l">
              <a:lnSpc>
                <a:spcPts val="2520"/>
              </a:lnSpc>
            </a:pPr>
            <a:r>
              <a:rPr lang="en-US" b="true" sz="1800" spc="225">
                <a:solidFill>
                  <a:srgbClr val="FBBF24"/>
                </a:solidFill>
                <a:latin typeface="IBM Plex Sans Bold"/>
                <a:ea typeface="IBM Plex Sans Bold"/>
                <a:cs typeface="IBM Plex Sans Bold"/>
                <a:sym typeface="IBM Plex Sans Bold"/>
              </a:rPr>
              <a:t>THE BROADCAST LOOP (SIMPLIFIED)</a:t>
            </a:r>
          </a:p>
        </p:txBody>
      </p:sp>
      <p:sp>
        <p:nvSpPr>
          <p:cNvPr name="TextBox 15" id="15"/>
          <p:cNvSpPr txBox="true"/>
          <p:nvPr/>
        </p:nvSpPr>
        <p:spPr>
          <a:xfrm rot="0">
            <a:off x="8578853" y="4328131"/>
            <a:ext cx="8384924" cy="2838450"/>
          </a:xfrm>
          <a:prstGeom prst="rect">
            <a:avLst/>
          </a:prstGeom>
        </p:spPr>
        <p:txBody>
          <a:bodyPr anchor="t" rtlCol="false" tIns="0" lIns="0" bIns="0" rIns="0">
            <a:spAutoFit/>
          </a:bodyPr>
          <a:lstStyle/>
          <a:p>
            <a:pPr algn="l">
              <a:lnSpc>
                <a:spcPts val="2700"/>
              </a:lnSpc>
            </a:pPr>
            <a:r>
              <a:rPr lang="en-US" sz="1800">
                <a:solidFill>
                  <a:srgbClr val="C9D6E8"/>
                </a:solidFill>
                <a:latin typeface="JetBrains Mono"/>
                <a:ea typeface="JetBrains Mono"/>
                <a:cs typeface="JetBrains Mono"/>
                <a:sym typeface="JetBrains Mono"/>
              </a:rPr>
              <a:t>async def broadcast(message, exclude=None):</a:t>
            </a:r>
          </a:p>
          <a:p>
            <a:pPr algn="l">
              <a:lnSpc>
                <a:spcPts val="2700"/>
              </a:lnSpc>
            </a:pPr>
            <a:r>
              <a:rPr lang="en-US" sz="1800">
                <a:solidFill>
                  <a:srgbClr val="C9D6E8"/>
                </a:solidFill>
                <a:latin typeface="JetBrains Mono"/>
                <a:ea typeface="JetBrains Mono"/>
                <a:cs typeface="JetBrains Mono"/>
                <a:sym typeface="JetBrains Mono"/>
              </a:rPr>
              <a:t>    for client_id, ws in list(connected_clients.items()):</a:t>
            </a:r>
          </a:p>
          <a:p>
            <a:pPr algn="l">
              <a:lnSpc>
                <a:spcPts val="2700"/>
              </a:lnSpc>
            </a:pPr>
            <a:r>
              <a:rPr lang="en-US" sz="1800">
                <a:solidFill>
                  <a:srgbClr val="C9D6E8"/>
                </a:solidFill>
                <a:latin typeface="JetBrains Mono"/>
                <a:ea typeface="JetBrains Mono"/>
                <a:cs typeface="JetBrains Mono"/>
                <a:sym typeface="JetBrains Mono"/>
              </a:rPr>
              <a:t>        if client_id == exclude:</a:t>
            </a:r>
          </a:p>
          <a:p>
            <a:pPr algn="l">
              <a:lnSpc>
                <a:spcPts val="2700"/>
              </a:lnSpc>
            </a:pPr>
            <a:r>
              <a:rPr lang="en-US" sz="1800">
                <a:solidFill>
                  <a:srgbClr val="C9D6E8"/>
                </a:solidFill>
                <a:latin typeface="JetBrains Mono"/>
                <a:ea typeface="JetBrains Mono"/>
                <a:cs typeface="JetBrains Mono"/>
                <a:sym typeface="JetBrains Mono"/>
              </a:rPr>
              <a:t>            continue</a:t>
            </a:r>
          </a:p>
          <a:p>
            <a:pPr algn="l">
              <a:lnSpc>
                <a:spcPts val="2700"/>
              </a:lnSpc>
            </a:pPr>
            <a:r>
              <a:rPr lang="en-US" sz="1800">
                <a:solidFill>
                  <a:srgbClr val="C9D6E8"/>
                </a:solidFill>
                <a:latin typeface="JetBrains Mono"/>
                <a:ea typeface="JetBrains Mono"/>
                <a:cs typeface="JetBrains Mono"/>
                <a:sym typeface="JetBrains Mono"/>
              </a:rPr>
              <a:t>        try:</a:t>
            </a:r>
          </a:p>
          <a:p>
            <a:pPr algn="l">
              <a:lnSpc>
                <a:spcPts val="2700"/>
              </a:lnSpc>
            </a:pPr>
            <a:r>
              <a:rPr lang="en-US" sz="1800">
                <a:solidFill>
                  <a:srgbClr val="C9D6E8"/>
                </a:solidFill>
                <a:latin typeface="JetBrains Mono"/>
                <a:ea typeface="JetBrains Mono"/>
                <a:cs typeface="JetBrains Mono"/>
                <a:sym typeface="JetBrains Mono"/>
              </a:rPr>
              <a:t>            await ws.send_json(message)</a:t>
            </a:r>
          </a:p>
          <a:p>
            <a:pPr algn="l">
              <a:lnSpc>
                <a:spcPts val="2700"/>
              </a:lnSpc>
            </a:pPr>
            <a:r>
              <a:rPr lang="en-US" sz="1800">
                <a:solidFill>
                  <a:srgbClr val="C9D6E8"/>
                </a:solidFill>
                <a:latin typeface="JetBrains Mono"/>
                <a:ea typeface="JetBrains Mono"/>
                <a:cs typeface="JetBrains Mono"/>
                <a:sym typeface="JetBrains Mono"/>
              </a:rPr>
              <a:t>        except Exception:</a:t>
            </a:r>
          </a:p>
          <a:p>
            <a:pPr algn="l">
              <a:lnSpc>
                <a:spcPts val="2700"/>
              </a:lnSpc>
            </a:pPr>
            <a:r>
              <a:rPr lang="en-US" sz="1800">
                <a:solidFill>
                  <a:srgbClr val="C9D6E8"/>
                </a:solidFill>
                <a:latin typeface="JetBrains Mono"/>
                <a:ea typeface="JetBrains Mono"/>
                <a:cs typeface="JetBrains Mono"/>
                <a:sym typeface="JetBrains Mono"/>
              </a:rPr>
              <a:t>            connected_clients.pop(client_id, None)</a:t>
            </a:r>
          </a:p>
        </p:txBody>
      </p:sp>
      <p:sp>
        <p:nvSpPr>
          <p:cNvPr name="TextBox 16" id="16"/>
          <p:cNvSpPr txBox="true"/>
          <p:nvPr/>
        </p:nvSpPr>
        <p:spPr>
          <a:xfrm rot="0">
            <a:off x="8578853" y="7280881"/>
            <a:ext cx="8384924" cy="422872"/>
          </a:xfrm>
          <a:prstGeom prst="rect">
            <a:avLst/>
          </a:prstGeom>
        </p:spPr>
        <p:txBody>
          <a:bodyPr anchor="t" rtlCol="false" tIns="0" lIns="0" bIns="0" rIns="0">
            <a:spAutoFit/>
          </a:bodyPr>
          <a:lstStyle/>
          <a:p>
            <a:pPr algn="l">
              <a:lnSpc>
                <a:spcPts val="2729"/>
              </a:lnSpc>
            </a:pPr>
            <a:r>
              <a:rPr lang="en-US" sz="1950">
                <a:solidFill>
                  <a:srgbClr val="9FB0C8"/>
                </a:solidFill>
                <a:latin typeface="IBM Plex Sans"/>
                <a:ea typeface="IBM Plex Sans"/>
                <a:cs typeface="IBM Plex Sans"/>
                <a:sym typeface="IBM Plex Sans"/>
              </a:rPr>
              <a:t>Run with: uvicorn main:app --host 0.0.0.0 --port 8000</a:t>
            </a:r>
          </a:p>
        </p:txBody>
      </p:sp>
      <p:sp>
        <p:nvSpPr>
          <p:cNvPr name="TextBox 17" id="17"/>
          <p:cNvSpPr txBox="true"/>
          <p:nvPr/>
        </p:nvSpPr>
        <p:spPr>
          <a:xfrm rot="0">
            <a:off x="1219200" y="9319317"/>
            <a:ext cx="6753577" cy="396183"/>
          </a:xfrm>
          <a:prstGeom prst="rect">
            <a:avLst/>
          </a:prstGeom>
        </p:spPr>
        <p:txBody>
          <a:bodyPr anchor="t" rtlCol="false" tIns="0" lIns="0" bIns="0" rIns="0">
            <a:spAutoFit/>
          </a:bodyPr>
          <a:lstStyle/>
          <a:p>
            <a:pPr algn="l">
              <a:lnSpc>
                <a:spcPts val="2520"/>
              </a:lnSpc>
            </a:pPr>
            <a:r>
              <a:rPr lang="en-US" sz="1800">
                <a:solidFill>
                  <a:srgbClr val="9FB0C8"/>
                </a:solidFill>
                <a:latin typeface="IBM Plex Sans"/>
                <a:ea typeface="IBM Plex Sans"/>
                <a:cs typeface="IBM Plex Sans"/>
                <a:sym typeface="IBM Plex Sans"/>
              </a:rPr>
              <a:t>Python · FastAPI · Uvicorn · HTML5 Canvas · JavaScript</a:t>
            </a:r>
          </a:p>
        </p:txBody>
      </p:sp>
      <p:sp>
        <p:nvSpPr>
          <p:cNvPr name="TextBox 18" id="18"/>
          <p:cNvSpPr txBox="true"/>
          <p:nvPr/>
        </p:nvSpPr>
        <p:spPr>
          <a:xfrm rot="0">
            <a:off x="16794461" y="9319317"/>
            <a:ext cx="350539" cy="396183"/>
          </a:xfrm>
          <a:prstGeom prst="rect">
            <a:avLst/>
          </a:prstGeom>
        </p:spPr>
        <p:txBody>
          <a:bodyPr anchor="t" rtlCol="false" tIns="0" lIns="0" bIns="0" rIns="0">
            <a:spAutoFit/>
          </a:bodyPr>
          <a:lstStyle/>
          <a:p>
            <a:pPr algn="l">
              <a:lnSpc>
                <a:spcPts val="2520"/>
              </a:lnSpc>
            </a:pPr>
            <a:r>
              <a:rPr lang="en-US" sz="1800">
                <a:solidFill>
                  <a:srgbClr val="9FB0C8"/>
                </a:solidFill>
                <a:latin typeface="IBM Plex Sans"/>
                <a:ea typeface="IBM Plex Sans"/>
                <a:cs typeface="IBM Plex Sans"/>
                <a:sym typeface="IBM Plex Sans"/>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1424"/>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422872"/>
          </a:xfrm>
          <a:prstGeom prst="rect">
            <a:avLst/>
          </a:prstGeom>
        </p:spPr>
        <p:txBody>
          <a:bodyPr anchor="t" rtlCol="false" tIns="0" lIns="0" bIns="0" rIns="0">
            <a:spAutoFit/>
          </a:bodyPr>
          <a:lstStyle/>
          <a:p>
            <a:pPr algn="l">
              <a:lnSpc>
                <a:spcPts val="2729"/>
              </a:lnSpc>
            </a:pPr>
            <a:r>
              <a:rPr lang="en-US" b="true" sz="1950" spc="299">
                <a:solidFill>
                  <a:srgbClr val="38BDF8"/>
                </a:solidFill>
                <a:latin typeface="IBM Plex Sans Bold"/>
                <a:ea typeface="IBM Plex Sans Bold"/>
                <a:cs typeface="IBM Plex Sans Bold"/>
                <a:sym typeface="IBM Plex Sans Bold"/>
              </a:rPr>
              <a:t>09 · SEEING IT WORK</a:t>
            </a:r>
          </a:p>
        </p:txBody>
      </p:sp>
      <p:sp>
        <p:nvSpPr>
          <p:cNvPr name="TextBox 3" id="3"/>
          <p:cNvSpPr txBox="true"/>
          <p:nvPr/>
        </p:nvSpPr>
        <p:spPr>
          <a:xfrm rot="0">
            <a:off x="1219200" y="1699231"/>
            <a:ext cx="16325088" cy="773411"/>
          </a:xfrm>
          <a:prstGeom prst="rect">
            <a:avLst/>
          </a:prstGeom>
        </p:spPr>
        <p:txBody>
          <a:bodyPr anchor="t" rtlCol="false" tIns="0" lIns="0" bIns="0" rIns="0">
            <a:spAutoFit/>
          </a:bodyPr>
          <a:lstStyle/>
          <a:p>
            <a:pPr algn="l">
              <a:lnSpc>
                <a:spcPts val="5940"/>
              </a:lnSpc>
            </a:pPr>
            <a:r>
              <a:rPr lang="en-US" sz="5400" b="true">
                <a:solidFill>
                  <a:srgbClr val="E6EDF7"/>
                </a:solidFill>
                <a:latin typeface="Arimo Bold"/>
                <a:ea typeface="Arimo Bold"/>
                <a:cs typeface="Arimo Bold"/>
                <a:sym typeface="Arimo Bold"/>
              </a:rPr>
              <a:t>Live Demonstration</a:t>
            </a:r>
          </a:p>
        </p:txBody>
      </p:sp>
      <p:grpSp>
        <p:nvGrpSpPr>
          <p:cNvPr name="Group 4" id="4"/>
          <p:cNvGrpSpPr/>
          <p:nvPr/>
        </p:nvGrpSpPr>
        <p:grpSpPr>
          <a:xfrm rot="0">
            <a:off x="1228725" y="3748088"/>
            <a:ext cx="5086350" cy="3248025"/>
            <a:chOff x="0" y="0"/>
            <a:chExt cx="6781800" cy="4330700"/>
          </a:xfrm>
        </p:grpSpPr>
        <p:sp>
          <p:nvSpPr>
            <p:cNvPr name="Freeform 5" id="5" descr="Whiteboard in the browser showing Connected and Users Online 3"/>
            <p:cNvSpPr/>
            <p:nvPr/>
          </p:nvSpPr>
          <p:spPr>
            <a:xfrm flipH="false" flipV="false" rot="0">
              <a:off x="0" y="0"/>
              <a:ext cx="6781800" cy="4330700"/>
            </a:xfrm>
            <a:custGeom>
              <a:avLst/>
              <a:gdLst/>
              <a:ahLst/>
              <a:cxnLst/>
              <a:rect r="r" b="b" t="t" l="l"/>
              <a:pathLst>
                <a:path h="4330700" w="6781800">
                  <a:moveTo>
                    <a:pt x="0" y="0"/>
                  </a:moveTo>
                  <a:lnTo>
                    <a:pt x="6781800" y="0"/>
                  </a:lnTo>
                  <a:lnTo>
                    <a:pt x="6781800" y="4330700"/>
                  </a:lnTo>
                  <a:lnTo>
                    <a:pt x="0" y="4330700"/>
                  </a:lnTo>
                  <a:lnTo>
                    <a:pt x="0" y="0"/>
                  </a:lnTo>
                  <a:close/>
                </a:path>
              </a:pathLst>
            </a:custGeom>
            <a:blipFill>
              <a:blip r:embed="rId3"/>
              <a:stretch>
                <a:fillRect l="0" t="-111" r="0" b="-111"/>
              </a:stretch>
            </a:blipFill>
          </p:spPr>
        </p:sp>
      </p:grpSp>
      <p:grpSp>
        <p:nvGrpSpPr>
          <p:cNvPr name="Group 6" id="6"/>
          <p:cNvGrpSpPr/>
          <p:nvPr/>
        </p:nvGrpSpPr>
        <p:grpSpPr>
          <a:xfrm rot="0">
            <a:off x="1219200" y="3738562"/>
            <a:ext cx="5105400" cy="3267075"/>
            <a:chOff x="0" y="0"/>
            <a:chExt cx="6807200" cy="4356100"/>
          </a:xfrm>
        </p:grpSpPr>
        <p:sp>
          <p:nvSpPr>
            <p:cNvPr name="Freeform 7" id="7"/>
            <p:cNvSpPr/>
            <p:nvPr/>
          </p:nvSpPr>
          <p:spPr>
            <a:xfrm flipH="false" flipV="false" rot="0">
              <a:off x="0" y="0"/>
              <a:ext cx="6807200" cy="4356100"/>
            </a:xfrm>
            <a:custGeom>
              <a:avLst/>
              <a:gdLst/>
              <a:ahLst/>
              <a:cxnLst/>
              <a:rect r="r" b="b" t="t" l="l"/>
              <a:pathLst>
                <a:path h="4356100" w="6807200">
                  <a:moveTo>
                    <a:pt x="0" y="146558"/>
                  </a:moveTo>
                  <a:cubicBezTo>
                    <a:pt x="0" y="65532"/>
                    <a:pt x="65532" y="0"/>
                    <a:pt x="146558" y="0"/>
                  </a:cubicBezTo>
                  <a:lnTo>
                    <a:pt x="6660642" y="0"/>
                  </a:lnTo>
                  <a:cubicBezTo>
                    <a:pt x="6741668" y="0"/>
                    <a:pt x="6807200" y="65532"/>
                    <a:pt x="6807200" y="146558"/>
                  </a:cubicBezTo>
                  <a:lnTo>
                    <a:pt x="6807200" y="4209542"/>
                  </a:lnTo>
                  <a:cubicBezTo>
                    <a:pt x="6807200" y="4290441"/>
                    <a:pt x="6741668" y="4356100"/>
                    <a:pt x="6660642" y="4356100"/>
                  </a:cubicBezTo>
                  <a:lnTo>
                    <a:pt x="146558" y="4356100"/>
                  </a:lnTo>
                  <a:cubicBezTo>
                    <a:pt x="65532" y="4356100"/>
                    <a:pt x="0" y="4290568"/>
                    <a:pt x="0" y="4209542"/>
                  </a:cubicBezTo>
                  <a:close/>
                </a:path>
              </a:pathLst>
            </a:custGeom>
            <a:blipFill>
              <a:blip r:embed="rId4">
                <a:alphaModFix amt="0"/>
              </a:blip>
              <a:stretch>
                <a:fillRect l="-32104" t="0" r="-32104" b="0"/>
              </a:stretch>
            </a:blipFill>
            <a:ln w="9525" cap="sq">
              <a:solidFill>
                <a:srgbClr val="223A5E"/>
              </a:solidFill>
              <a:prstDash val="solid"/>
              <a:miter/>
            </a:ln>
          </p:spPr>
        </p:sp>
      </p:grpSp>
      <p:sp>
        <p:nvSpPr>
          <p:cNvPr name="TextBox 8" id="8"/>
          <p:cNvSpPr txBox="true"/>
          <p:nvPr/>
        </p:nvSpPr>
        <p:spPr>
          <a:xfrm rot="0">
            <a:off x="1219200" y="7138988"/>
            <a:ext cx="5258562" cy="700878"/>
          </a:xfrm>
          <a:prstGeom prst="rect">
            <a:avLst/>
          </a:prstGeom>
        </p:spPr>
        <p:txBody>
          <a:bodyPr anchor="t" rtlCol="false" tIns="0" lIns="0" bIns="0" rIns="0">
            <a:spAutoFit/>
          </a:bodyPr>
          <a:lstStyle/>
          <a:p>
            <a:pPr algn="l">
              <a:lnSpc>
                <a:spcPts val="2535"/>
              </a:lnSpc>
            </a:pPr>
            <a:r>
              <a:rPr lang="en-US" sz="1950" b="true">
                <a:solidFill>
                  <a:srgbClr val="C9D6E8"/>
                </a:solidFill>
                <a:latin typeface="IBM Plex Sans Bold"/>
                <a:ea typeface="IBM Plex Sans Bold"/>
                <a:cs typeface="IBM Plex Sans Bold"/>
                <a:sym typeface="IBM Plex Sans Bold"/>
              </a:rPr>
              <a:t>1 · Connect.</a:t>
            </a:r>
            <a:r>
              <a:rPr lang="en-US" sz="1950">
                <a:solidFill>
                  <a:srgbClr val="C9D6E8"/>
                </a:solidFill>
                <a:latin typeface="IBM Plex Sans"/>
                <a:ea typeface="IBM Plex Sans"/>
                <a:cs typeface="IBM Plex Sans"/>
                <a:sym typeface="IBM Plex Sans"/>
              </a:rPr>
              <a:t> Three clients join; every screen shows Users Online: 3.</a:t>
            </a:r>
          </a:p>
        </p:txBody>
      </p:sp>
      <p:grpSp>
        <p:nvGrpSpPr>
          <p:cNvPr name="Group 9" id="9"/>
          <p:cNvGrpSpPr/>
          <p:nvPr/>
        </p:nvGrpSpPr>
        <p:grpSpPr>
          <a:xfrm rot="0">
            <a:off x="6600825" y="3748088"/>
            <a:ext cx="5086350" cy="3248025"/>
            <a:chOff x="0" y="0"/>
            <a:chExt cx="6781800" cy="4330700"/>
          </a:xfrm>
        </p:grpSpPr>
        <p:sp>
          <p:nvSpPr>
            <p:cNvPr name="Freeform 10" id="10" descr="Whiteboard canvas with black, red and blue strokes drawn by different clients"/>
            <p:cNvSpPr/>
            <p:nvPr/>
          </p:nvSpPr>
          <p:spPr>
            <a:xfrm flipH="false" flipV="false" rot="0">
              <a:off x="0" y="0"/>
              <a:ext cx="6781800" cy="4330700"/>
            </a:xfrm>
            <a:custGeom>
              <a:avLst/>
              <a:gdLst/>
              <a:ahLst/>
              <a:cxnLst/>
              <a:rect r="r" b="b" t="t" l="l"/>
              <a:pathLst>
                <a:path h="4330700" w="6781800">
                  <a:moveTo>
                    <a:pt x="0" y="0"/>
                  </a:moveTo>
                  <a:lnTo>
                    <a:pt x="6781800" y="0"/>
                  </a:lnTo>
                  <a:lnTo>
                    <a:pt x="6781800" y="4330700"/>
                  </a:lnTo>
                  <a:lnTo>
                    <a:pt x="0" y="4330700"/>
                  </a:lnTo>
                  <a:lnTo>
                    <a:pt x="0" y="0"/>
                  </a:lnTo>
                  <a:close/>
                </a:path>
              </a:pathLst>
            </a:custGeom>
            <a:blipFill>
              <a:blip r:embed="rId5"/>
              <a:stretch>
                <a:fillRect l="0" t="-111" r="0" b="-111"/>
              </a:stretch>
            </a:blipFill>
          </p:spPr>
        </p:sp>
      </p:grpSp>
      <p:grpSp>
        <p:nvGrpSpPr>
          <p:cNvPr name="Group 11" id="11"/>
          <p:cNvGrpSpPr/>
          <p:nvPr/>
        </p:nvGrpSpPr>
        <p:grpSpPr>
          <a:xfrm rot="0">
            <a:off x="6591300" y="3738562"/>
            <a:ext cx="5105400" cy="3267075"/>
            <a:chOff x="0" y="0"/>
            <a:chExt cx="6807200" cy="4356100"/>
          </a:xfrm>
        </p:grpSpPr>
        <p:sp>
          <p:nvSpPr>
            <p:cNvPr name="Freeform 12" id="12"/>
            <p:cNvSpPr/>
            <p:nvPr/>
          </p:nvSpPr>
          <p:spPr>
            <a:xfrm flipH="false" flipV="false" rot="0">
              <a:off x="0" y="0"/>
              <a:ext cx="6807200" cy="4356100"/>
            </a:xfrm>
            <a:custGeom>
              <a:avLst/>
              <a:gdLst/>
              <a:ahLst/>
              <a:cxnLst/>
              <a:rect r="r" b="b" t="t" l="l"/>
              <a:pathLst>
                <a:path h="4356100" w="6807200">
                  <a:moveTo>
                    <a:pt x="0" y="146558"/>
                  </a:moveTo>
                  <a:cubicBezTo>
                    <a:pt x="0" y="65532"/>
                    <a:pt x="65532" y="0"/>
                    <a:pt x="146558" y="0"/>
                  </a:cubicBezTo>
                  <a:lnTo>
                    <a:pt x="6660642" y="0"/>
                  </a:lnTo>
                  <a:cubicBezTo>
                    <a:pt x="6741668" y="0"/>
                    <a:pt x="6807200" y="65532"/>
                    <a:pt x="6807200" y="146558"/>
                  </a:cubicBezTo>
                  <a:lnTo>
                    <a:pt x="6807200" y="4209542"/>
                  </a:lnTo>
                  <a:cubicBezTo>
                    <a:pt x="6807200" y="4290441"/>
                    <a:pt x="6741668" y="4356100"/>
                    <a:pt x="6660642" y="4356100"/>
                  </a:cubicBezTo>
                  <a:lnTo>
                    <a:pt x="146558" y="4356100"/>
                  </a:lnTo>
                  <a:cubicBezTo>
                    <a:pt x="65532" y="4356100"/>
                    <a:pt x="0" y="4290568"/>
                    <a:pt x="0" y="4209542"/>
                  </a:cubicBezTo>
                  <a:close/>
                </a:path>
              </a:pathLst>
            </a:custGeom>
            <a:blipFill>
              <a:blip r:embed="rId4">
                <a:alphaModFix amt="0"/>
              </a:blip>
              <a:stretch>
                <a:fillRect l="-32104" t="0" r="-32104" b="0"/>
              </a:stretch>
            </a:blipFill>
            <a:ln w="9525" cap="sq">
              <a:solidFill>
                <a:srgbClr val="223A5E"/>
              </a:solidFill>
              <a:prstDash val="solid"/>
              <a:miter/>
            </a:ln>
          </p:spPr>
        </p:sp>
      </p:grpSp>
      <p:sp>
        <p:nvSpPr>
          <p:cNvPr name="TextBox 13" id="13"/>
          <p:cNvSpPr txBox="true"/>
          <p:nvPr/>
        </p:nvSpPr>
        <p:spPr>
          <a:xfrm rot="0">
            <a:off x="6591300" y="7138988"/>
            <a:ext cx="5258562" cy="700878"/>
          </a:xfrm>
          <a:prstGeom prst="rect">
            <a:avLst/>
          </a:prstGeom>
        </p:spPr>
        <p:txBody>
          <a:bodyPr anchor="t" rtlCol="false" tIns="0" lIns="0" bIns="0" rIns="0">
            <a:spAutoFit/>
          </a:bodyPr>
          <a:lstStyle/>
          <a:p>
            <a:pPr algn="l">
              <a:lnSpc>
                <a:spcPts val="2535"/>
              </a:lnSpc>
            </a:pPr>
            <a:r>
              <a:rPr lang="en-US" sz="1950" b="true">
                <a:solidFill>
                  <a:srgbClr val="C9D6E8"/>
                </a:solidFill>
                <a:latin typeface="IBM Plex Sans Bold"/>
                <a:ea typeface="IBM Plex Sans Bold"/>
                <a:cs typeface="IBM Plex Sans Bold"/>
                <a:sym typeface="IBM Plex Sans Bold"/>
              </a:rPr>
              <a:t>2 · Draw.</a:t>
            </a:r>
            <a:r>
              <a:rPr lang="en-US" sz="1950">
                <a:solidFill>
                  <a:srgbClr val="C9D6E8"/>
                </a:solidFill>
                <a:latin typeface="IBM Plex Sans"/>
                <a:ea typeface="IBM Plex Sans"/>
                <a:cs typeface="IBM Plex Sans"/>
                <a:sym typeface="IBM Plex Sans"/>
              </a:rPr>
              <a:t> Strokes from three users appear on every canvas.</a:t>
            </a:r>
          </a:p>
        </p:txBody>
      </p:sp>
      <p:grpSp>
        <p:nvGrpSpPr>
          <p:cNvPr name="Group 14" id="14"/>
          <p:cNvGrpSpPr/>
          <p:nvPr/>
        </p:nvGrpSpPr>
        <p:grpSpPr>
          <a:xfrm rot="0">
            <a:off x="11972925" y="3748088"/>
            <a:ext cx="5086350" cy="3248025"/>
            <a:chOff x="0" y="0"/>
            <a:chExt cx="6781800" cy="4330700"/>
          </a:xfrm>
        </p:grpSpPr>
        <p:sp>
          <p:nvSpPr>
            <p:cNvPr name="Freeform 15" id="15" descr="Whiteboard where an erased gap appears in the black stroke"/>
            <p:cNvSpPr/>
            <p:nvPr/>
          </p:nvSpPr>
          <p:spPr>
            <a:xfrm flipH="false" flipV="false" rot="0">
              <a:off x="0" y="0"/>
              <a:ext cx="6781800" cy="4330700"/>
            </a:xfrm>
            <a:custGeom>
              <a:avLst/>
              <a:gdLst/>
              <a:ahLst/>
              <a:cxnLst/>
              <a:rect r="r" b="b" t="t" l="l"/>
              <a:pathLst>
                <a:path h="4330700" w="6781800">
                  <a:moveTo>
                    <a:pt x="0" y="0"/>
                  </a:moveTo>
                  <a:lnTo>
                    <a:pt x="6781800" y="0"/>
                  </a:lnTo>
                  <a:lnTo>
                    <a:pt x="6781800" y="4330700"/>
                  </a:lnTo>
                  <a:lnTo>
                    <a:pt x="0" y="4330700"/>
                  </a:lnTo>
                  <a:lnTo>
                    <a:pt x="0" y="0"/>
                  </a:lnTo>
                  <a:close/>
                </a:path>
              </a:pathLst>
            </a:custGeom>
            <a:blipFill>
              <a:blip r:embed="rId6"/>
              <a:stretch>
                <a:fillRect l="0" t="-111" r="0" b="-111"/>
              </a:stretch>
            </a:blipFill>
          </p:spPr>
        </p:sp>
      </p:grpSp>
      <p:grpSp>
        <p:nvGrpSpPr>
          <p:cNvPr name="Group 16" id="16"/>
          <p:cNvGrpSpPr/>
          <p:nvPr/>
        </p:nvGrpSpPr>
        <p:grpSpPr>
          <a:xfrm rot="0">
            <a:off x="11963400" y="3738562"/>
            <a:ext cx="5105400" cy="3267075"/>
            <a:chOff x="0" y="0"/>
            <a:chExt cx="6807200" cy="4356100"/>
          </a:xfrm>
        </p:grpSpPr>
        <p:sp>
          <p:nvSpPr>
            <p:cNvPr name="Freeform 17" id="17"/>
            <p:cNvSpPr/>
            <p:nvPr/>
          </p:nvSpPr>
          <p:spPr>
            <a:xfrm flipH="false" flipV="false" rot="0">
              <a:off x="0" y="0"/>
              <a:ext cx="6807200" cy="4356100"/>
            </a:xfrm>
            <a:custGeom>
              <a:avLst/>
              <a:gdLst/>
              <a:ahLst/>
              <a:cxnLst/>
              <a:rect r="r" b="b" t="t" l="l"/>
              <a:pathLst>
                <a:path h="4356100" w="6807200">
                  <a:moveTo>
                    <a:pt x="0" y="146558"/>
                  </a:moveTo>
                  <a:cubicBezTo>
                    <a:pt x="0" y="65532"/>
                    <a:pt x="65532" y="0"/>
                    <a:pt x="146558" y="0"/>
                  </a:cubicBezTo>
                  <a:lnTo>
                    <a:pt x="6660642" y="0"/>
                  </a:lnTo>
                  <a:cubicBezTo>
                    <a:pt x="6741668" y="0"/>
                    <a:pt x="6807200" y="65532"/>
                    <a:pt x="6807200" y="146558"/>
                  </a:cubicBezTo>
                  <a:lnTo>
                    <a:pt x="6807200" y="4209542"/>
                  </a:lnTo>
                  <a:cubicBezTo>
                    <a:pt x="6807200" y="4290441"/>
                    <a:pt x="6741668" y="4356100"/>
                    <a:pt x="6660642" y="4356100"/>
                  </a:cubicBezTo>
                  <a:lnTo>
                    <a:pt x="146558" y="4356100"/>
                  </a:lnTo>
                  <a:cubicBezTo>
                    <a:pt x="65532" y="4356100"/>
                    <a:pt x="0" y="4290568"/>
                    <a:pt x="0" y="4209542"/>
                  </a:cubicBezTo>
                  <a:close/>
                </a:path>
              </a:pathLst>
            </a:custGeom>
            <a:blipFill>
              <a:blip r:embed="rId4">
                <a:alphaModFix amt="0"/>
              </a:blip>
              <a:stretch>
                <a:fillRect l="-32104" t="0" r="-32104" b="0"/>
              </a:stretch>
            </a:blipFill>
            <a:ln w="9525" cap="sq">
              <a:solidFill>
                <a:srgbClr val="223A5E"/>
              </a:solidFill>
              <a:prstDash val="solid"/>
              <a:miter/>
            </a:ln>
          </p:spPr>
        </p:sp>
      </p:grpSp>
      <p:sp>
        <p:nvSpPr>
          <p:cNvPr name="TextBox 18" id="18"/>
          <p:cNvSpPr txBox="true"/>
          <p:nvPr/>
        </p:nvSpPr>
        <p:spPr>
          <a:xfrm rot="0">
            <a:off x="11963400" y="7138988"/>
            <a:ext cx="5258562" cy="700878"/>
          </a:xfrm>
          <a:prstGeom prst="rect">
            <a:avLst/>
          </a:prstGeom>
        </p:spPr>
        <p:txBody>
          <a:bodyPr anchor="t" rtlCol="false" tIns="0" lIns="0" bIns="0" rIns="0">
            <a:spAutoFit/>
          </a:bodyPr>
          <a:lstStyle/>
          <a:p>
            <a:pPr algn="l">
              <a:lnSpc>
                <a:spcPts val="2535"/>
              </a:lnSpc>
            </a:pPr>
            <a:r>
              <a:rPr lang="en-US" sz="1950" b="true">
                <a:solidFill>
                  <a:srgbClr val="C9D6E8"/>
                </a:solidFill>
                <a:latin typeface="IBM Plex Sans Bold"/>
                <a:ea typeface="IBM Plex Sans Bold"/>
                <a:cs typeface="IBM Plex Sans Bold"/>
                <a:sym typeface="IBM Plex Sans Bold"/>
              </a:rPr>
              <a:t>3 · Erase.</a:t>
            </a:r>
            <a:r>
              <a:rPr lang="en-US" sz="1950">
                <a:solidFill>
                  <a:srgbClr val="C9D6E8"/>
                </a:solidFill>
                <a:latin typeface="IBM Plex Sans"/>
                <a:ea typeface="IBM Plex Sans"/>
                <a:cs typeface="IBM Plex Sans"/>
                <a:sym typeface="IBM Plex Sans"/>
              </a:rPr>
              <a:t> An erase by Client B shows up on Client A.</a:t>
            </a:r>
          </a:p>
        </p:txBody>
      </p:sp>
      <p:sp>
        <p:nvSpPr>
          <p:cNvPr name="TextBox 19" id="19"/>
          <p:cNvSpPr txBox="true"/>
          <p:nvPr/>
        </p:nvSpPr>
        <p:spPr>
          <a:xfrm rot="0">
            <a:off x="1219200" y="9319317"/>
            <a:ext cx="8600475" cy="396183"/>
          </a:xfrm>
          <a:prstGeom prst="rect">
            <a:avLst/>
          </a:prstGeom>
        </p:spPr>
        <p:txBody>
          <a:bodyPr anchor="t" rtlCol="false" tIns="0" lIns="0" bIns="0" rIns="0">
            <a:spAutoFit/>
          </a:bodyPr>
          <a:lstStyle/>
          <a:p>
            <a:pPr algn="l">
              <a:lnSpc>
                <a:spcPts val="2520"/>
              </a:lnSpc>
            </a:pPr>
            <a:r>
              <a:rPr lang="en-US" sz="1800">
                <a:solidFill>
                  <a:srgbClr val="9FB0C8"/>
                </a:solidFill>
                <a:latin typeface="IBM Plex Sans"/>
                <a:ea typeface="IBM Plex Sans"/>
                <a:cs typeface="IBM Plex Sans"/>
                <a:sym typeface="IBM Plex Sans"/>
              </a:rPr>
              <a:t>Captured from the running application · LAN Collaborative Whiteboard</a:t>
            </a:r>
          </a:p>
        </p:txBody>
      </p:sp>
      <p:sp>
        <p:nvSpPr>
          <p:cNvPr name="TextBox 20" id="20"/>
          <p:cNvSpPr txBox="true"/>
          <p:nvPr/>
        </p:nvSpPr>
        <p:spPr>
          <a:xfrm rot="0">
            <a:off x="16794461" y="9319317"/>
            <a:ext cx="350539" cy="396183"/>
          </a:xfrm>
          <a:prstGeom prst="rect">
            <a:avLst/>
          </a:prstGeom>
        </p:spPr>
        <p:txBody>
          <a:bodyPr anchor="t" rtlCol="false" tIns="0" lIns="0" bIns="0" rIns="0">
            <a:spAutoFit/>
          </a:bodyPr>
          <a:lstStyle/>
          <a:p>
            <a:pPr algn="l">
              <a:lnSpc>
                <a:spcPts val="2520"/>
              </a:lnSpc>
            </a:pPr>
            <a:r>
              <a:rPr lang="en-US" sz="1800">
                <a:solidFill>
                  <a:srgbClr val="9FB0C8"/>
                </a:solidFill>
                <a:latin typeface="IBM Plex Sans"/>
                <a:ea typeface="IBM Plex Sans"/>
                <a:cs typeface="IBM Plex Sans"/>
                <a:sym typeface="IBM Plex Sans"/>
              </a:rPr>
              <a:t>10</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B2E6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0B2E6B">
                    <a:alpha val="100000"/>
                  </a:srgbClr>
                </a:gs>
                <a:gs pos="100000">
                  <a:srgbClr val="1556B8">
                    <a:alpha val="100000"/>
                  </a:srgbClr>
                </a:gs>
              </a:gsLst>
              <a:lin ang="2700000"/>
            </a:gradFill>
          </p:spPr>
        </p:sp>
      </p:grpSp>
      <p:sp>
        <p:nvSpPr>
          <p:cNvPr name="TextBox 4" id="4"/>
          <p:cNvSpPr txBox="true"/>
          <p:nvPr/>
        </p:nvSpPr>
        <p:spPr>
          <a:xfrm rot="0">
            <a:off x="1219200" y="1181100"/>
            <a:ext cx="16325088" cy="422872"/>
          </a:xfrm>
          <a:prstGeom prst="rect">
            <a:avLst/>
          </a:prstGeom>
        </p:spPr>
        <p:txBody>
          <a:bodyPr anchor="t" rtlCol="false" tIns="0" lIns="0" bIns="0" rIns="0">
            <a:spAutoFit/>
          </a:bodyPr>
          <a:lstStyle/>
          <a:p>
            <a:pPr algn="l">
              <a:lnSpc>
                <a:spcPts val="2729"/>
              </a:lnSpc>
            </a:pPr>
            <a:r>
              <a:rPr lang="en-US" b="true" sz="1950" spc="299">
                <a:solidFill>
                  <a:srgbClr val="FDE68A"/>
                </a:solidFill>
                <a:latin typeface="IBM Plex Sans Bold"/>
                <a:ea typeface="IBM Plex Sans Bold"/>
                <a:cs typeface="IBM Plex Sans Bold"/>
                <a:sym typeface="IBM Plex Sans Bold"/>
              </a:rPr>
              <a:t>10 · EVIDENCE</a:t>
            </a:r>
          </a:p>
        </p:txBody>
      </p:sp>
      <p:sp>
        <p:nvSpPr>
          <p:cNvPr name="TextBox 5" id="5"/>
          <p:cNvSpPr txBox="true"/>
          <p:nvPr/>
        </p:nvSpPr>
        <p:spPr>
          <a:xfrm rot="0">
            <a:off x="1219200" y="1699231"/>
            <a:ext cx="16325088" cy="773411"/>
          </a:xfrm>
          <a:prstGeom prst="rect">
            <a:avLst/>
          </a:prstGeom>
        </p:spPr>
        <p:txBody>
          <a:bodyPr anchor="t" rtlCol="false" tIns="0" lIns="0" bIns="0" rIns="0">
            <a:spAutoFit/>
          </a:bodyPr>
          <a:lstStyle/>
          <a:p>
            <a:pPr algn="l">
              <a:lnSpc>
                <a:spcPts val="5940"/>
              </a:lnSpc>
            </a:pPr>
            <a:r>
              <a:rPr lang="en-US" sz="5400" b="true">
                <a:solidFill>
                  <a:srgbClr val="FFFFFF"/>
                </a:solidFill>
                <a:latin typeface="Arimo Bold"/>
                <a:ea typeface="Arimo Bold"/>
                <a:cs typeface="Arimo Bold"/>
                <a:sym typeface="Arimo Bold"/>
              </a:rPr>
              <a:t>Test Results and Performance</a:t>
            </a:r>
          </a:p>
        </p:txBody>
      </p:sp>
      <p:grpSp>
        <p:nvGrpSpPr>
          <p:cNvPr name="Group 6" id="6"/>
          <p:cNvGrpSpPr/>
          <p:nvPr/>
        </p:nvGrpSpPr>
        <p:grpSpPr>
          <a:xfrm rot="0">
            <a:off x="1219200" y="2777433"/>
            <a:ext cx="3762375" cy="2345131"/>
            <a:chOff x="0" y="0"/>
            <a:chExt cx="5016500" cy="3126842"/>
          </a:xfrm>
        </p:grpSpPr>
        <p:sp>
          <p:nvSpPr>
            <p:cNvPr name="Freeform 7" id="7"/>
            <p:cNvSpPr/>
            <p:nvPr/>
          </p:nvSpPr>
          <p:spPr>
            <a:xfrm flipH="false" flipV="false" rot="0">
              <a:off x="0" y="0"/>
              <a:ext cx="5016500" cy="3126867"/>
            </a:xfrm>
            <a:custGeom>
              <a:avLst/>
              <a:gdLst/>
              <a:ahLst/>
              <a:cxnLst/>
              <a:rect r="r" b="b" t="t" l="l"/>
              <a:pathLst>
                <a:path h="3126867" w="5016500">
                  <a:moveTo>
                    <a:pt x="0" y="197612"/>
                  </a:moveTo>
                  <a:cubicBezTo>
                    <a:pt x="0" y="88519"/>
                    <a:pt x="88519" y="0"/>
                    <a:pt x="197612" y="0"/>
                  </a:cubicBezTo>
                  <a:lnTo>
                    <a:pt x="4818888" y="0"/>
                  </a:lnTo>
                  <a:cubicBezTo>
                    <a:pt x="4927981" y="0"/>
                    <a:pt x="5016500" y="88519"/>
                    <a:pt x="5016500" y="197612"/>
                  </a:cubicBezTo>
                  <a:lnTo>
                    <a:pt x="5016500" y="2929255"/>
                  </a:lnTo>
                  <a:cubicBezTo>
                    <a:pt x="5016500" y="3038475"/>
                    <a:pt x="4927981" y="3126867"/>
                    <a:pt x="4818888" y="3126867"/>
                  </a:cubicBezTo>
                  <a:lnTo>
                    <a:pt x="197612" y="3126867"/>
                  </a:lnTo>
                  <a:cubicBezTo>
                    <a:pt x="88519" y="3126867"/>
                    <a:pt x="0" y="3038348"/>
                    <a:pt x="0" y="2929255"/>
                  </a:cubicBezTo>
                  <a:close/>
                </a:path>
              </a:pathLst>
            </a:custGeom>
            <a:solidFill>
              <a:srgbClr val="0A2557"/>
            </a:solidFill>
            <a:ln w="9525" cap="sq">
              <a:solidFill>
                <a:srgbClr val="3B6FC9"/>
              </a:solidFill>
              <a:prstDash val="solid"/>
              <a:miter/>
            </a:ln>
          </p:spPr>
        </p:sp>
      </p:grpSp>
      <p:sp>
        <p:nvSpPr>
          <p:cNvPr name="TextBox 8" id="8"/>
          <p:cNvSpPr txBox="true"/>
          <p:nvPr/>
        </p:nvSpPr>
        <p:spPr>
          <a:xfrm rot="0">
            <a:off x="1492253" y="3098111"/>
            <a:ext cx="3312766" cy="710508"/>
          </a:xfrm>
          <a:prstGeom prst="rect">
            <a:avLst/>
          </a:prstGeom>
        </p:spPr>
        <p:txBody>
          <a:bodyPr anchor="t" rtlCol="false" tIns="0" lIns="0" bIns="0" rIns="0">
            <a:spAutoFit/>
          </a:bodyPr>
          <a:lstStyle/>
          <a:p>
            <a:pPr algn="l">
              <a:lnSpc>
                <a:spcPts val="5670"/>
              </a:lnSpc>
            </a:pPr>
            <a:r>
              <a:rPr lang="en-US" sz="5400" b="true">
                <a:solidFill>
                  <a:srgbClr val="FFFFFF"/>
                </a:solidFill>
                <a:latin typeface="Arimo Bold"/>
                <a:ea typeface="Arimo Bold"/>
                <a:cs typeface="Arimo Bold"/>
                <a:sym typeface="Arimo Bold"/>
              </a:rPr>
              <a:t>9 / 9</a:t>
            </a:r>
          </a:p>
        </p:txBody>
      </p:sp>
      <p:sp>
        <p:nvSpPr>
          <p:cNvPr name="TextBox 9" id="9"/>
          <p:cNvSpPr txBox="true"/>
          <p:nvPr/>
        </p:nvSpPr>
        <p:spPr>
          <a:xfrm rot="0">
            <a:off x="1492253" y="3818134"/>
            <a:ext cx="3312766" cy="1069477"/>
          </a:xfrm>
          <a:prstGeom prst="rect">
            <a:avLst/>
          </a:prstGeom>
        </p:spPr>
        <p:txBody>
          <a:bodyPr anchor="t" rtlCol="false" tIns="0" lIns="0" bIns="0" rIns="0">
            <a:spAutoFit/>
          </a:bodyPr>
          <a:lstStyle/>
          <a:p>
            <a:pPr algn="l">
              <a:lnSpc>
                <a:spcPts val="2632"/>
              </a:lnSpc>
            </a:pPr>
            <a:r>
              <a:rPr lang="en-US" sz="1950">
                <a:solidFill>
                  <a:srgbClr val="D6E4FA"/>
                </a:solidFill>
                <a:latin typeface="IBM Plex Sans"/>
                <a:ea typeface="IBM Plex Sans"/>
                <a:cs typeface="IBM Plex Sans"/>
                <a:sym typeface="IBM Plex Sans"/>
              </a:rPr>
              <a:t>test cases passed: connect, draw, erase, clear, join, leave, restart, load</a:t>
            </a:r>
          </a:p>
        </p:txBody>
      </p:sp>
      <p:grpSp>
        <p:nvGrpSpPr>
          <p:cNvPr name="Group 10" id="10"/>
          <p:cNvGrpSpPr/>
          <p:nvPr/>
        </p:nvGrpSpPr>
        <p:grpSpPr>
          <a:xfrm rot="0">
            <a:off x="5248275" y="2777433"/>
            <a:ext cx="3762375" cy="2345131"/>
            <a:chOff x="0" y="0"/>
            <a:chExt cx="5016500" cy="3126842"/>
          </a:xfrm>
        </p:grpSpPr>
        <p:sp>
          <p:nvSpPr>
            <p:cNvPr name="Freeform 11" id="11"/>
            <p:cNvSpPr/>
            <p:nvPr/>
          </p:nvSpPr>
          <p:spPr>
            <a:xfrm flipH="false" flipV="false" rot="0">
              <a:off x="0" y="0"/>
              <a:ext cx="5016500" cy="3126867"/>
            </a:xfrm>
            <a:custGeom>
              <a:avLst/>
              <a:gdLst/>
              <a:ahLst/>
              <a:cxnLst/>
              <a:rect r="r" b="b" t="t" l="l"/>
              <a:pathLst>
                <a:path h="3126867" w="5016500">
                  <a:moveTo>
                    <a:pt x="0" y="197612"/>
                  </a:moveTo>
                  <a:cubicBezTo>
                    <a:pt x="0" y="88519"/>
                    <a:pt x="88519" y="0"/>
                    <a:pt x="197612" y="0"/>
                  </a:cubicBezTo>
                  <a:lnTo>
                    <a:pt x="4818888" y="0"/>
                  </a:lnTo>
                  <a:cubicBezTo>
                    <a:pt x="4927981" y="0"/>
                    <a:pt x="5016500" y="88519"/>
                    <a:pt x="5016500" y="197612"/>
                  </a:cubicBezTo>
                  <a:lnTo>
                    <a:pt x="5016500" y="2929255"/>
                  </a:lnTo>
                  <a:cubicBezTo>
                    <a:pt x="5016500" y="3038475"/>
                    <a:pt x="4927981" y="3126867"/>
                    <a:pt x="4818888" y="3126867"/>
                  </a:cubicBezTo>
                  <a:lnTo>
                    <a:pt x="197612" y="3126867"/>
                  </a:lnTo>
                  <a:cubicBezTo>
                    <a:pt x="88519" y="3126867"/>
                    <a:pt x="0" y="3038348"/>
                    <a:pt x="0" y="2929255"/>
                  </a:cubicBezTo>
                  <a:close/>
                </a:path>
              </a:pathLst>
            </a:custGeom>
            <a:solidFill>
              <a:srgbClr val="0A2557"/>
            </a:solidFill>
            <a:ln w="9525" cap="sq">
              <a:solidFill>
                <a:srgbClr val="3B6FC9"/>
              </a:solidFill>
              <a:prstDash val="solid"/>
              <a:miter/>
            </a:ln>
          </p:spPr>
        </p:sp>
      </p:grpSp>
      <p:sp>
        <p:nvSpPr>
          <p:cNvPr name="TextBox 12" id="12"/>
          <p:cNvSpPr txBox="true"/>
          <p:nvPr/>
        </p:nvSpPr>
        <p:spPr>
          <a:xfrm rot="0">
            <a:off x="5521328" y="3098111"/>
            <a:ext cx="3312766" cy="710508"/>
          </a:xfrm>
          <a:prstGeom prst="rect">
            <a:avLst/>
          </a:prstGeom>
        </p:spPr>
        <p:txBody>
          <a:bodyPr anchor="t" rtlCol="false" tIns="0" lIns="0" bIns="0" rIns="0">
            <a:spAutoFit/>
          </a:bodyPr>
          <a:lstStyle/>
          <a:p>
            <a:pPr algn="l">
              <a:lnSpc>
                <a:spcPts val="5670"/>
              </a:lnSpc>
            </a:pPr>
            <a:r>
              <a:rPr lang="en-US" sz="5400" b="true">
                <a:solidFill>
                  <a:srgbClr val="FFFFFF"/>
                </a:solidFill>
                <a:latin typeface="Arimo Bold"/>
                <a:ea typeface="Arimo Bold"/>
                <a:cs typeface="Arimo Bold"/>
                <a:sym typeface="Arimo Bold"/>
              </a:rPr>
              <a:t>0.21 ms</a:t>
            </a:r>
          </a:p>
        </p:txBody>
      </p:sp>
      <p:sp>
        <p:nvSpPr>
          <p:cNvPr name="TextBox 13" id="13"/>
          <p:cNvSpPr txBox="true"/>
          <p:nvPr/>
        </p:nvSpPr>
        <p:spPr>
          <a:xfrm rot="0">
            <a:off x="5521328" y="3818134"/>
            <a:ext cx="3312766" cy="1069477"/>
          </a:xfrm>
          <a:prstGeom prst="rect">
            <a:avLst/>
          </a:prstGeom>
        </p:spPr>
        <p:txBody>
          <a:bodyPr anchor="t" rtlCol="false" tIns="0" lIns="0" bIns="0" rIns="0">
            <a:spAutoFit/>
          </a:bodyPr>
          <a:lstStyle/>
          <a:p>
            <a:pPr algn="l">
              <a:lnSpc>
                <a:spcPts val="2632"/>
              </a:lnSpc>
            </a:pPr>
            <a:r>
              <a:rPr lang="en-US" sz="1950">
                <a:solidFill>
                  <a:srgbClr val="D6E4FA"/>
                </a:solidFill>
                <a:latin typeface="IBM Plex Sans"/>
                <a:ea typeface="IBM Plex Sans"/>
                <a:cs typeface="IBM Plex Sans"/>
                <a:sym typeface="IBM Plex Sans"/>
              </a:rPr>
              <a:t>mean delivery delay, client to server to client (200 events)</a:t>
            </a:r>
          </a:p>
        </p:txBody>
      </p:sp>
      <p:grpSp>
        <p:nvGrpSpPr>
          <p:cNvPr name="Group 14" id="14"/>
          <p:cNvGrpSpPr/>
          <p:nvPr/>
        </p:nvGrpSpPr>
        <p:grpSpPr>
          <a:xfrm rot="0">
            <a:off x="9277350" y="2777433"/>
            <a:ext cx="3762375" cy="2345131"/>
            <a:chOff x="0" y="0"/>
            <a:chExt cx="5016500" cy="3126842"/>
          </a:xfrm>
        </p:grpSpPr>
        <p:sp>
          <p:nvSpPr>
            <p:cNvPr name="Freeform 15" id="15"/>
            <p:cNvSpPr/>
            <p:nvPr/>
          </p:nvSpPr>
          <p:spPr>
            <a:xfrm flipH="false" flipV="false" rot="0">
              <a:off x="0" y="0"/>
              <a:ext cx="5016500" cy="3126867"/>
            </a:xfrm>
            <a:custGeom>
              <a:avLst/>
              <a:gdLst/>
              <a:ahLst/>
              <a:cxnLst/>
              <a:rect r="r" b="b" t="t" l="l"/>
              <a:pathLst>
                <a:path h="3126867" w="5016500">
                  <a:moveTo>
                    <a:pt x="0" y="197612"/>
                  </a:moveTo>
                  <a:cubicBezTo>
                    <a:pt x="0" y="88519"/>
                    <a:pt x="88519" y="0"/>
                    <a:pt x="197612" y="0"/>
                  </a:cubicBezTo>
                  <a:lnTo>
                    <a:pt x="4818888" y="0"/>
                  </a:lnTo>
                  <a:cubicBezTo>
                    <a:pt x="4927981" y="0"/>
                    <a:pt x="5016500" y="88519"/>
                    <a:pt x="5016500" y="197612"/>
                  </a:cubicBezTo>
                  <a:lnTo>
                    <a:pt x="5016500" y="2929255"/>
                  </a:lnTo>
                  <a:cubicBezTo>
                    <a:pt x="5016500" y="3038475"/>
                    <a:pt x="4927981" y="3126867"/>
                    <a:pt x="4818888" y="3126867"/>
                  </a:cubicBezTo>
                  <a:lnTo>
                    <a:pt x="197612" y="3126867"/>
                  </a:lnTo>
                  <a:cubicBezTo>
                    <a:pt x="88519" y="3126867"/>
                    <a:pt x="0" y="3038348"/>
                    <a:pt x="0" y="2929255"/>
                  </a:cubicBezTo>
                  <a:close/>
                </a:path>
              </a:pathLst>
            </a:custGeom>
            <a:solidFill>
              <a:srgbClr val="0A2557"/>
            </a:solidFill>
            <a:ln w="9525" cap="sq">
              <a:solidFill>
                <a:srgbClr val="3B6FC9"/>
              </a:solidFill>
              <a:prstDash val="solid"/>
              <a:miter/>
            </a:ln>
          </p:spPr>
        </p:sp>
      </p:grpSp>
      <p:sp>
        <p:nvSpPr>
          <p:cNvPr name="TextBox 16" id="16"/>
          <p:cNvSpPr txBox="true"/>
          <p:nvPr/>
        </p:nvSpPr>
        <p:spPr>
          <a:xfrm rot="0">
            <a:off x="9550403" y="3098111"/>
            <a:ext cx="3479797" cy="710508"/>
          </a:xfrm>
          <a:prstGeom prst="rect">
            <a:avLst/>
          </a:prstGeom>
        </p:spPr>
        <p:txBody>
          <a:bodyPr anchor="t" rtlCol="false" tIns="0" lIns="0" bIns="0" rIns="0">
            <a:spAutoFit/>
          </a:bodyPr>
          <a:lstStyle/>
          <a:p>
            <a:pPr algn="l">
              <a:lnSpc>
                <a:spcPts val="5670"/>
              </a:lnSpc>
            </a:pPr>
            <a:r>
              <a:rPr lang="en-US" sz="5400" b="true">
                <a:solidFill>
                  <a:srgbClr val="FFFFFF"/>
                </a:solidFill>
                <a:latin typeface="Arimo Bold"/>
                <a:ea typeface="Arimo Bold"/>
                <a:cs typeface="Arimo Bold"/>
                <a:sym typeface="Arimo Bold"/>
              </a:rPr>
              <a:t>500 / 500</a:t>
            </a:r>
          </a:p>
        </p:txBody>
      </p:sp>
      <p:sp>
        <p:nvSpPr>
          <p:cNvPr name="TextBox 17" id="17"/>
          <p:cNvSpPr txBox="true"/>
          <p:nvPr/>
        </p:nvSpPr>
        <p:spPr>
          <a:xfrm rot="0">
            <a:off x="9550403" y="3818134"/>
            <a:ext cx="3312766" cy="735216"/>
          </a:xfrm>
          <a:prstGeom prst="rect">
            <a:avLst/>
          </a:prstGeom>
        </p:spPr>
        <p:txBody>
          <a:bodyPr anchor="t" rtlCol="false" tIns="0" lIns="0" bIns="0" rIns="0">
            <a:spAutoFit/>
          </a:bodyPr>
          <a:lstStyle/>
          <a:p>
            <a:pPr algn="l">
              <a:lnSpc>
                <a:spcPts val="2632"/>
              </a:lnSpc>
            </a:pPr>
            <a:r>
              <a:rPr lang="en-US" sz="1950">
                <a:solidFill>
                  <a:srgbClr val="D6E4FA"/>
                </a:solidFill>
                <a:latin typeface="IBM Plex Sans"/>
                <a:ea typeface="IBM Plex Sans"/>
                <a:cs typeface="IBM Plex Sans"/>
                <a:sym typeface="IBM Plex Sans"/>
              </a:rPr>
              <a:t>events received by each of 9 receivers, none lost</a:t>
            </a:r>
          </a:p>
        </p:txBody>
      </p:sp>
      <p:grpSp>
        <p:nvGrpSpPr>
          <p:cNvPr name="Group 18" id="18"/>
          <p:cNvGrpSpPr/>
          <p:nvPr/>
        </p:nvGrpSpPr>
        <p:grpSpPr>
          <a:xfrm rot="0">
            <a:off x="13306425" y="2777433"/>
            <a:ext cx="3762375" cy="2345131"/>
            <a:chOff x="0" y="0"/>
            <a:chExt cx="5016500" cy="3126842"/>
          </a:xfrm>
        </p:grpSpPr>
        <p:sp>
          <p:nvSpPr>
            <p:cNvPr name="Freeform 19" id="19"/>
            <p:cNvSpPr/>
            <p:nvPr/>
          </p:nvSpPr>
          <p:spPr>
            <a:xfrm flipH="false" flipV="false" rot="0">
              <a:off x="0" y="0"/>
              <a:ext cx="5016500" cy="3126867"/>
            </a:xfrm>
            <a:custGeom>
              <a:avLst/>
              <a:gdLst/>
              <a:ahLst/>
              <a:cxnLst/>
              <a:rect r="r" b="b" t="t" l="l"/>
              <a:pathLst>
                <a:path h="3126867" w="5016500">
                  <a:moveTo>
                    <a:pt x="0" y="197612"/>
                  </a:moveTo>
                  <a:cubicBezTo>
                    <a:pt x="0" y="88519"/>
                    <a:pt x="88519" y="0"/>
                    <a:pt x="197612" y="0"/>
                  </a:cubicBezTo>
                  <a:lnTo>
                    <a:pt x="4818888" y="0"/>
                  </a:lnTo>
                  <a:cubicBezTo>
                    <a:pt x="4927981" y="0"/>
                    <a:pt x="5016500" y="88519"/>
                    <a:pt x="5016500" y="197612"/>
                  </a:cubicBezTo>
                  <a:lnTo>
                    <a:pt x="5016500" y="2929255"/>
                  </a:lnTo>
                  <a:cubicBezTo>
                    <a:pt x="5016500" y="3038475"/>
                    <a:pt x="4927981" y="3126867"/>
                    <a:pt x="4818888" y="3126867"/>
                  </a:cubicBezTo>
                  <a:lnTo>
                    <a:pt x="197612" y="3126867"/>
                  </a:lnTo>
                  <a:cubicBezTo>
                    <a:pt x="88519" y="3126867"/>
                    <a:pt x="0" y="3038348"/>
                    <a:pt x="0" y="2929255"/>
                  </a:cubicBezTo>
                  <a:close/>
                </a:path>
              </a:pathLst>
            </a:custGeom>
            <a:solidFill>
              <a:srgbClr val="0A2557"/>
            </a:solidFill>
            <a:ln w="9525" cap="sq">
              <a:solidFill>
                <a:srgbClr val="3B6FC9"/>
              </a:solidFill>
              <a:prstDash val="solid"/>
              <a:miter/>
            </a:ln>
          </p:spPr>
        </p:sp>
      </p:grpSp>
      <p:sp>
        <p:nvSpPr>
          <p:cNvPr name="TextBox 20" id="20"/>
          <p:cNvSpPr txBox="true"/>
          <p:nvPr/>
        </p:nvSpPr>
        <p:spPr>
          <a:xfrm rot="0">
            <a:off x="13579478" y="3098111"/>
            <a:ext cx="3312766" cy="710508"/>
          </a:xfrm>
          <a:prstGeom prst="rect">
            <a:avLst/>
          </a:prstGeom>
        </p:spPr>
        <p:txBody>
          <a:bodyPr anchor="t" rtlCol="false" tIns="0" lIns="0" bIns="0" rIns="0">
            <a:spAutoFit/>
          </a:bodyPr>
          <a:lstStyle/>
          <a:p>
            <a:pPr algn="l">
              <a:lnSpc>
                <a:spcPts val="5670"/>
              </a:lnSpc>
            </a:pPr>
            <a:r>
              <a:rPr lang="en-US" sz="5400" b="true">
                <a:solidFill>
                  <a:srgbClr val="FFFFFF"/>
                </a:solidFill>
                <a:latin typeface="Arimo Bold"/>
                <a:ea typeface="Arimo Bold"/>
                <a:cs typeface="Arimo Bold"/>
                <a:sym typeface="Arimo Bold"/>
              </a:rPr>
              <a:t>12</a:t>
            </a:r>
          </a:p>
        </p:txBody>
      </p:sp>
      <p:sp>
        <p:nvSpPr>
          <p:cNvPr name="TextBox 21" id="21"/>
          <p:cNvSpPr txBox="true"/>
          <p:nvPr/>
        </p:nvSpPr>
        <p:spPr>
          <a:xfrm rot="0">
            <a:off x="13579478" y="3818134"/>
            <a:ext cx="3312766" cy="1069477"/>
          </a:xfrm>
          <a:prstGeom prst="rect">
            <a:avLst/>
          </a:prstGeom>
        </p:spPr>
        <p:txBody>
          <a:bodyPr anchor="t" rtlCol="false" tIns="0" lIns="0" bIns="0" rIns="0">
            <a:spAutoFit/>
          </a:bodyPr>
          <a:lstStyle/>
          <a:p>
            <a:pPr algn="l">
              <a:lnSpc>
                <a:spcPts val="2632"/>
              </a:lnSpc>
            </a:pPr>
            <a:r>
              <a:rPr lang="en-US" sz="1950">
                <a:solidFill>
                  <a:srgbClr val="D6E4FA"/>
                </a:solidFill>
                <a:latin typeface="IBM Plex Sans"/>
                <a:ea typeface="IBM Plex Sans"/>
                <a:cs typeface="IBM Plex Sans"/>
                <a:sym typeface="IBM Plex Sans"/>
              </a:rPr>
              <a:t>simultaneous WebSocket clients handled by one server</a:t>
            </a:r>
          </a:p>
        </p:txBody>
      </p:sp>
      <p:grpSp>
        <p:nvGrpSpPr>
          <p:cNvPr name="Group 22" id="22"/>
          <p:cNvGrpSpPr/>
          <p:nvPr/>
        </p:nvGrpSpPr>
        <p:grpSpPr>
          <a:xfrm rot="0">
            <a:off x="1219200" y="5465474"/>
            <a:ext cx="7791450" cy="3297536"/>
            <a:chOff x="0" y="0"/>
            <a:chExt cx="10388600" cy="4396715"/>
          </a:xfrm>
        </p:grpSpPr>
        <p:sp>
          <p:nvSpPr>
            <p:cNvPr name="Freeform 23" id="23"/>
            <p:cNvSpPr/>
            <p:nvPr/>
          </p:nvSpPr>
          <p:spPr>
            <a:xfrm flipH="false" flipV="false" rot="0">
              <a:off x="0" y="0"/>
              <a:ext cx="10388600" cy="4396740"/>
            </a:xfrm>
            <a:custGeom>
              <a:avLst/>
              <a:gdLst/>
              <a:ahLst/>
              <a:cxnLst/>
              <a:rect r="r" b="b" t="t" l="l"/>
              <a:pathLst>
                <a:path h="4396740" w="10388600">
                  <a:moveTo>
                    <a:pt x="0" y="203200"/>
                  </a:moveTo>
                  <a:cubicBezTo>
                    <a:pt x="0" y="90932"/>
                    <a:pt x="90932" y="0"/>
                    <a:pt x="203200" y="0"/>
                  </a:cubicBezTo>
                  <a:lnTo>
                    <a:pt x="10185400" y="0"/>
                  </a:lnTo>
                  <a:cubicBezTo>
                    <a:pt x="10297668" y="0"/>
                    <a:pt x="10388600" y="90932"/>
                    <a:pt x="10388600" y="203200"/>
                  </a:cubicBezTo>
                  <a:lnTo>
                    <a:pt x="10388600" y="4193540"/>
                  </a:lnTo>
                  <a:cubicBezTo>
                    <a:pt x="10388600" y="4305808"/>
                    <a:pt x="10297668" y="4396740"/>
                    <a:pt x="10185400" y="4396740"/>
                  </a:cubicBezTo>
                  <a:lnTo>
                    <a:pt x="203200" y="4396740"/>
                  </a:lnTo>
                  <a:cubicBezTo>
                    <a:pt x="90932" y="4396740"/>
                    <a:pt x="0" y="4305808"/>
                    <a:pt x="0" y="4193540"/>
                  </a:cubicBezTo>
                  <a:close/>
                </a:path>
              </a:pathLst>
            </a:custGeom>
            <a:solidFill>
              <a:srgbClr val="0A2557"/>
            </a:solidFill>
          </p:spPr>
        </p:sp>
      </p:grpSp>
      <p:sp>
        <p:nvSpPr>
          <p:cNvPr name="TextBox 24" id="24"/>
          <p:cNvSpPr txBox="true"/>
          <p:nvPr/>
        </p:nvSpPr>
        <p:spPr>
          <a:xfrm rot="0">
            <a:off x="1485900" y="6570374"/>
            <a:ext cx="7475792" cy="381000"/>
          </a:xfrm>
          <a:prstGeom prst="rect">
            <a:avLst/>
          </a:prstGeom>
        </p:spPr>
        <p:txBody>
          <a:bodyPr anchor="t" rtlCol="false" tIns="0" lIns="0" bIns="0" rIns="0">
            <a:spAutoFit/>
          </a:bodyPr>
          <a:lstStyle/>
          <a:p>
            <a:pPr algn="l">
              <a:lnSpc>
                <a:spcPts val="2700"/>
              </a:lnSpc>
            </a:pPr>
            <a:r>
              <a:rPr lang="en-US" sz="2250" b="true">
                <a:solidFill>
                  <a:srgbClr val="FDE68A"/>
                </a:solidFill>
                <a:latin typeface="IBM Plex Sans Bold"/>
                <a:ea typeface="IBM Plex Sans Bold"/>
                <a:cs typeface="IBM Plex Sans Bold"/>
                <a:sym typeface="IBM Plex Sans Bold"/>
              </a:rPr>
              <a:t>Robustness</a:t>
            </a:r>
          </a:p>
        </p:txBody>
      </p:sp>
      <p:sp>
        <p:nvSpPr>
          <p:cNvPr name="TextBox 25" id="25"/>
          <p:cNvSpPr txBox="true"/>
          <p:nvPr/>
        </p:nvSpPr>
        <p:spPr>
          <a:xfrm rot="0">
            <a:off x="1485900" y="6960899"/>
            <a:ext cx="7475792" cy="735216"/>
          </a:xfrm>
          <a:prstGeom prst="rect">
            <a:avLst/>
          </a:prstGeom>
        </p:spPr>
        <p:txBody>
          <a:bodyPr anchor="t" rtlCol="false" tIns="0" lIns="0" bIns="0" rIns="0">
            <a:spAutoFit/>
          </a:bodyPr>
          <a:lstStyle/>
          <a:p>
            <a:pPr algn="l">
              <a:lnSpc>
                <a:spcPts val="2632"/>
              </a:lnSpc>
            </a:pPr>
            <a:r>
              <a:rPr lang="en-US" sz="1950">
                <a:solidFill>
                  <a:srgbClr val="D6E4FA"/>
                </a:solidFill>
                <a:latin typeface="IBM Plex Sans"/>
                <a:ea typeface="IBM Plex Sans"/>
                <a:cs typeface="IBM Plex Sans"/>
                <a:sym typeface="IBM Plex Sans"/>
              </a:rPr>
              <a:t>Malformed JSON closed only that client; others continued. After a server restart a new client received an empty board.</a:t>
            </a:r>
          </a:p>
        </p:txBody>
      </p:sp>
      <p:grpSp>
        <p:nvGrpSpPr>
          <p:cNvPr name="Group 26" id="26"/>
          <p:cNvGrpSpPr/>
          <p:nvPr/>
        </p:nvGrpSpPr>
        <p:grpSpPr>
          <a:xfrm rot="0">
            <a:off x="9277350" y="5465474"/>
            <a:ext cx="7791450" cy="3297536"/>
            <a:chOff x="0" y="0"/>
            <a:chExt cx="10388600" cy="4396715"/>
          </a:xfrm>
        </p:grpSpPr>
        <p:sp>
          <p:nvSpPr>
            <p:cNvPr name="Freeform 27" id="27"/>
            <p:cNvSpPr/>
            <p:nvPr/>
          </p:nvSpPr>
          <p:spPr>
            <a:xfrm flipH="false" flipV="false" rot="0">
              <a:off x="0" y="0"/>
              <a:ext cx="10388600" cy="4396740"/>
            </a:xfrm>
            <a:custGeom>
              <a:avLst/>
              <a:gdLst/>
              <a:ahLst/>
              <a:cxnLst/>
              <a:rect r="r" b="b" t="t" l="l"/>
              <a:pathLst>
                <a:path h="4396740" w="10388600">
                  <a:moveTo>
                    <a:pt x="0" y="203200"/>
                  </a:moveTo>
                  <a:cubicBezTo>
                    <a:pt x="0" y="90932"/>
                    <a:pt x="90932" y="0"/>
                    <a:pt x="203200" y="0"/>
                  </a:cubicBezTo>
                  <a:lnTo>
                    <a:pt x="10185400" y="0"/>
                  </a:lnTo>
                  <a:cubicBezTo>
                    <a:pt x="10297668" y="0"/>
                    <a:pt x="10388600" y="90932"/>
                    <a:pt x="10388600" y="203200"/>
                  </a:cubicBezTo>
                  <a:lnTo>
                    <a:pt x="10388600" y="4193540"/>
                  </a:lnTo>
                  <a:cubicBezTo>
                    <a:pt x="10388600" y="4305808"/>
                    <a:pt x="10297668" y="4396740"/>
                    <a:pt x="10185400" y="4396740"/>
                  </a:cubicBezTo>
                  <a:lnTo>
                    <a:pt x="203200" y="4396740"/>
                  </a:lnTo>
                  <a:cubicBezTo>
                    <a:pt x="90932" y="4396740"/>
                    <a:pt x="0" y="4305808"/>
                    <a:pt x="0" y="4193540"/>
                  </a:cubicBezTo>
                  <a:close/>
                </a:path>
              </a:pathLst>
            </a:custGeom>
            <a:solidFill>
              <a:srgbClr val="0A2557"/>
            </a:solidFill>
          </p:spPr>
        </p:sp>
      </p:grpSp>
      <p:sp>
        <p:nvSpPr>
          <p:cNvPr name="TextBox 28" id="28"/>
          <p:cNvSpPr txBox="true"/>
          <p:nvPr/>
        </p:nvSpPr>
        <p:spPr>
          <a:xfrm rot="0">
            <a:off x="9544050" y="6570374"/>
            <a:ext cx="7475792" cy="381000"/>
          </a:xfrm>
          <a:prstGeom prst="rect">
            <a:avLst/>
          </a:prstGeom>
        </p:spPr>
        <p:txBody>
          <a:bodyPr anchor="t" rtlCol="false" tIns="0" lIns="0" bIns="0" rIns="0">
            <a:spAutoFit/>
          </a:bodyPr>
          <a:lstStyle/>
          <a:p>
            <a:pPr algn="l">
              <a:lnSpc>
                <a:spcPts val="2700"/>
              </a:lnSpc>
            </a:pPr>
            <a:r>
              <a:rPr lang="en-US" sz="2250" b="true">
                <a:solidFill>
                  <a:srgbClr val="FDE68A"/>
                </a:solidFill>
                <a:latin typeface="IBM Plex Sans Bold"/>
                <a:ea typeface="IBM Plex Sans Bold"/>
                <a:cs typeface="IBM Plex Sans Bold"/>
                <a:sym typeface="IBM Plex Sans Bold"/>
              </a:rPr>
              <a:t>Honest scope</a:t>
            </a:r>
          </a:p>
        </p:txBody>
      </p:sp>
      <p:sp>
        <p:nvSpPr>
          <p:cNvPr name="TextBox 29" id="29"/>
          <p:cNvSpPr txBox="true"/>
          <p:nvPr/>
        </p:nvSpPr>
        <p:spPr>
          <a:xfrm rot="0">
            <a:off x="9544050" y="6960899"/>
            <a:ext cx="7475792" cy="735216"/>
          </a:xfrm>
          <a:prstGeom prst="rect">
            <a:avLst/>
          </a:prstGeom>
        </p:spPr>
        <p:txBody>
          <a:bodyPr anchor="t" rtlCol="false" tIns="0" lIns="0" bIns="0" rIns="0">
            <a:spAutoFit/>
          </a:bodyPr>
          <a:lstStyle/>
          <a:p>
            <a:pPr algn="l">
              <a:lnSpc>
                <a:spcPts val="2632"/>
              </a:lnSpc>
            </a:pPr>
            <a:r>
              <a:rPr lang="en-US" sz="1950">
                <a:solidFill>
                  <a:srgbClr val="D6E4FA"/>
                </a:solidFill>
                <a:latin typeface="IBM Plex Sans"/>
                <a:ea typeface="IBM Plex Sans"/>
                <a:cs typeface="IBM Plex Sans"/>
                <a:sym typeface="IBM Plex Sans"/>
              </a:rPr>
              <a:t>Measured on the loopback interface with all clients on one machine. Wi-Fi adds delay, so re-measure on the physical LAN.</a:t>
            </a:r>
          </a:p>
        </p:txBody>
      </p:sp>
      <p:sp>
        <p:nvSpPr>
          <p:cNvPr name="TextBox 30" id="30"/>
          <p:cNvSpPr txBox="true"/>
          <p:nvPr/>
        </p:nvSpPr>
        <p:spPr>
          <a:xfrm rot="0">
            <a:off x="1219200" y="9319317"/>
            <a:ext cx="8888016" cy="396183"/>
          </a:xfrm>
          <a:prstGeom prst="rect">
            <a:avLst/>
          </a:prstGeom>
        </p:spPr>
        <p:txBody>
          <a:bodyPr anchor="t" rtlCol="false" tIns="0" lIns="0" bIns="0" rIns="0">
            <a:spAutoFit/>
          </a:bodyPr>
          <a:lstStyle/>
          <a:p>
            <a:pPr algn="l">
              <a:lnSpc>
                <a:spcPts val="2520"/>
              </a:lnSpc>
            </a:pPr>
            <a:r>
              <a:rPr lang="en-US" sz="1800">
                <a:solidFill>
                  <a:srgbClr val="D6E4FA"/>
                </a:solidFill>
                <a:latin typeface="IBM Plex Sans"/>
                <a:ea typeface="IBM Plex Sans"/>
                <a:cs typeface="IBM Plex Sans"/>
                <a:sym typeface="IBM Plex Sans"/>
              </a:rPr>
              <a:t>PING to PONG round trip: mean 0.17 ms · LAN Collaborative Whiteboard</a:t>
            </a:r>
          </a:p>
        </p:txBody>
      </p:sp>
      <p:sp>
        <p:nvSpPr>
          <p:cNvPr name="TextBox 31" id="31"/>
          <p:cNvSpPr txBox="true"/>
          <p:nvPr/>
        </p:nvSpPr>
        <p:spPr>
          <a:xfrm rot="0">
            <a:off x="16794461" y="9319317"/>
            <a:ext cx="350539" cy="396183"/>
          </a:xfrm>
          <a:prstGeom prst="rect">
            <a:avLst/>
          </a:prstGeom>
        </p:spPr>
        <p:txBody>
          <a:bodyPr anchor="t" rtlCol="false" tIns="0" lIns="0" bIns="0" rIns="0">
            <a:spAutoFit/>
          </a:bodyPr>
          <a:lstStyle/>
          <a:p>
            <a:pPr algn="l">
              <a:lnSpc>
                <a:spcPts val="2520"/>
              </a:lnSpc>
            </a:pPr>
            <a:r>
              <a:rPr lang="en-US" sz="1800">
                <a:solidFill>
                  <a:srgbClr val="D6E4FA"/>
                </a:solidFill>
                <a:latin typeface="IBM Plex Sans"/>
                <a:ea typeface="IBM Plex Sans"/>
                <a:cs typeface="IBM Plex Sans"/>
                <a:sym typeface="IBM Plex Sans"/>
              </a:rPr>
              <a:t>11</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331470"/>
          </a:xfrm>
          <a:prstGeom prst="rect">
            <a:avLst/>
          </a:prstGeom>
        </p:spPr>
        <p:txBody>
          <a:bodyPr anchor="t" rtlCol="false" tIns="0" lIns="0" bIns="0" rIns="0">
            <a:spAutoFit/>
          </a:bodyPr>
          <a:lstStyle/>
          <a:p>
            <a:pPr algn="l">
              <a:lnSpc>
                <a:spcPts val="2729"/>
              </a:lnSpc>
            </a:pPr>
            <a:r>
              <a:rPr lang="en-US" b="true" sz="1950" spc="299">
                <a:solidFill>
                  <a:srgbClr val="1D6FDC"/>
                </a:solidFill>
                <a:latin typeface="Source Serif Pro Bold"/>
                <a:ea typeface="Source Serif Pro Bold"/>
                <a:cs typeface="Source Serif Pro Bold"/>
                <a:sym typeface="Source Serif Pro Bold"/>
              </a:rPr>
              <a:t>11 · WRAPPING UP</a:t>
            </a:r>
          </a:p>
        </p:txBody>
      </p:sp>
      <p:sp>
        <p:nvSpPr>
          <p:cNvPr name="TextBox 3" id="3"/>
          <p:cNvSpPr txBox="true"/>
          <p:nvPr/>
        </p:nvSpPr>
        <p:spPr>
          <a:xfrm rot="0">
            <a:off x="1219200" y="1727806"/>
            <a:ext cx="12006362" cy="773430"/>
          </a:xfrm>
          <a:prstGeom prst="rect">
            <a:avLst/>
          </a:prstGeom>
        </p:spPr>
        <p:txBody>
          <a:bodyPr anchor="t" rtlCol="false" tIns="0" lIns="0" bIns="0" rIns="0">
            <a:spAutoFit/>
          </a:bodyPr>
          <a:lstStyle/>
          <a:p>
            <a:pPr algn="l">
              <a:lnSpc>
                <a:spcPts val="5940"/>
              </a:lnSpc>
            </a:pPr>
            <a:r>
              <a:rPr lang="en-US" sz="5400" b="true">
                <a:solidFill>
                  <a:srgbClr val="0B1424"/>
                </a:solidFill>
                <a:latin typeface="Source Serif Pro Bold"/>
                <a:ea typeface="Source Serif Pro Bold"/>
                <a:cs typeface="Source Serif Pro Bold"/>
                <a:sym typeface="Source Serif Pro Bold"/>
              </a:rPr>
              <a:t>Limitations, Future Work, Conclusion</a:t>
            </a:r>
          </a:p>
        </p:txBody>
      </p:sp>
      <p:grpSp>
        <p:nvGrpSpPr>
          <p:cNvPr name="Group 4" id="4"/>
          <p:cNvGrpSpPr/>
          <p:nvPr/>
        </p:nvGrpSpPr>
        <p:grpSpPr>
          <a:xfrm rot="0">
            <a:off x="1219200" y="2739333"/>
            <a:ext cx="5105400" cy="4545511"/>
            <a:chOff x="0" y="0"/>
            <a:chExt cx="6807200" cy="6060681"/>
          </a:xfrm>
        </p:grpSpPr>
        <p:sp>
          <p:nvSpPr>
            <p:cNvPr name="Freeform 5" id="5"/>
            <p:cNvSpPr/>
            <p:nvPr/>
          </p:nvSpPr>
          <p:spPr>
            <a:xfrm flipH="false" flipV="false" rot="0">
              <a:off x="0" y="0"/>
              <a:ext cx="6807200" cy="6060694"/>
            </a:xfrm>
            <a:custGeom>
              <a:avLst/>
              <a:gdLst/>
              <a:ahLst/>
              <a:cxnLst/>
              <a:rect r="r" b="b" t="t" l="l"/>
              <a:pathLst>
                <a:path h="6060694" w="6807200">
                  <a:moveTo>
                    <a:pt x="0" y="197231"/>
                  </a:moveTo>
                  <a:cubicBezTo>
                    <a:pt x="0" y="88265"/>
                    <a:pt x="88265" y="0"/>
                    <a:pt x="197231" y="0"/>
                  </a:cubicBezTo>
                  <a:lnTo>
                    <a:pt x="6609969" y="0"/>
                  </a:lnTo>
                  <a:cubicBezTo>
                    <a:pt x="6718935" y="0"/>
                    <a:pt x="6807200" y="88265"/>
                    <a:pt x="6807200" y="197231"/>
                  </a:cubicBezTo>
                  <a:lnTo>
                    <a:pt x="6807200" y="5863463"/>
                  </a:lnTo>
                  <a:cubicBezTo>
                    <a:pt x="6807200" y="5972429"/>
                    <a:pt x="6718935" y="6060694"/>
                    <a:pt x="6609969" y="6060694"/>
                  </a:cubicBezTo>
                  <a:lnTo>
                    <a:pt x="197231" y="6060694"/>
                  </a:lnTo>
                  <a:cubicBezTo>
                    <a:pt x="88265" y="6060694"/>
                    <a:pt x="0" y="5972302"/>
                    <a:pt x="0" y="5863463"/>
                  </a:cubicBezTo>
                  <a:close/>
                </a:path>
              </a:pathLst>
            </a:custGeom>
            <a:solidFill>
              <a:srgbClr val="FFFFFF"/>
            </a:solidFill>
            <a:ln w="9525" cap="sq">
              <a:solidFill>
                <a:srgbClr val="D5DEEA"/>
              </a:solidFill>
              <a:prstDash val="solid"/>
              <a:miter/>
            </a:ln>
          </p:spPr>
        </p:sp>
      </p:grpSp>
      <p:sp>
        <p:nvSpPr>
          <p:cNvPr name="TextBox 6" id="6"/>
          <p:cNvSpPr txBox="true"/>
          <p:nvPr/>
        </p:nvSpPr>
        <p:spPr>
          <a:xfrm rot="0">
            <a:off x="1492253" y="3012386"/>
            <a:ext cx="4696082" cy="381000"/>
          </a:xfrm>
          <a:prstGeom prst="rect">
            <a:avLst/>
          </a:prstGeom>
        </p:spPr>
        <p:txBody>
          <a:bodyPr anchor="t" rtlCol="false" tIns="0" lIns="0" bIns="0" rIns="0">
            <a:spAutoFit/>
          </a:bodyPr>
          <a:lstStyle/>
          <a:p>
            <a:pPr algn="l">
              <a:lnSpc>
                <a:spcPts val="3060"/>
              </a:lnSpc>
            </a:pPr>
            <a:r>
              <a:rPr lang="en-US" sz="2550" b="true">
                <a:solidFill>
                  <a:srgbClr val="0B1424"/>
                </a:solidFill>
                <a:latin typeface="Source Serif Pro Bold"/>
                <a:ea typeface="Source Serif Pro Bold"/>
                <a:cs typeface="Source Serif Pro Bold"/>
                <a:sym typeface="Source Serif Pro Bold"/>
              </a:rPr>
              <a:t>Limitations</a:t>
            </a:r>
          </a:p>
        </p:txBody>
      </p:sp>
      <p:sp>
        <p:nvSpPr>
          <p:cNvPr name="TextBox 7" id="7"/>
          <p:cNvSpPr txBox="true"/>
          <p:nvPr/>
        </p:nvSpPr>
        <p:spPr>
          <a:xfrm rot="0">
            <a:off x="1620269" y="3505705"/>
            <a:ext cx="4556636" cy="2325053"/>
          </a:xfrm>
          <a:prstGeom prst="rect">
            <a:avLst/>
          </a:prstGeom>
        </p:spPr>
        <p:txBody>
          <a:bodyPr anchor="t" rtlCol="false" tIns="0" lIns="0" bIns="0" rIns="0">
            <a:spAutoFit/>
          </a:bodyPr>
          <a:lstStyle/>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No login or encryption; trusted LAN only</a:t>
            </a:r>
          </a:p>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Drawing lives in memory and is lost on restart</a:t>
            </a:r>
          </a:p>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One server is a single point of failure</a:t>
            </a:r>
          </a:p>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History grows without limit in long sessions</a:t>
            </a:r>
          </a:p>
        </p:txBody>
      </p:sp>
      <p:grpSp>
        <p:nvGrpSpPr>
          <p:cNvPr name="Group 8" id="8"/>
          <p:cNvGrpSpPr/>
          <p:nvPr/>
        </p:nvGrpSpPr>
        <p:grpSpPr>
          <a:xfrm rot="0">
            <a:off x="6591300" y="2739333"/>
            <a:ext cx="5105400" cy="4545511"/>
            <a:chOff x="0" y="0"/>
            <a:chExt cx="6807200" cy="6060681"/>
          </a:xfrm>
        </p:grpSpPr>
        <p:sp>
          <p:nvSpPr>
            <p:cNvPr name="Freeform 9" id="9"/>
            <p:cNvSpPr/>
            <p:nvPr/>
          </p:nvSpPr>
          <p:spPr>
            <a:xfrm flipH="false" flipV="false" rot="0">
              <a:off x="0" y="0"/>
              <a:ext cx="6807200" cy="6060694"/>
            </a:xfrm>
            <a:custGeom>
              <a:avLst/>
              <a:gdLst/>
              <a:ahLst/>
              <a:cxnLst/>
              <a:rect r="r" b="b" t="t" l="l"/>
              <a:pathLst>
                <a:path h="6060694" w="6807200">
                  <a:moveTo>
                    <a:pt x="0" y="197231"/>
                  </a:moveTo>
                  <a:cubicBezTo>
                    <a:pt x="0" y="88265"/>
                    <a:pt x="88265" y="0"/>
                    <a:pt x="197231" y="0"/>
                  </a:cubicBezTo>
                  <a:lnTo>
                    <a:pt x="6609969" y="0"/>
                  </a:lnTo>
                  <a:cubicBezTo>
                    <a:pt x="6718935" y="0"/>
                    <a:pt x="6807200" y="88265"/>
                    <a:pt x="6807200" y="197231"/>
                  </a:cubicBezTo>
                  <a:lnTo>
                    <a:pt x="6807200" y="5863463"/>
                  </a:lnTo>
                  <a:cubicBezTo>
                    <a:pt x="6807200" y="5972429"/>
                    <a:pt x="6718935" y="6060694"/>
                    <a:pt x="6609969" y="6060694"/>
                  </a:cubicBezTo>
                  <a:lnTo>
                    <a:pt x="197231" y="6060694"/>
                  </a:lnTo>
                  <a:cubicBezTo>
                    <a:pt x="88265" y="6060694"/>
                    <a:pt x="0" y="5972302"/>
                    <a:pt x="0" y="5863463"/>
                  </a:cubicBezTo>
                  <a:close/>
                </a:path>
              </a:pathLst>
            </a:custGeom>
            <a:solidFill>
              <a:srgbClr val="FFFFFF"/>
            </a:solidFill>
            <a:ln w="9525" cap="sq">
              <a:solidFill>
                <a:srgbClr val="D5DEEA"/>
              </a:solidFill>
              <a:prstDash val="solid"/>
              <a:miter/>
            </a:ln>
          </p:spPr>
        </p:sp>
      </p:grpSp>
      <p:sp>
        <p:nvSpPr>
          <p:cNvPr name="TextBox 10" id="10"/>
          <p:cNvSpPr txBox="true"/>
          <p:nvPr/>
        </p:nvSpPr>
        <p:spPr>
          <a:xfrm rot="0">
            <a:off x="6864353" y="3012386"/>
            <a:ext cx="4696082" cy="381000"/>
          </a:xfrm>
          <a:prstGeom prst="rect">
            <a:avLst/>
          </a:prstGeom>
        </p:spPr>
        <p:txBody>
          <a:bodyPr anchor="t" rtlCol="false" tIns="0" lIns="0" bIns="0" rIns="0">
            <a:spAutoFit/>
          </a:bodyPr>
          <a:lstStyle/>
          <a:p>
            <a:pPr algn="l">
              <a:lnSpc>
                <a:spcPts val="3060"/>
              </a:lnSpc>
            </a:pPr>
            <a:r>
              <a:rPr lang="en-US" sz="2550" b="true">
                <a:solidFill>
                  <a:srgbClr val="0B1424"/>
                </a:solidFill>
                <a:latin typeface="Source Serif Pro Bold"/>
                <a:ea typeface="Source Serif Pro Bold"/>
                <a:cs typeface="Source Serif Pro Bold"/>
                <a:sym typeface="Source Serif Pro Bold"/>
              </a:rPr>
              <a:t>Future work</a:t>
            </a:r>
          </a:p>
        </p:txBody>
      </p:sp>
      <p:sp>
        <p:nvSpPr>
          <p:cNvPr name="TextBox 11" id="11"/>
          <p:cNvSpPr txBox="true"/>
          <p:nvPr/>
        </p:nvSpPr>
        <p:spPr>
          <a:xfrm rot="0">
            <a:off x="6992369" y="3505705"/>
            <a:ext cx="4556636" cy="1991677"/>
          </a:xfrm>
          <a:prstGeom prst="rect">
            <a:avLst/>
          </a:prstGeom>
        </p:spPr>
        <p:txBody>
          <a:bodyPr anchor="t" rtlCol="false" tIns="0" lIns="0" bIns="0" rIns="0">
            <a:spAutoFit/>
          </a:bodyPr>
          <a:lstStyle/>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Rooms with access codes and user names</a:t>
            </a:r>
          </a:p>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Persistent storage and undo / redo</a:t>
            </a:r>
          </a:p>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Throttle events and skip the sender</a:t>
            </a:r>
          </a:p>
          <a:p>
            <a:pPr algn="l" marL="352901" indent="-176451" lvl="1">
              <a:lnSpc>
                <a:spcPts val="2632"/>
              </a:lnSpc>
              <a:buFont typeface="Arial"/>
              <a:buChar char="•"/>
            </a:pPr>
            <a:r>
              <a:rPr lang="en-US" sz="1950">
                <a:solidFill>
                  <a:srgbClr val="4A5A73"/>
                </a:solidFill>
                <a:latin typeface="Source Serif Pro"/>
                <a:ea typeface="Source Serif Pro"/>
                <a:cs typeface="Source Serif Pro"/>
                <a:sym typeface="Source Serif Pro"/>
              </a:rPr>
              <a:t>Test on Wi-Fi and inspect with Wireshark</a:t>
            </a:r>
          </a:p>
        </p:txBody>
      </p:sp>
      <p:grpSp>
        <p:nvGrpSpPr>
          <p:cNvPr name="Group 12" id="12"/>
          <p:cNvGrpSpPr/>
          <p:nvPr/>
        </p:nvGrpSpPr>
        <p:grpSpPr>
          <a:xfrm rot="0">
            <a:off x="11963400" y="2739333"/>
            <a:ext cx="5105400" cy="4545511"/>
            <a:chOff x="0" y="0"/>
            <a:chExt cx="6807200" cy="6060681"/>
          </a:xfrm>
        </p:grpSpPr>
        <p:sp>
          <p:nvSpPr>
            <p:cNvPr name="Freeform 13" id="13"/>
            <p:cNvSpPr/>
            <p:nvPr/>
          </p:nvSpPr>
          <p:spPr>
            <a:xfrm flipH="false" flipV="false" rot="0">
              <a:off x="0" y="0"/>
              <a:ext cx="6807200" cy="6060694"/>
            </a:xfrm>
            <a:custGeom>
              <a:avLst/>
              <a:gdLst/>
              <a:ahLst/>
              <a:cxnLst/>
              <a:rect r="r" b="b" t="t" l="l"/>
              <a:pathLst>
                <a:path h="6060694" w="6807200">
                  <a:moveTo>
                    <a:pt x="0" y="197231"/>
                  </a:moveTo>
                  <a:cubicBezTo>
                    <a:pt x="0" y="88265"/>
                    <a:pt x="88265" y="0"/>
                    <a:pt x="197231" y="0"/>
                  </a:cubicBezTo>
                  <a:lnTo>
                    <a:pt x="6609969" y="0"/>
                  </a:lnTo>
                  <a:cubicBezTo>
                    <a:pt x="6718935" y="0"/>
                    <a:pt x="6807200" y="88265"/>
                    <a:pt x="6807200" y="197231"/>
                  </a:cubicBezTo>
                  <a:lnTo>
                    <a:pt x="6807200" y="5863463"/>
                  </a:lnTo>
                  <a:cubicBezTo>
                    <a:pt x="6807200" y="5972429"/>
                    <a:pt x="6718935" y="6060694"/>
                    <a:pt x="6609969" y="6060694"/>
                  </a:cubicBezTo>
                  <a:lnTo>
                    <a:pt x="197231" y="6060694"/>
                  </a:lnTo>
                  <a:cubicBezTo>
                    <a:pt x="88265" y="6060694"/>
                    <a:pt x="0" y="5972302"/>
                    <a:pt x="0" y="5863463"/>
                  </a:cubicBezTo>
                  <a:close/>
                </a:path>
              </a:pathLst>
            </a:custGeom>
            <a:solidFill>
              <a:srgbClr val="FFFFFF"/>
            </a:solidFill>
            <a:ln w="9525" cap="sq">
              <a:solidFill>
                <a:srgbClr val="D5DEEA"/>
              </a:solidFill>
              <a:prstDash val="solid"/>
              <a:miter/>
            </a:ln>
          </p:spPr>
        </p:sp>
      </p:grpSp>
      <p:sp>
        <p:nvSpPr>
          <p:cNvPr name="TextBox 14" id="14"/>
          <p:cNvSpPr txBox="true"/>
          <p:nvPr/>
        </p:nvSpPr>
        <p:spPr>
          <a:xfrm rot="0">
            <a:off x="12236453" y="3012386"/>
            <a:ext cx="4696082" cy="381000"/>
          </a:xfrm>
          <a:prstGeom prst="rect">
            <a:avLst/>
          </a:prstGeom>
        </p:spPr>
        <p:txBody>
          <a:bodyPr anchor="t" rtlCol="false" tIns="0" lIns="0" bIns="0" rIns="0">
            <a:spAutoFit/>
          </a:bodyPr>
          <a:lstStyle/>
          <a:p>
            <a:pPr algn="l">
              <a:lnSpc>
                <a:spcPts val="3060"/>
              </a:lnSpc>
            </a:pPr>
            <a:r>
              <a:rPr lang="en-US" sz="2550" b="true">
                <a:solidFill>
                  <a:srgbClr val="0B1424"/>
                </a:solidFill>
                <a:latin typeface="Source Serif Pro Bold"/>
                <a:ea typeface="Source Serif Pro Bold"/>
                <a:cs typeface="Source Serif Pro Bold"/>
                <a:sym typeface="Source Serif Pro Bold"/>
              </a:rPr>
              <a:t>Conclusion</a:t>
            </a:r>
          </a:p>
        </p:txBody>
      </p:sp>
      <p:sp>
        <p:nvSpPr>
          <p:cNvPr name="TextBox 15" id="15"/>
          <p:cNvSpPr txBox="true"/>
          <p:nvPr/>
        </p:nvSpPr>
        <p:spPr>
          <a:xfrm rot="0">
            <a:off x="12236453" y="3496180"/>
            <a:ext cx="4696082" cy="1703070"/>
          </a:xfrm>
          <a:prstGeom prst="rect">
            <a:avLst/>
          </a:prstGeom>
        </p:spPr>
        <p:txBody>
          <a:bodyPr anchor="t" rtlCol="false" tIns="0" lIns="0" bIns="0" rIns="0">
            <a:spAutoFit/>
          </a:bodyPr>
          <a:lstStyle/>
          <a:p>
            <a:pPr algn="l">
              <a:lnSpc>
                <a:spcPts val="2729"/>
              </a:lnSpc>
            </a:pPr>
            <a:r>
              <a:rPr lang="en-US" sz="1950">
                <a:solidFill>
                  <a:srgbClr val="4A5A73"/>
                </a:solidFill>
                <a:latin typeface="Source Serif Pro"/>
                <a:ea typeface="Source Serif Pro"/>
                <a:cs typeface="Source Serif Pro"/>
                <a:sym typeface="Source Serif Pro"/>
              </a:rPr>
              <a:t>A browser loads the page over HTTP, upgrades to WebSocket on TCP, and exchanges small JSON messages with one FastAPI server that stores, broadcasts and replays the drawing.</a:t>
            </a:r>
          </a:p>
        </p:txBody>
      </p:sp>
      <p:grpSp>
        <p:nvGrpSpPr>
          <p:cNvPr name="Group 16" id="16"/>
          <p:cNvGrpSpPr/>
          <p:nvPr/>
        </p:nvGrpSpPr>
        <p:grpSpPr>
          <a:xfrm rot="0">
            <a:off x="1219200" y="7589634"/>
            <a:ext cx="15849600" cy="1173366"/>
            <a:chOff x="0" y="0"/>
            <a:chExt cx="21132800" cy="1564488"/>
          </a:xfrm>
        </p:grpSpPr>
        <p:sp>
          <p:nvSpPr>
            <p:cNvPr name="Freeform 17" id="17"/>
            <p:cNvSpPr/>
            <p:nvPr/>
          </p:nvSpPr>
          <p:spPr>
            <a:xfrm flipH="false" flipV="false" rot="0">
              <a:off x="0" y="0"/>
              <a:ext cx="21132800" cy="1564513"/>
            </a:xfrm>
            <a:custGeom>
              <a:avLst/>
              <a:gdLst/>
              <a:ahLst/>
              <a:cxnLst/>
              <a:rect r="r" b="b" t="t" l="l"/>
              <a:pathLst>
                <a:path h="1564513" w="21132800">
                  <a:moveTo>
                    <a:pt x="0" y="203200"/>
                  </a:moveTo>
                  <a:cubicBezTo>
                    <a:pt x="0" y="90932"/>
                    <a:pt x="90932" y="0"/>
                    <a:pt x="203200" y="0"/>
                  </a:cubicBezTo>
                  <a:lnTo>
                    <a:pt x="20929600" y="0"/>
                  </a:lnTo>
                  <a:cubicBezTo>
                    <a:pt x="21041868" y="0"/>
                    <a:pt x="21132800" y="90932"/>
                    <a:pt x="21132800" y="203200"/>
                  </a:cubicBezTo>
                  <a:lnTo>
                    <a:pt x="21132800" y="1361313"/>
                  </a:lnTo>
                  <a:cubicBezTo>
                    <a:pt x="21132800" y="1473581"/>
                    <a:pt x="21041868" y="1564513"/>
                    <a:pt x="20929600" y="1564513"/>
                  </a:cubicBezTo>
                  <a:lnTo>
                    <a:pt x="203200" y="1564513"/>
                  </a:lnTo>
                  <a:cubicBezTo>
                    <a:pt x="90932" y="1564513"/>
                    <a:pt x="0" y="1473581"/>
                    <a:pt x="0" y="1361313"/>
                  </a:cubicBezTo>
                  <a:close/>
                </a:path>
              </a:pathLst>
            </a:custGeom>
            <a:solidFill>
              <a:srgbClr val="0B1424"/>
            </a:solidFill>
          </p:spPr>
        </p:sp>
      </p:grpSp>
      <p:sp>
        <p:nvSpPr>
          <p:cNvPr name="TextBox 18" id="18"/>
          <p:cNvSpPr txBox="true"/>
          <p:nvPr/>
        </p:nvSpPr>
        <p:spPr>
          <a:xfrm rot="0">
            <a:off x="1600200" y="7825788"/>
            <a:ext cx="5643324" cy="554355"/>
          </a:xfrm>
          <a:prstGeom prst="rect">
            <a:avLst/>
          </a:prstGeom>
        </p:spPr>
        <p:txBody>
          <a:bodyPr anchor="t" rtlCol="false" tIns="0" lIns="0" bIns="0" rIns="0">
            <a:spAutoFit/>
          </a:bodyPr>
          <a:lstStyle/>
          <a:p>
            <a:pPr algn="l">
              <a:lnSpc>
                <a:spcPts val="4620"/>
              </a:lnSpc>
            </a:pPr>
            <a:r>
              <a:rPr lang="en-US" sz="3300" b="true">
                <a:solidFill>
                  <a:srgbClr val="E6EDF7"/>
                </a:solidFill>
                <a:latin typeface="Source Serif Pro Bold"/>
                <a:ea typeface="Source Serif Pro Bold"/>
                <a:cs typeface="Source Serif Pro Bold"/>
                <a:sym typeface="Source Serif Pro Bold"/>
              </a:rPr>
              <a:t>Thank you · Questions?</a:t>
            </a:r>
          </a:p>
        </p:txBody>
      </p:sp>
      <p:sp>
        <p:nvSpPr>
          <p:cNvPr name="TextBox 19" id="19"/>
          <p:cNvSpPr txBox="true"/>
          <p:nvPr/>
        </p:nvSpPr>
        <p:spPr>
          <a:xfrm rot="0">
            <a:off x="9270687" y="8003915"/>
            <a:ext cx="7456170" cy="306705"/>
          </a:xfrm>
          <a:prstGeom prst="rect">
            <a:avLst/>
          </a:prstGeom>
        </p:spPr>
        <p:txBody>
          <a:bodyPr anchor="t" rtlCol="false" tIns="0" lIns="0" bIns="0" rIns="0">
            <a:spAutoFit/>
          </a:bodyPr>
          <a:lstStyle/>
          <a:p>
            <a:pPr algn="r">
              <a:lnSpc>
                <a:spcPts val="2520"/>
              </a:lnSpc>
            </a:pPr>
            <a:r>
              <a:rPr lang="en-US" sz="1800">
                <a:solidFill>
                  <a:srgbClr val="9FB0C8"/>
                </a:solidFill>
                <a:latin typeface="Source Serif Pro"/>
                <a:ea typeface="Source Serif Pro"/>
                <a:cs typeface="Source Serif Pro"/>
                <a:sym typeface="Source Serif Pro"/>
              </a:rPr>
              <a:t>Vedant Pawaskar · Prajakta Chougule · Yashraj Agale · Bhavya Maisuria</a:t>
            </a:r>
          </a:p>
        </p:txBody>
      </p:sp>
      <p:sp>
        <p:nvSpPr>
          <p:cNvPr name="TextBox 20" id="20"/>
          <p:cNvSpPr txBox="true"/>
          <p:nvPr/>
        </p:nvSpPr>
        <p:spPr>
          <a:xfrm rot="0">
            <a:off x="1219200" y="9319317"/>
            <a:ext cx="638757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LAN Collaborative Whiteboard · Computer Networks</a:t>
            </a:r>
          </a:p>
        </p:txBody>
      </p:sp>
      <p:sp>
        <p:nvSpPr>
          <p:cNvPr name="TextBox 21" id="21"/>
          <p:cNvSpPr txBox="true"/>
          <p:nvPr/>
        </p:nvSpPr>
        <p:spPr>
          <a:xfrm rot="0">
            <a:off x="16794461" y="9319317"/>
            <a:ext cx="350539" cy="306705"/>
          </a:xfrm>
          <a:prstGeom prst="rect">
            <a:avLst/>
          </a:prstGeom>
        </p:spPr>
        <p:txBody>
          <a:bodyPr anchor="t" rtlCol="false" tIns="0" lIns="0" bIns="0" rIns="0">
            <a:spAutoFit/>
          </a:bodyPr>
          <a:lstStyle/>
          <a:p>
            <a:pPr algn="l">
              <a:lnSpc>
                <a:spcPts val="2520"/>
              </a:lnSpc>
            </a:pPr>
            <a:r>
              <a:rPr lang="en-US" sz="1800">
                <a:solidFill>
                  <a:srgbClr val="4A5A73"/>
                </a:solidFill>
                <a:latin typeface="Source Serif Pro"/>
                <a:ea typeface="Source Serif Pro"/>
                <a:cs typeface="Source Serif Pro"/>
                <a:sym typeface="Source Serif Pro"/>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DAHXr4iyFjk</dc:identifier>
  <dcterms:modified xsi:type="dcterms:W3CDTF">2011-08-01T06:04:30Z</dcterms:modified>
  <cp:revision>1</cp:revision>
  <dc:title>LAN-Based Collaborative Whiteboard claude.pptx</dc:title>
</cp:coreProperties>
</file>